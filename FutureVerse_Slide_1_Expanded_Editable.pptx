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48" d="100"/>
          <a:sy n="48" d="100"/>
        </p:scale>
        <p:origin x="53" y="8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 abad" userId="3aa972a0c7c4cf1e" providerId="LiveId" clId="{508C3893-B0B4-4B4D-BF3B-FF24F6F57962}"/>
    <pc:docChg chg="modSld">
      <pc:chgData name="harsh abad" userId="3aa972a0c7c4cf1e" providerId="LiveId" clId="{508C3893-B0B4-4B4D-BF3B-FF24F6F57962}" dt="2026-09-11T10:19:47.175" v="0" actId="1076"/>
      <pc:docMkLst>
        <pc:docMk/>
      </pc:docMkLst>
      <pc:sldChg chg="modSp mod">
        <pc:chgData name="harsh abad" userId="3aa972a0c7c4cf1e" providerId="LiveId" clId="{508C3893-B0B4-4B4D-BF3B-FF24F6F57962}" dt="2026-09-11T10:19:47.175" v="0" actId="1076"/>
        <pc:sldMkLst>
          <pc:docMk/>
          <pc:sldMk cId="0" sldId="256"/>
        </pc:sldMkLst>
        <pc:spChg chg="mod">
          <ac:chgData name="harsh abad" userId="3aa972a0c7c4cf1e" providerId="LiveId" clId="{508C3893-B0B4-4B4D-BF3B-FF24F6F57962}" dt="2026-09-11T10:19:47.175" v="0" actId="1076"/>
          <ac:spMkLst>
            <pc:docMk/>
            <pc:sldMk cId="0" sldId="256"/>
            <ac:spMk id="11"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4864"/>
            <a:ext cx="3794760" cy="621792"/>
          </a:xfrm>
          <a:prstGeom prst="rect">
            <a:avLst/>
          </a:prstGeom>
          <a:solidFill>
            <a:srgbClr val="007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794760" y="54864"/>
            <a:ext cx="3063240" cy="621792"/>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0" y="54864"/>
            <a:ext cx="2514600" cy="621792"/>
          </a:xfrm>
          <a:prstGeom prst="rect">
            <a:avLst/>
          </a:prstGeom>
          <a:solidFill>
            <a:srgbClr val="F8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372600" y="54864"/>
            <a:ext cx="2819095" cy="621792"/>
          </a:xfrm>
          <a:prstGeom prst="rect">
            <a:avLst/>
          </a:prstGeom>
          <a:solidFill>
            <a:srgbClr val="F87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 y="164592"/>
            <a:ext cx="3429000" cy="256032"/>
          </a:xfrm>
          <a:prstGeom prst="rect">
            <a:avLst/>
          </a:prstGeom>
          <a:noFill/>
        </p:spPr>
        <p:txBody>
          <a:bodyPr wrap="square">
            <a:spAutoFit/>
          </a:bodyPr>
          <a:lstStyle/>
          <a:p>
            <a:pPr algn="l"/>
            <a:r>
              <a:rPr sz="1800" b="0">
                <a:solidFill>
                  <a:srgbClr val="FFFFFF"/>
                </a:solidFill>
                <a:latin typeface="Aptos"/>
              </a:rPr>
              <a:t>Department of Information Technology</a:t>
            </a:r>
          </a:p>
        </p:txBody>
      </p:sp>
      <p:sp>
        <p:nvSpPr>
          <p:cNvPr id="8" name="TextBox 7"/>
          <p:cNvSpPr txBox="1"/>
          <p:nvPr/>
        </p:nvSpPr>
        <p:spPr>
          <a:xfrm>
            <a:off x="4069080" y="164592"/>
            <a:ext cx="2423160" cy="256032"/>
          </a:xfrm>
          <a:prstGeom prst="rect">
            <a:avLst/>
          </a:prstGeom>
          <a:noFill/>
        </p:spPr>
        <p:txBody>
          <a:bodyPr wrap="square">
            <a:spAutoFit/>
          </a:bodyPr>
          <a:lstStyle/>
          <a:p>
            <a:pPr algn="ctr"/>
            <a:r>
              <a:rPr sz="1800" b="1">
                <a:solidFill>
                  <a:srgbClr val="FFFFFF"/>
                </a:solidFill>
                <a:latin typeface="Aptos"/>
              </a:rPr>
              <a:t>PROJECT SYNOPSIS</a:t>
            </a:r>
          </a:p>
        </p:txBody>
      </p:sp>
      <p:sp>
        <p:nvSpPr>
          <p:cNvPr id="9" name="TextBox 8"/>
          <p:cNvSpPr txBox="1"/>
          <p:nvPr/>
        </p:nvSpPr>
        <p:spPr>
          <a:xfrm>
            <a:off x="9555480" y="164592"/>
            <a:ext cx="2240280" cy="256032"/>
          </a:xfrm>
          <a:prstGeom prst="rect">
            <a:avLst/>
          </a:prstGeom>
          <a:noFill/>
        </p:spPr>
        <p:txBody>
          <a:bodyPr wrap="square">
            <a:spAutoFit/>
          </a:bodyPr>
          <a:lstStyle/>
          <a:p>
            <a:pPr algn="ctr"/>
            <a:r>
              <a:rPr sz="1700" b="1">
                <a:solidFill>
                  <a:srgbClr val="FFFFFF"/>
                </a:solidFill>
                <a:latin typeface="Aptos"/>
              </a:rPr>
              <a:t>2025 – 2026</a:t>
            </a:r>
          </a:p>
        </p:txBody>
      </p:sp>
      <p:sp>
        <p:nvSpPr>
          <p:cNvPr id="10" name="TextBox 9"/>
          <p:cNvSpPr txBox="1"/>
          <p:nvPr/>
        </p:nvSpPr>
        <p:spPr>
          <a:xfrm>
            <a:off x="2468880" y="932688"/>
            <a:ext cx="7269480" cy="384048"/>
          </a:xfrm>
          <a:prstGeom prst="rect">
            <a:avLst/>
          </a:prstGeom>
          <a:noFill/>
        </p:spPr>
        <p:txBody>
          <a:bodyPr wrap="square">
            <a:spAutoFit/>
          </a:bodyPr>
          <a:lstStyle/>
          <a:p>
            <a:pPr algn="ctr"/>
            <a:r>
              <a:rPr sz="2400" b="1">
                <a:solidFill>
                  <a:srgbClr val="003982"/>
                </a:solidFill>
                <a:latin typeface="Aptos"/>
              </a:rPr>
              <a:t>PROJECT SYNOPSIS PRESENTATION</a:t>
            </a:r>
          </a:p>
        </p:txBody>
      </p:sp>
      <p:sp>
        <p:nvSpPr>
          <p:cNvPr id="11" name="TextBox 10"/>
          <p:cNvSpPr txBox="1"/>
          <p:nvPr/>
        </p:nvSpPr>
        <p:spPr>
          <a:xfrm>
            <a:off x="2720340" y="1362456"/>
            <a:ext cx="6720840" cy="530352"/>
          </a:xfrm>
          <a:prstGeom prst="rect">
            <a:avLst/>
          </a:prstGeom>
          <a:noFill/>
        </p:spPr>
        <p:txBody>
          <a:bodyPr wrap="square">
            <a:spAutoFit/>
          </a:bodyPr>
          <a:lstStyle/>
          <a:p>
            <a:pPr algn="ctr"/>
            <a:r>
              <a:rPr sz="3800" b="1">
                <a:solidFill>
                  <a:srgbClr val="2D7D46"/>
                </a:solidFill>
                <a:latin typeface="Aptos"/>
              </a:rPr>
              <a:t>FutureVerse</a:t>
            </a:r>
          </a:p>
        </p:txBody>
      </p:sp>
      <p:sp>
        <p:nvSpPr>
          <p:cNvPr id="12" name="Rectangle 11"/>
          <p:cNvSpPr/>
          <p:nvPr/>
        </p:nvSpPr>
        <p:spPr>
          <a:xfrm>
            <a:off x="3794760" y="1984248"/>
            <a:ext cx="4617720" cy="45720"/>
          </a:xfrm>
          <a:prstGeom prst="rect">
            <a:avLst/>
          </a:prstGeom>
          <a:solidFill>
            <a:srgbClr val="2D7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417320" y="2130552"/>
            <a:ext cx="9372600" cy="621792"/>
          </a:xfrm>
          <a:prstGeom prst="rect">
            <a:avLst/>
          </a:prstGeom>
          <a:noFill/>
        </p:spPr>
        <p:txBody>
          <a:bodyPr wrap="square">
            <a:spAutoFit/>
          </a:bodyPr>
          <a:lstStyle/>
          <a:p>
            <a:pPr algn="ctr"/>
            <a:r>
              <a:rPr sz="1700" b="1">
                <a:solidFill>
                  <a:srgbClr val="232D37"/>
                </a:solidFill>
                <a:latin typeface="Aptos"/>
              </a:rPr>
              <a:t>A Machine Learning-Based Framework for Sugarcane Growth Prediction
and Intelligent Farming Recommendations</a:t>
            </a:r>
          </a:p>
        </p:txBody>
      </p:sp>
      <p:sp>
        <p:nvSpPr>
          <p:cNvPr id="14" name="Rounded Rectangle 13"/>
          <p:cNvSpPr/>
          <p:nvPr/>
        </p:nvSpPr>
        <p:spPr>
          <a:xfrm>
            <a:off x="502920" y="2971800"/>
            <a:ext cx="5486400" cy="2240280"/>
          </a:xfrm>
          <a:prstGeom prst="roundRect">
            <a:avLst/>
          </a:prstGeom>
          <a:solidFill>
            <a:srgbClr val="FDF4F4"/>
          </a:solidFill>
          <a:ln>
            <a:solidFill>
              <a:srgbClr val="EBB4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8" y="3182112"/>
            <a:ext cx="2651760" cy="274320"/>
          </a:xfrm>
          <a:prstGeom prst="rect">
            <a:avLst/>
          </a:prstGeom>
          <a:noFill/>
        </p:spPr>
        <p:txBody>
          <a:bodyPr wrap="square">
            <a:spAutoFit/>
          </a:bodyPr>
          <a:lstStyle/>
          <a:p>
            <a:pPr algn="l"/>
            <a:r>
              <a:rPr sz="1700" b="1">
                <a:solidFill>
                  <a:srgbClr val="CD2323"/>
                </a:solidFill>
                <a:latin typeface="Aptos"/>
              </a:rPr>
              <a:t>PROBLEM STATEMENT</a:t>
            </a:r>
          </a:p>
        </p:txBody>
      </p:sp>
      <p:sp>
        <p:nvSpPr>
          <p:cNvPr id="16" name="TextBox 15"/>
          <p:cNvSpPr txBox="1"/>
          <p:nvPr/>
        </p:nvSpPr>
        <p:spPr>
          <a:xfrm>
            <a:off x="749808" y="3547872"/>
            <a:ext cx="4956048" cy="1417320"/>
          </a:xfrm>
          <a:prstGeom prst="rect">
            <a:avLst/>
          </a:prstGeom>
          <a:noFill/>
        </p:spPr>
        <p:txBody>
          <a:bodyPr wrap="square">
            <a:spAutoFit/>
          </a:bodyPr>
          <a:lstStyle/>
          <a:p>
            <a:pPr algn="l"/>
            <a:r>
              <a:rPr sz="1300" b="0">
                <a:solidFill>
                  <a:srgbClr val="232D37"/>
                </a:solidFill>
                <a:latin typeface="Aptos"/>
              </a:rPr>
              <a:t>Sugarcane growth and yield are influenced by multiple factors such as soil pH, nutrient levels, temperature, humidity, rainfall, irrigation and crop age. These factors can vary across fields and directly affect crop development and productivity. Farmers may not have a simple data-driven system to analyze these conditions together, predict expected crop performance and identify the most important actions at the right time. This creates a need for an easy-to-use system that can support informed farming decisions.</a:t>
            </a:r>
          </a:p>
        </p:txBody>
      </p:sp>
      <p:sp>
        <p:nvSpPr>
          <p:cNvPr id="17" name="Rounded Rectangle 16"/>
          <p:cNvSpPr/>
          <p:nvPr/>
        </p:nvSpPr>
        <p:spPr>
          <a:xfrm>
            <a:off x="6199632" y="2971800"/>
            <a:ext cx="5486400" cy="2240280"/>
          </a:xfrm>
          <a:prstGeom prst="roundRect">
            <a:avLst/>
          </a:prstGeom>
          <a:solidFill>
            <a:srgbClr val="F2F9F3"/>
          </a:solidFill>
          <a:ln>
            <a:solidFill>
              <a:srgbClr val="B4D7B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46520" y="3182112"/>
            <a:ext cx="2743200" cy="274320"/>
          </a:xfrm>
          <a:prstGeom prst="rect">
            <a:avLst/>
          </a:prstGeom>
          <a:noFill/>
        </p:spPr>
        <p:txBody>
          <a:bodyPr wrap="square">
            <a:spAutoFit/>
          </a:bodyPr>
          <a:lstStyle/>
          <a:p>
            <a:pPr algn="l"/>
            <a:r>
              <a:rPr sz="1700" b="1">
                <a:solidFill>
                  <a:srgbClr val="2D7D46"/>
                </a:solidFill>
                <a:latin typeface="Aptos"/>
              </a:rPr>
              <a:t>PROPOSED SOLUTION</a:t>
            </a:r>
          </a:p>
        </p:txBody>
      </p:sp>
      <p:sp>
        <p:nvSpPr>
          <p:cNvPr id="19" name="TextBox 18"/>
          <p:cNvSpPr txBox="1"/>
          <p:nvPr/>
        </p:nvSpPr>
        <p:spPr>
          <a:xfrm>
            <a:off x="6446520" y="3547872"/>
            <a:ext cx="4956048" cy="1417320"/>
          </a:xfrm>
          <a:prstGeom prst="rect">
            <a:avLst/>
          </a:prstGeom>
          <a:noFill/>
        </p:spPr>
        <p:txBody>
          <a:bodyPr wrap="square">
            <a:spAutoFit/>
          </a:bodyPr>
          <a:lstStyle/>
          <a:p>
            <a:pPr algn="l"/>
            <a:r>
              <a:rPr sz="1300" b="0">
                <a:solidFill>
                  <a:srgbClr val="232D37"/>
                </a:solidFill>
                <a:latin typeface="Aptos"/>
              </a:rPr>
              <a:t>FutureVerse addresses this problem by using machine learning to analyze soil, weather, irrigation and crop-related parameters and predict sugarcane growth percentage and estimated yield in tons per hectare. The system then converts the prediction and field conditions into practical recommendations for irrigation, fertilizer management, crop management and soil improvement. The results are presented through a simple, farmer-friendly web dashboard so that technical ML information is transformed into clear and actionable farming guidance.</a:t>
            </a:r>
          </a:p>
        </p:txBody>
      </p:sp>
      <p:sp>
        <p:nvSpPr>
          <p:cNvPr id="20" name="Rectangle 19"/>
          <p:cNvSpPr/>
          <p:nvPr/>
        </p:nvSpPr>
        <p:spPr>
          <a:xfrm>
            <a:off x="594360" y="5413248"/>
            <a:ext cx="10972800" cy="32004"/>
          </a:xfrm>
          <a:prstGeom prst="rect">
            <a:avLst/>
          </a:prstGeom>
          <a:solidFill>
            <a:srgbClr val="B4B9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5577840"/>
            <a:ext cx="3383280" cy="228600"/>
          </a:xfrm>
          <a:prstGeom prst="rect">
            <a:avLst/>
          </a:prstGeom>
          <a:noFill/>
        </p:spPr>
        <p:txBody>
          <a:bodyPr wrap="square">
            <a:spAutoFit/>
          </a:bodyPr>
          <a:lstStyle/>
          <a:p>
            <a:pPr algn="ctr"/>
            <a:r>
              <a:rPr sz="1400" b="1">
                <a:solidFill>
                  <a:srgbClr val="003982"/>
                </a:solidFill>
                <a:latin typeface="Aptos"/>
              </a:rPr>
              <a:t>TEAM MEMBERS</a:t>
            </a:r>
          </a:p>
        </p:txBody>
      </p:sp>
      <p:sp>
        <p:nvSpPr>
          <p:cNvPr id="22" name="TextBox 21"/>
          <p:cNvSpPr txBox="1"/>
          <p:nvPr/>
        </p:nvSpPr>
        <p:spPr>
          <a:xfrm>
            <a:off x="685800" y="5852160"/>
            <a:ext cx="3383280" cy="621792"/>
          </a:xfrm>
          <a:prstGeom prst="rect">
            <a:avLst/>
          </a:prstGeom>
          <a:noFill/>
        </p:spPr>
        <p:txBody>
          <a:bodyPr wrap="square">
            <a:spAutoFit/>
          </a:bodyPr>
          <a:lstStyle/>
          <a:p>
            <a:pPr algn="ctr"/>
            <a:r>
              <a:rPr sz="1100" b="0">
                <a:solidFill>
                  <a:srgbClr val="232D37"/>
                </a:solidFill>
                <a:latin typeface="Aptos"/>
              </a:rPr>
              <a:t>Abhishek Danole – A-21
Harsh Abad – A-01
Paras Danole – A-22</a:t>
            </a:r>
          </a:p>
        </p:txBody>
      </p:sp>
      <p:sp>
        <p:nvSpPr>
          <p:cNvPr id="23" name="TextBox 22"/>
          <p:cNvSpPr txBox="1"/>
          <p:nvPr/>
        </p:nvSpPr>
        <p:spPr>
          <a:xfrm>
            <a:off x="4407408" y="5577840"/>
            <a:ext cx="3383280" cy="228600"/>
          </a:xfrm>
          <a:prstGeom prst="rect">
            <a:avLst/>
          </a:prstGeom>
          <a:noFill/>
        </p:spPr>
        <p:txBody>
          <a:bodyPr wrap="square">
            <a:spAutoFit/>
          </a:bodyPr>
          <a:lstStyle/>
          <a:p>
            <a:pPr algn="ctr"/>
            <a:r>
              <a:rPr sz="1400" b="1">
                <a:solidFill>
                  <a:srgbClr val="003982"/>
                </a:solidFill>
                <a:latin typeface="Aptos"/>
              </a:rPr>
              <a:t>GUIDE</a:t>
            </a:r>
          </a:p>
        </p:txBody>
      </p:sp>
      <p:sp>
        <p:nvSpPr>
          <p:cNvPr id="24" name="TextBox 23"/>
          <p:cNvSpPr txBox="1"/>
          <p:nvPr/>
        </p:nvSpPr>
        <p:spPr>
          <a:xfrm>
            <a:off x="4407408" y="5852160"/>
            <a:ext cx="3383280" cy="502920"/>
          </a:xfrm>
          <a:prstGeom prst="rect">
            <a:avLst/>
          </a:prstGeom>
          <a:noFill/>
        </p:spPr>
        <p:txBody>
          <a:bodyPr wrap="square">
            <a:spAutoFit/>
          </a:bodyPr>
          <a:lstStyle/>
          <a:p>
            <a:pPr algn="ctr"/>
            <a:r>
              <a:rPr sz="1100" b="0">
                <a:solidFill>
                  <a:srgbClr val="232D37"/>
                </a:solidFill>
                <a:latin typeface="Aptos"/>
              </a:rPr>
              <a:t>Ms. V.V. Manglaram
Assistant Professor</a:t>
            </a:r>
          </a:p>
        </p:txBody>
      </p:sp>
      <p:sp>
        <p:nvSpPr>
          <p:cNvPr id="25" name="TextBox 24"/>
          <p:cNvSpPr txBox="1"/>
          <p:nvPr/>
        </p:nvSpPr>
        <p:spPr>
          <a:xfrm>
            <a:off x="8138160" y="5577840"/>
            <a:ext cx="3383280" cy="228600"/>
          </a:xfrm>
          <a:prstGeom prst="rect">
            <a:avLst/>
          </a:prstGeom>
          <a:noFill/>
        </p:spPr>
        <p:txBody>
          <a:bodyPr wrap="square">
            <a:spAutoFit/>
          </a:bodyPr>
          <a:lstStyle/>
          <a:p>
            <a:pPr algn="ctr"/>
            <a:r>
              <a:rPr sz="1400" b="1">
                <a:solidFill>
                  <a:srgbClr val="003982"/>
                </a:solidFill>
                <a:latin typeface="Aptos"/>
              </a:rPr>
              <a:t>PROJECT DOMAIN</a:t>
            </a:r>
          </a:p>
        </p:txBody>
      </p:sp>
      <p:sp>
        <p:nvSpPr>
          <p:cNvPr id="26" name="TextBox 25"/>
          <p:cNvSpPr txBox="1"/>
          <p:nvPr/>
        </p:nvSpPr>
        <p:spPr>
          <a:xfrm>
            <a:off x="8138160" y="5852160"/>
            <a:ext cx="3383280" cy="411480"/>
          </a:xfrm>
          <a:prstGeom prst="rect">
            <a:avLst/>
          </a:prstGeom>
          <a:noFill/>
        </p:spPr>
        <p:txBody>
          <a:bodyPr wrap="square">
            <a:spAutoFit/>
          </a:bodyPr>
          <a:lstStyle/>
          <a:p>
            <a:pPr algn="ctr"/>
            <a:r>
              <a:rPr sz="1100" b="0">
                <a:solidFill>
                  <a:srgbClr val="232D37"/>
                </a:solidFill>
                <a:latin typeface="Aptos"/>
              </a:rPr>
              <a:t>Machine Learning • Smart Agriculture</a:t>
            </a:r>
          </a:p>
        </p:txBody>
      </p:sp>
      <p:sp>
        <p:nvSpPr>
          <p:cNvPr id="27" name="Rectangle 26"/>
          <p:cNvSpPr/>
          <p:nvPr/>
        </p:nvSpPr>
        <p:spPr>
          <a:xfrm>
            <a:off x="9646920" y="6327648"/>
            <a:ext cx="1965960" cy="274320"/>
          </a:xfrm>
          <a:prstGeom prst="rect">
            <a:avLst/>
          </a:prstGeom>
          <a:solidFill>
            <a:srgbClr val="FFC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10928" y="6382512"/>
            <a:ext cx="1828800" cy="146304"/>
          </a:xfrm>
          <a:prstGeom prst="rect">
            <a:avLst/>
          </a:prstGeom>
          <a:noFill/>
        </p:spPr>
        <p:txBody>
          <a:bodyPr wrap="square">
            <a:spAutoFit/>
          </a:bodyPr>
          <a:lstStyle/>
          <a:p>
            <a:pPr algn="ctr"/>
            <a:r>
              <a:rPr sz="900" b="1">
                <a:solidFill>
                  <a:srgbClr val="232D37"/>
                </a:solidFill>
                <a:latin typeface="Aptos"/>
              </a:rPr>
              <a:t>GROUP NO: ______</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234</Words>
  <Application>Microsoft Office PowerPoint</Application>
  <PresentationFormat>Widescreen</PresentationFormat>
  <Paragraphs>17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harsh abad</cp:lastModifiedBy>
  <cp:revision>1</cp:revision>
  <dcterms:created xsi:type="dcterms:W3CDTF">2013-01-27T09:14:16Z</dcterms:created>
  <dcterms:modified xsi:type="dcterms:W3CDTF">2026-09-11T10:19:56Z</dcterms:modified>
  <cp:category/>
</cp:coreProperties>
</file>