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9-11 215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4069080"/>
            <a:ext cx="5532120" cy="1417320"/>
          </a:xfrm>
          <a:prstGeom prst="roundRect">
            <a:avLst/>
          </a:prstGeom>
          <a:solidFill>
            <a:srgbClr val="E6F2FA"/>
          </a:solidFill>
          <a:ln w="15240">
            <a:solidFill>
              <a:srgbClr val="239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069080"/>
            <a:ext cx="64008" cy="1417320"/>
          </a:xfrm>
          <a:prstGeom prst="rect">
            <a:avLst/>
          </a:prstGeom>
          <a:solidFill>
            <a:srgbClr val="239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78808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Times New Roman"/>
              </a:rPr>
              <a:t>Implementation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44568"/>
            <a:ext cx="521208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000000"/>
                </a:solidFill>
                <a:latin typeface="Times New Roman"/>
              </a:defRPr>
            </a:pPr>
            <a:r>
              <a:t>• Farmer-friendly UI prototype prepared</a:t>
            </a:r>
          </a:p>
          <a:p>
            <a:pPr>
              <a:spcAft>
                <a:spcPts val="300"/>
              </a:spcAft>
              <a:defRPr sz="1250">
                <a:solidFill>
                  <a:srgbClr val="000000"/>
                </a:solidFill>
                <a:latin typeface="Times New Roman"/>
              </a:defRPr>
            </a:pPr>
            <a:r>
              <a:t>• Field Data, Farm Outlook &amp; Recommendation screens designed</a:t>
            </a:r>
          </a:p>
          <a:p>
            <a:pPr>
              <a:spcAft>
                <a:spcPts val="300"/>
              </a:spcAft>
              <a:defRPr sz="1250">
                <a:solidFill>
                  <a:srgbClr val="000000"/>
                </a:solidFill>
                <a:latin typeface="Times New Roman"/>
              </a:defRPr>
            </a:pPr>
            <a:r>
              <a:t>• English, Hindi &amp; Marathi support added</a:t>
            </a:r>
          </a:p>
          <a:p>
            <a:pPr>
              <a:spcAft>
                <a:spcPts val="300"/>
              </a:spcAft>
              <a:defRPr sz="1250">
                <a:solidFill>
                  <a:srgbClr val="000000"/>
                </a:solidFill>
                <a:latin typeface="Times New Roman"/>
              </a:defRPr>
            </a:pPr>
            <a:r>
              <a:t>• ML/API integration in progress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4069080"/>
            <a:ext cx="5532120" cy="1417320"/>
          </a:xfrm>
          <a:prstGeom prst="roundRect">
            <a:avLst/>
          </a:prstGeom>
          <a:solidFill>
            <a:srgbClr val="E8F5E8"/>
          </a:solidFill>
          <a:ln w="15240">
            <a:solidFill>
              <a:srgbClr val="4B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4069080"/>
            <a:ext cx="64008" cy="1417320"/>
          </a:xfrm>
          <a:prstGeom prst="rect">
            <a:avLst/>
          </a:prstGeom>
          <a:solidFill>
            <a:srgbClr val="4B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4178808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Times New Roman"/>
              </a:rPr>
              <a:t>Immediate Next Milestone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544568"/>
            <a:ext cx="521208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000000"/>
                </a:solidFill>
                <a:latin typeface="Times New Roman"/>
              </a:defRPr>
            </a:pPr>
            <a:r>
              <a:t>• Finalize dataset and train ML models</a:t>
            </a:r>
          </a:p>
          <a:p>
            <a:pPr>
              <a:spcAft>
                <a:spcPts val="300"/>
              </a:spcAft>
              <a:defRPr sz="1250">
                <a:solidFill>
                  <a:srgbClr val="000000"/>
                </a:solidFill>
                <a:latin typeface="Times New Roman"/>
              </a:defRPr>
            </a:pPr>
            <a:r>
              <a:t>• Connect trained model with FastAPI</a:t>
            </a:r>
          </a:p>
          <a:p>
            <a:pPr>
              <a:spcAft>
                <a:spcPts val="300"/>
              </a:spcAft>
              <a:defRPr sz="1250">
                <a:solidFill>
                  <a:srgbClr val="000000"/>
                </a:solidFill>
                <a:latin typeface="Times New Roman"/>
              </a:defRPr>
            </a:pPr>
            <a:r>
              <a:t>• Integrate predictions with recommendation engine</a:t>
            </a:r>
          </a:p>
          <a:p>
            <a:pPr>
              <a:spcAft>
                <a:spcPts val="300"/>
              </a:spcAft>
              <a:defRPr sz="1250">
                <a:solidFill>
                  <a:srgbClr val="000000"/>
                </a:solidFill>
                <a:latin typeface="Times New Roman"/>
              </a:defRPr>
            </a:pPr>
            <a:r>
              <a:t>• End-to-end testing and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