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9-11 1529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587752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CD2323"/>
                </a:solidFill>
                <a:latin typeface="Aptos"/>
              </a:rPr>
              <a:t>FutureVerse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035808"/>
            <a:ext cx="95554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3982"/>
                </a:solidFill>
                <a:latin typeface="Aptos"/>
              </a:rPr>
              <a:t>A Machine Learning-Based Framework for Sugarcane Growth Prediction
and Intelligent Farming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502920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232D37"/>
                </a:solidFill>
                <a:latin typeface="Aptos"/>
              </a:rPr>
              <a:t>GROUP NO: 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5468112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CD2323"/>
                </a:solidFill>
                <a:latin typeface="Aptos"/>
              </a:rPr>
              <a:t>GUIDE: Ms. V.V. Manglaram, Assistant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989320"/>
            <a:ext cx="9784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3982"/>
                </a:solidFill>
                <a:latin typeface="Aptos"/>
              </a:rPr>
              <a:t>Abhishek Danole (A-21)  •  Harsh Abad (A-01)  •  Paras Danole (A-22)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063240" cy="621792"/>
          </a:xfrm>
          <a:prstGeom prst="rect">
            <a:avLst/>
          </a:prstGeom>
          <a:solidFill>
            <a:srgbClr val="00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63240" y="54864"/>
            <a:ext cx="3063240" cy="62179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6480" y="54864"/>
            <a:ext cx="3063240" cy="621792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89720" y="54864"/>
            <a:ext cx="2999232" cy="621792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55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54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WIT, Solapur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64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FUTUREVERSE  |  2/7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77824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3982"/>
                </a:solidFill>
                <a:latin typeface="Aptos"/>
              </a:rPr>
              <a:t>Overall System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99032"/>
            <a:ext cx="123444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96E73"/>
                </a:solidFill>
                <a:latin typeface="Aptos"/>
              </a:rPr>
              <a:t>Farmer → prediction → recommendations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828800"/>
            <a:ext cx="484632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86994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D7D46"/>
                </a:solidFill>
                <a:latin typeface="Aptos"/>
              </a:rPr>
              <a:t>FARMER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13969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6E73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2313432"/>
            <a:ext cx="484632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35458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7EBE"/>
                </a:solidFill>
                <a:latin typeface="Aptos"/>
              </a:rPr>
              <a:t>React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62432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6E73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2798064"/>
            <a:ext cx="484632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F8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2839212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87F00"/>
                </a:solidFill>
                <a:latin typeface="Aptos"/>
              </a:rPr>
              <a:t>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108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6E73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282696"/>
            <a:ext cx="484632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003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32384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3982"/>
                </a:solidFill>
                <a:latin typeface="Aptos"/>
              </a:rPr>
              <a:t>Validation &amp; Preprocessing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593591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6E73"/>
                </a:solidFill>
                <a:latin typeface="Aptos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3767328"/>
            <a:ext cx="484632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3808476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D7D46"/>
                </a:solidFill>
                <a:latin typeface="Aptos"/>
              </a:rPr>
              <a:t>ML Prediction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078224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6E73"/>
                </a:solidFill>
                <a:latin typeface="Aptos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4251960"/>
            <a:ext cx="484632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29310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7EBE"/>
                </a:solidFill>
                <a:latin typeface="Aptos"/>
              </a:rPr>
              <a:t>Model Evaluation &amp; Best Model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45628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6E73"/>
                </a:solidFill>
                <a:latin typeface="Aptos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4736592"/>
            <a:ext cx="484632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F8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477774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87F00"/>
                </a:solidFill>
                <a:latin typeface="Aptos"/>
              </a:rPr>
              <a:t>Growth + Yield 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04748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6E73"/>
                </a:solidFill>
                <a:latin typeface="Aptos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5221224"/>
            <a:ext cx="484632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003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5262372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3982"/>
                </a:solidFill>
                <a:latin typeface="Aptos"/>
              </a:rPr>
              <a:t>Recommendation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55321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6E73"/>
                </a:solidFill>
                <a:latin typeface="Aptos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5705856"/>
            <a:ext cx="484632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3320" y="574700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D7D46"/>
                </a:solidFill>
                <a:latin typeface="Aptos"/>
              </a:rPr>
              <a:t>Farmer Dashboard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192024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1920240"/>
            <a:ext cx="64008" cy="18288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2039112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D7D46"/>
                </a:solidFill>
                <a:latin typeface="Aptos"/>
              </a:rPr>
              <a:t>INPUTS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2423160"/>
            <a:ext cx="24231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Soil pH • N • P • K
Temperature • Humidity
Rainfall • Irrigation
Crop 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1920240"/>
            <a:ext cx="2697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20" y="1920240"/>
            <a:ext cx="64008" cy="1828800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25712" y="203911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87F00"/>
                </a:solidFill>
                <a:latin typeface="Aptos"/>
              </a:rPr>
              <a:t>OUTPUTS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5712" y="2423160"/>
            <a:ext cx="23774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Growth (%)
Yield (t/ha)
Irrigation advice
Fertilizer &amp; crop advice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063240" cy="621792"/>
          </a:xfrm>
          <a:prstGeom prst="rect">
            <a:avLst/>
          </a:prstGeom>
          <a:solidFill>
            <a:srgbClr val="00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63240" y="54864"/>
            <a:ext cx="3063240" cy="62179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6480" y="54864"/>
            <a:ext cx="3063240" cy="621792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89720" y="54864"/>
            <a:ext cx="2999232" cy="621792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55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54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WIT, Solapur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64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FUTUREVERSE  |  3/7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77824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3982"/>
                </a:solidFill>
                <a:latin typeface="Aptos"/>
              </a:rPr>
              <a:t>Module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99032"/>
            <a:ext cx="123444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96E73"/>
                </a:solidFill>
                <a:latin typeface="Aptos"/>
              </a:rPr>
              <a:t>Six core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288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1828800"/>
            <a:ext cx="64008" cy="1508760"/>
          </a:xfrm>
          <a:prstGeom prst="rect">
            <a:avLst/>
          </a:prstGeom>
          <a:solidFill>
            <a:srgbClr val="00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194767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7EBE"/>
                </a:solidFill>
                <a:latin typeface="Aptos"/>
              </a:rPr>
              <a:t>1. User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331720"/>
            <a:ext cx="301752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Collect field and crop parameters.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288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828800"/>
            <a:ext cx="64008" cy="1508760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194767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87F00"/>
                </a:solidFill>
                <a:latin typeface="Aptos"/>
              </a:rPr>
              <a:t>2. Validation &amp; 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331720"/>
            <a:ext cx="301752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Validate, handle missing data and prepare features.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18288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1828800"/>
            <a:ext cx="64008" cy="150876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94767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D7D46"/>
                </a:solidFill>
                <a:latin typeface="Aptos"/>
              </a:rPr>
              <a:t>3. ML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331720"/>
            <a:ext cx="301752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Predict growth and estimated yield.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8862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886200"/>
            <a:ext cx="64008" cy="1508760"/>
          </a:xfrm>
          <a:prstGeom prst="rect">
            <a:avLst/>
          </a:prstGeom>
          <a:solidFill>
            <a:srgbClr val="003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00507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3982"/>
                </a:solidFill>
                <a:latin typeface="Aptos"/>
              </a:rPr>
              <a:t>4. Model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389120"/>
            <a:ext cx="301752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Evaluate models using MAE, RMSE and R².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8862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3886200"/>
            <a:ext cx="64008" cy="150876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400507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D7D46"/>
                </a:solidFill>
                <a:latin typeface="Aptos"/>
              </a:rPr>
              <a:t>5. Recommendation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389120"/>
            <a:ext cx="301752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Generate practical farming actions.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38862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80" y="3886200"/>
            <a:ext cx="64008" cy="1508760"/>
          </a:xfrm>
          <a:prstGeom prst="rect">
            <a:avLst/>
          </a:prstGeom>
          <a:solidFill>
            <a:srgbClr val="00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8472" y="400507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7EBE"/>
                </a:solidFill>
                <a:latin typeface="Aptos"/>
              </a:rPr>
              <a:t>6.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4389120"/>
            <a:ext cx="301752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Display simple, farmer-friendly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063240" cy="621792"/>
          </a:xfrm>
          <a:prstGeom prst="rect">
            <a:avLst/>
          </a:prstGeom>
          <a:solidFill>
            <a:srgbClr val="00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63240" y="54864"/>
            <a:ext cx="3063240" cy="62179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6480" y="54864"/>
            <a:ext cx="3063240" cy="621792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89720" y="54864"/>
            <a:ext cx="2999232" cy="621792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55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54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WIT, Solapur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64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FUTUREVERSE  |  4/7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77824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3982"/>
                </a:solidFill>
                <a:latin typeface="Aptos"/>
              </a:rPr>
              <a:t>Data / Workflow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99032"/>
            <a:ext cx="123444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96E73"/>
                </a:solidFill>
                <a:latin typeface="Aptos"/>
              </a:rPr>
              <a:t>Dataset features, targets and processing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82880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828800"/>
            <a:ext cx="64008" cy="384048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47672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D7D46"/>
                </a:solidFill>
                <a:latin typeface="Aptos"/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331720"/>
            <a:ext cx="28803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Soil pH
Nitrogen (N)
Phosphorus (P)
Potassium (K)
Temperature
Humidity
Rainfall
Irrigation
Crop Age
Soil Type (optional)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1828800"/>
            <a:ext cx="27432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31920" y="1828800"/>
            <a:ext cx="64008" cy="3840480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96511" y="1947672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87F00"/>
                </a:solidFill>
                <a:latin typeface="Aptos"/>
              </a:rPr>
              <a:t>TARGETS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1" y="2331720"/>
            <a:ext cx="24231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Growth Percentage
Yield
(tons/hectare)
Use separate model sets for growth and yield unless a suitable multi-output approach is justified.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828800"/>
            <a:ext cx="4572000" cy="265176"/>
          </a:xfrm>
          <a:prstGeom prst="roundRect">
            <a:avLst/>
          </a:prstGeom>
          <a:solidFill>
            <a:srgbClr val="FFFFFF"/>
          </a:solidFill>
          <a:ln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85166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32D37"/>
                </a:solidFill>
                <a:latin typeface="Aptos"/>
              </a:rPr>
              <a:t>Dataset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176272"/>
            <a:ext cx="4572000" cy="265176"/>
          </a:xfrm>
          <a:prstGeom prst="roundRect">
            <a:avLst/>
          </a:prstGeom>
          <a:solidFill>
            <a:srgbClr val="FFFFFF"/>
          </a:solidFill>
          <a:ln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19913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Cleaning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2523744"/>
            <a:ext cx="4572000" cy="265176"/>
          </a:xfrm>
          <a:prstGeom prst="roundRect">
            <a:avLst/>
          </a:prstGeom>
          <a:solidFill>
            <a:srgbClr val="FFFFFF"/>
          </a:solidFill>
          <a:ln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2546603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Missing Values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2871216"/>
            <a:ext cx="4572000" cy="265176"/>
          </a:xfrm>
          <a:prstGeom prst="roundRect">
            <a:avLst/>
          </a:prstGeom>
          <a:solidFill>
            <a:srgbClr val="FFFFFF"/>
          </a:solidFill>
          <a:ln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89407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Feature Preparation / Scaling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3218688"/>
            <a:ext cx="4572000" cy="265176"/>
          </a:xfrm>
          <a:prstGeom prst="roundRect">
            <a:avLst/>
          </a:prstGeom>
          <a:solidFill>
            <a:srgbClr val="FFFFFF"/>
          </a:solidFill>
          <a:ln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24154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Train-Test Split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3566160"/>
            <a:ext cx="4572000" cy="265176"/>
          </a:xfrm>
          <a:prstGeom prst="roundRect">
            <a:avLst/>
          </a:prstGeom>
          <a:solidFill>
            <a:srgbClr val="FFFFFF"/>
          </a:solidFill>
          <a:ln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58902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Model Training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3913632"/>
            <a:ext cx="4572000" cy="265176"/>
          </a:xfrm>
          <a:prstGeom prst="roundRect">
            <a:avLst/>
          </a:prstGeom>
          <a:solidFill>
            <a:srgbClr val="FFFFFF"/>
          </a:solidFill>
          <a:ln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393649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32D37"/>
                </a:solidFill>
                <a:latin typeface="Aptos"/>
              </a:rPr>
              <a:t>Evaluation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4261104"/>
            <a:ext cx="4572000" cy="265176"/>
          </a:xfrm>
          <a:prstGeom prst="roundRect">
            <a:avLst/>
          </a:prstGeom>
          <a:solidFill>
            <a:srgbClr val="FFFFFF"/>
          </a:solidFill>
          <a:ln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4283964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32D37"/>
                </a:solidFill>
                <a:latin typeface="Aptos"/>
              </a:rPr>
              <a:t>Best Model Selection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4608576"/>
            <a:ext cx="4572000" cy="265176"/>
          </a:xfrm>
          <a:prstGeom prst="roundRect">
            <a:avLst/>
          </a:prstGeom>
          <a:solidFill>
            <a:srgbClr val="FFFFFF"/>
          </a:solidFill>
          <a:ln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463143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Save Model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4956048"/>
            <a:ext cx="4572000" cy="265176"/>
          </a:xfrm>
          <a:prstGeom prst="roundRect">
            <a:avLst/>
          </a:prstGeom>
          <a:solidFill>
            <a:srgbClr val="FFFFFF"/>
          </a:solidFill>
          <a:ln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497890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Prediction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5303520"/>
            <a:ext cx="4572000" cy="265176"/>
          </a:xfrm>
          <a:prstGeom prst="roundRect">
            <a:avLst/>
          </a:prstGeom>
          <a:solidFill>
            <a:srgbClr val="FFFFFF"/>
          </a:solidFill>
          <a:ln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532638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32D37"/>
                </a:solidFill>
                <a:latin typeface="Aptos"/>
              </a:rPr>
              <a:t>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063240" cy="621792"/>
          </a:xfrm>
          <a:prstGeom prst="rect">
            <a:avLst/>
          </a:prstGeom>
          <a:solidFill>
            <a:srgbClr val="00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63240" y="54864"/>
            <a:ext cx="3063240" cy="62179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6480" y="54864"/>
            <a:ext cx="3063240" cy="621792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89720" y="54864"/>
            <a:ext cx="2999232" cy="621792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55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54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WIT, Solapur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64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FUTUREVERSE  |  5/7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77824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3982"/>
                </a:solidFill>
                <a:latin typeface="Aptos"/>
              </a:rPr>
              <a:t>Core Technical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99032"/>
            <a:ext cx="123444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96E73"/>
                </a:solidFill>
                <a:latin typeface="Aptos"/>
              </a:rPr>
              <a:t>Machine learning + recommendation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82880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828800"/>
            <a:ext cx="64008" cy="1097280"/>
          </a:xfrm>
          <a:prstGeom prst="rect">
            <a:avLst/>
          </a:prstGeom>
          <a:solidFill>
            <a:srgbClr val="00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4767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7EBE"/>
                </a:solidFill>
                <a:latin typeface="Aptos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331720"/>
            <a:ext cx="22860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Decision Tree Regressor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82880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1828800"/>
            <a:ext cx="64008" cy="109728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94767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D7D46"/>
                </a:solidFill>
                <a:latin typeface="Aptos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331720"/>
            <a:ext cx="22860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Random Forest Regressor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828800"/>
            <a:ext cx="64008" cy="1097280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194767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87F00"/>
                </a:solidFill>
                <a:latin typeface="Aptos"/>
              </a:rP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2331720"/>
            <a:ext cx="22860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Gradient Boosting Regressor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82880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828800"/>
            <a:ext cx="64008" cy="1097280"/>
          </a:xfrm>
          <a:prstGeom prst="rect">
            <a:avLst/>
          </a:prstGeom>
          <a:solidFill>
            <a:srgbClr val="003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194767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3982"/>
                </a:solidFill>
                <a:latin typeface="Aptos"/>
              </a:rPr>
              <a:t>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331720"/>
            <a:ext cx="22860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XGBoost Regressor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2461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246120"/>
            <a:ext cx="64008" cy="2011680"/>
          </a:xfrm>
          <a:prstGeom prst="rect">
            <a:avLst/>
          </a:prstGeom>
          <a:solidFill>
            <a:srgbClr val="00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364991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7EBE"/>
                </a:solidFill>
                <a:latin typeface="Aptos"/>
              </a:rP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3749039"/>
            <a:ext cx="31089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MAE → lower is better
RMSE → lower is better
R² → higher is better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32461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60520" y="3246120"/>
            <a:ext cx="64008" cy="2011680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5112" y="3364991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87F00"/>
                </a:solidFill>
                <a:latin typeface="Aptos"/>
              </a:rPr>
              <a:t>SELECTION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3749039"/>
            <a:ext cx="31089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Train → Evaluate → Compare → Select best-performing model based on actual results → Save with Joblib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3246120"/>
            <a:ext cx="3840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18120" y="3246120"/>
            <a:ext cx="64008" cy="201168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82712" y="3364991"/>
            <a:ext cx="3520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D7D46"/>
                </a:solidFill>
                <a:latin typeface="Aptos"/>
              </a:rPr>
              <a:t>RECOMMENDATIONS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2712" y="3749039"/>
            <a:ext cx="35204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Field conditions + predictions → irrigation, fertilizer, crop-management and soil-improvement guidance.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7150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CD2323"/>
                </a:solidFill>
                <a:latin typeface="Aptos"/>
              </a:rPr>
              <a:t>Do not assume XGBoost is best; select the model from actual evaluation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063240" cy="621792"/>
          </a:xfrm>
          <a:prstGeom prst="rect">
            <a:avLst/>
          </a:prstGeom>
          <a:solidFill>
            <a:srgbClr val="00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63240" y="54864"/>
            <a:ext cx="3063240" cy="62179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6480" y="54864"/>
            <a:ext cx="3063240" cy="621792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89720" y="54864"/>
            <a:ext cx="2999232" cy="621792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55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54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WIT, Solapur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64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FUTUREVERSE  |  6/7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77824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3982"/>
                </a:solidFill>
                <a:latin typeface="Aptos"/>
              </a:rPr>
              <a:t>UI / Prototype / Wireframes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99032"/>
            <a:ext cx="123444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96E73"/>
                </a:solidFill>
                <a:latin typeface="Aptos"/>
              </a:rPr>
              <a:t>Farmer-first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830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659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2D7D46"/>
                </a:solidFill>
                <a:latin typeface="Aptos"/>
              </a:rPr>
              <a:t>FIELD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7830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9659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2D7D46"/>
                </a:solidFill>
                <a:latin typeface="Aptos"/>
              </a:rPr>
              <a:t>FARM HEALTH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7830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9659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2D7D46"/>
                </a:solidFill>
                <a:latin typeface="Aptos"/>
              </a:rPr>
              <a:t>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560320"/>
            <a:ext cx="2743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Soil pH: 6.8
N: 180   P: 45   K: 90
Temperature: 28°C
Humidity: 70%
Rainfall: 650 mm
Irrigation: Adequate
Crop Age: 8 months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5212080"/>
            <a:ext cx="2011680" cy="411480"/>
          </a:xfrm>
          <a:prstGeom prst="round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5294376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423160"/>
            <a:ext cx="28346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3982"/>
                </a:solidFill>
                <a:latin typeface="Aptos"/>
              </a:rPr>
              <a:t>FIELD STATUS
Healthy
Growth: Example %
Yield: Example t/ha
TOP PRIORITY
Irrigation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14600"/>
            <a:ext cx="2971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232D37"/>
                </a:solidFill>
                <a:latin typeface="Aptos"/>
              </a:rPr>
              <a:t>What should I do today?
• Check irrigation
• Review fertilizer needs
• Monitor crop condition
• Improve soil where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534924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D2323"/>
                </a:solidFill>
                <a:latin typeface="Aptos"/>
              </a:rPr>
              <a:t>No model comparison or ML metrics shown to farmers.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063240" cy="621792"/>
          </a:xfrm>
          <a:prstGeom prst="rect">
            <a:avLst/>
          </a:prstGeom>
          <a:solidFill>
            <a:srgbClr val="00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63240" y="54864"/>
            <a:ext cx="3063240" cy="62179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6480" y="54864"/>
            <a:ext cx="3063240" cy="621792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89720" y="54864"/>
            <a:ext cx="2999232" cy="621792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554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54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WIT, Solapur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64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FUTUREVERSE  |  7/7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77824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3982"/>
                </a:solidFill>
                <a:latin typeface="Aptos"/>
              </a:rPr>
              <a:t>Technology Stack &amp; Implementation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99032"/>
            <a:ext cx="123444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96E73"/>
                </a:solidFill>
                <a:latin typeface="Aptos"/>
              </a:rPr>
              <a:t>Tools and development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83080"/>
            <a:ext cx="27432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783080"/>
            <a:ext cx="64008" cy="1691640"/>
          </a:xfrm>
          <a:prstGeom prst="rect">
            <a:avLst/>
          </a:prstGeom>
          <a:solidFill>
            <a:srgbClr val="00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01952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7EBE"/>
                </a:solidFill>
                <a:latin typeface="Aptos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286000"/>
            <a:ext cx="2423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React.js • JavaScript ES6+
HTML5 • CSS3 • Bootstrap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783080"/>
            <a:ext cx="27432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1783080"/>
            <a:ext cx="64008" cy="1691640"/>
          </a:xfrm>
          <a:prstGeom prst="rect">
            <a:avLst/>
          </a:prstGeom>
          <a:solidFill>
            <a:srgbClr val="F8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1901952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87F00"/>
                </a:solidFill>
                <a:latin typeface="Aptos"/>
              </a:rPr>
              <a:t>BACKEND /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286000"/>
            <a:ext cx="2423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Python 3.11
FastAPI • RESTful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783080"/>
            <a:ext cx="27432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783080"/>
            <a:ext cx="64008" cy="169164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1901952"/>
            <a:ext cx="2423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D7D46"/>
                </a:solidFill>
                <a:latin typeface="Aptos"/>
              </a:rPr>
              <a:t>ML /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286000"/>
            <a:ext cx="2423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Scikit-learn • XGBoost
Pandas • NumPy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1783080"/>
            <a:ext cx="24231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81160" y="1783080"/>
            <a:ext cx="64008" cy="1691640"/>
          </a:xfrm>
          <a:prstGeom prst="rect">
            <a:avLst/>
          </a:prstGeom>
          <a:solidFill>
            <a:srgbClr val="003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45752" y="1901952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3982"/>
                </a:solidFill>
                <a:latin typeface="Aptos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2286000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Matplotlib
Joblib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794760"/>
            <a:ext cx="5486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794760"/>
            <a:ext cx="64008" cy="1600200"/>
          </a:xfrm>
          <a:prstGeom prst="rect">
            <a:avLst/>
          </a:prstGeom>
          <a:solidFill>
            <a:srgbClr val="00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913632"/>
            <a:ext cx="5166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07EBE"/>
                </a:solidFill>
                <a:latin typeface="Aptos"/>
              </a:rPr>
              <a:t>IMPLEMENTATION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4297680"/>
            <a:ext cx="5166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Update with actual progress: ✓/⏳ Dataset • ML Training • Evaluation • API • Frontend • Integration &amp; Testing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794760"/>
            <a:ext cx="5486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794760"/>
            <a:ext cx="64008" cy="16002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3913632"/>
            <a:ext cx="5166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D7D46"/>
                </a:solidFill>
                <a:latin typeface="Aptos"/>
              </a:rPr>
              <a:t>NEXT MILESTONE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297680"/>
            <a:ext cx="5166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Complete the end-to-end ML prediction pipeline and integrate it with the farmer dashboard.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3982"/>
                </a:solidFill>
                <a:latin typeface="Aptos"/>
              </a:rPr>
              <a:t>Team: Abhishek Danole (A-21) • Harsh Abad (A-01) • Paras Danole (A-22)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