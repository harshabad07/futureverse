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621792"/>
          </a:xfrm>
          <a:prstGeom prst="rect">
            <a:avLst/>
          </a:prstGeom>
          <a:solidFill>
            <a:srgbClr val="146EAA"/>
          </a:solidFill>
          <a:ln w="12700">
            <a:solidFill>
              <a:srgbClr val="14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7373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2. OVERALL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FUTUREVERSE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D8287"/>
                </a:solidFill>
                <a:latin typeface="Aptos"/>
              </a:rPr>
              <a:t>Client–server workflow for sugarcane growth, yield prediction and farming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3237"/>
                </a:solidFill>
                <a:latin typeface="Aptos"/>
              </a:rPr>
              <a:t>FARMER /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Field &amp; crop inputs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4248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30552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14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6EAA"/>
                </a:solidFill>
                <a:latin typeface="Aptos"/>
              </a:rPr>
              <a:t>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Input form + dashboard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9624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14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2776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6EAA"/>
                </a:solidFill>
                <a:latin typeface="Aptos"/>
              </a:rPr>
              <a:t>FASTAPI 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3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Request / 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22392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68696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3237"/>
                </a:solidFill>
                <a:latin typeface="Aptos"/>
              </a:rPr>
              <a:t>DATA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Validation • cleaning • scaling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41464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7768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19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77346"/>
                </a:solidFill>
                <a:latin typeface="Aptos"/>
              </a:rPr>
              <a:t>ML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Growth + yield prediction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0536" y="2587752"/>
            <a:ext cx="109727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06839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1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77346"/>
                </a:solidFill>
                <a:latin typeface="Aptos"/>
              </a:rPr>
              <a:t>RECOMMENDATION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79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Actionable farming advice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579607" y="2587752"/>
            <a:ext cx="109729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725911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99063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3237"/>
                </a:solidFill>
                <a:latin typeface="Aptos"/>
              </a:rPr>
              <a:t>FARMER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1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Results + next actions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3794760"/>
            <a:ext cx="100584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" y="39776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6EAA"/>
                </a:solidFill>
                <a:latin typeface="Aptos"/>
              </a:rPr>
              <a:t>MODEL TRAINING &amp; SELECTION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39319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3237"/>
                </a:solidFill>
                <a:latin typeface="Aptos"/>
              </a:rPr>
              <a:t>Decision Tree  |  Random Forest  |  Gradient Boosting  |  XGBoost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343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Evaluate with MAE, RMSE and R²  →  Select the best-performing model based on actual results  →  Save model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080760" y="3319272"/>
            <a:ext cx="0" cy="45720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33832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D8287"/>
                </a:solidFill>
                <a:latin typeface="Aptos"/>
              </a:rPr>
              <a:t>trained model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76672"/>
            <a:ext cx="8549640" cy="71323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37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5504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7346"/>
                </a:solidFill>
                <a:latin typeface="Aptos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551383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237"/>
                </a:solidFill>
                <a:latin typeface="Aptos"/>
              </a:rPr>
              <a:t>Growth (%)  •  Estimated Yield (t/ha)  •  Irrigation  •  Fertilizer  •  Crop &amp; Soil Recommendations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D8287"/>
                </a:solidFill>
                <a:latin typeface="Aptos"/>
              </a:rPr>
              <a:t>Simple architecture • Farmer-first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D8287"/>
                </a:solidFill>
                <a:latin typeface="Aptos"/>
              </a:rPr>
              <a:t>Slide 2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621792"/>
          </a:xfrm>
          <a:prstGeom prst="rect">
            <a:avLst/>
          </a:prstGeom>
          <a:solidFill>
            <a:srgbClr val="146EAA"/>
          </a:solidFill>
          <a:ln w="12700">
            <a:solidFill>
              <a:srgbClr val="14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7373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2. OVERALL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82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FUTUREVERSE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D8287"/>
                </a:solidFill>
                <a:latin typeface="Aptos"/>
              </a:rPr>
              <a:t>Client–server workflow for sugarcane growth, yield prediction and farming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3237"/>
                </a:solidFill>
                <a:latin typeface="Aptos"/>
              </a:rPr>
              <a:t>FARMER /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Field &amp; crop inputs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4248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30552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14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6EAA"/>
                </a:solidFill>
                <a:latin typeface="Aptos"/>
              </a:rPr>
              <a:t>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Input form + dashboard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9624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14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2776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6EAA"/>
                </a:solidFill>
                <a:latin typeface="Aptos"/>
              </a:rPr>
              <a:t>FASTAPI 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3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Request / 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22392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68696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3237"/>
                </a:solidFill>
                <a:latin typeface="Aptos"/>
              </a:rPr>
              <a:t>DATA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Validation • cleaning • scaling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41464" y="2587752"/>
            <a:ext cx="109728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7768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19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77346"/>
                </a:solidFill>
                <a:latin typeface="Aptos"/>
              </a:rPr>
              <a:t>ML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Growth + yield prediction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0536" y="2587752"/>
            <a:ext cx="109727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06839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1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77346"/>
                </a:solidFill>
                <a:latin typeface="Aptos"/>
              </a:rPr>
              <a:t>RECOMMENDATION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79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Actionable farming advice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579607" y="2587752"/>
            <a:ext cx="109729" cy="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725911" y="1874519"/>
            <a:ext cx="1572768" cy="1417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99063" y="21305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3237"/>
                </a:solidFill>
                <a:latin typeface="Aptos"/>
              </a:rPr>
              <a:t>FARMER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1" y="265176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Results + next actions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3794760"/>
            <a:ext cx="100584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" y="39776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6EAA"/>
                </a:solidFill>
                <a:latin typeface="Aptos"/>
              </a:rPr>
              <a:t>MODEL TRAINING &amp; SELECTION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393192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3237"/>
                </a:solidFill>
                <a:latin typeface="Aptos"/>
              </a:rPr>
              <a:t>Decision Tree  |  Random Forest  |  Gradient Boosting  |  XGBoost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343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287"/>
                </a:solidFill>
                <a:latin typeface="Aptos"/>
              </a:rPr>
              <a:t>Evaluate with MAE, RMSE and R²  →  Select the best-performing model based on actual results  →  Save model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6080760" y="3319272"/>
            <a:ext cx="0" cy="457200"/>
          </a:xfrm>
          <a:prstGeom prst="line">
            <a:avLst/>
          </a:prstGeom>
          <a:ln w="21590">
            <a:solidFill>
              <a:srgbClr val="7D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33832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D8287"/>
                </a:solidFill>
                <a:latin typeface="Aptos"/>
              </a:rPr>
              <a:t>trained model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76672"/>
            <a:ext cx="8549640" cy="71323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377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5504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7346"/>
                </a:solidFill>
                <a:latin typeface="Aptos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551383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237"/>
                </a:solidFill>
                <a:latin typeface="Aptos"/>
              </a:rPr>
              <a:t>Growth (%)  •  Estimated Yield (t/ha)  •  Irrigation  •  Fertilizer  •  Crop &amp; Soil Recommendations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D8287"/>
                </a:solidFill>
                <a:latin typeface="Aptos"/>
              </a:rPr>
              <a:t>Simple architecture • Farmer-first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D8287"/>
                </a:solidFill>
                <a:latin typeface="Aptos"/>
              </a:rPr>
              <a:t>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