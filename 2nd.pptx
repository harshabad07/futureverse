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85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79300" cy="6858000"/>
  <p:notesSz cx="12179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AE2418-965A-48BA-9651-EB35C0044018}" v="2" dt="2026-09-11T09:38:05.31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abad" userId="3aa972a0c7c4cf1e" providerId="LiveId" clId="{508C3893-B0B4-4B4D-BF3B-FF24F6F57962}"/>
    <pc:docChg chg="addSld delSld modSld sldOrd">
      <pc:chgData name="harsh abad" userId="3aa972a0c7c4cf1e" providerId="LiveId" clId="{508C3893-B0B4-4B4D-BF3B-FF24F6F57962}" dt="2026-09-11T09:38:06.862" v="11"/>
      <pc:docMkLst>
        <pc:docMk/>
      </pc:docMkLst>
      <pc:sldChg chg="addSp delSp modSp mod ord">
        <pc:chgData name="harsh abad" userId="3aa972a0c7c4cf1e" providerId="LiveId" clId="{508C3893-B0B4-4B4D-BF3B-FF24F6F57962}" dt="2026-09-11T09:38:06.862" v="11"/>
        <pc:sldMkLst>
          <pc:docMk/>
          <pc:sldMk cId="0" sldId="256"/>
        </pc:sldMkLst>
        <pc:spChg chg="add del mod">
          <ac:chgData name="harsh abad" userId="3aa972a0c7c4cf1e" providerId="LiveId" clId="{508C3893-B0B4-4B4D-BF3B-FF24F6F57962}" dt="2026-09-11T09:38:06.862" v="11"/>
          <ac:spMkLst>
            <pc:docMk/>
            <pc:sldMk cId="0" sldId="256"/>
            <ac:spMk id="26" creationId="{BBF6585D-35D3-F9A4-631F-01CD275B064B}"/>
          </ac:spMkLst>
        </pc:spChg>
      </pc:sldChg>
      <pc:sldChg chg="ord">
        <pc:chgData name="harsh abad" userId="3aa972a0c7c4cf1e" providerId="LiveId" clId="{508C3893-B0B4-4B4D-BF3B-FF24F6F57962}" dt="2026-09-11T09:37:30.063" v="6"/>
        <pc:sldMkLst>
          <pc:docMk/>
          <pc:sldMk cId="0" sldId="257"/>
        </pc:sldMkLst>
      </pc:sldChg>
      <pc:sldChg chg="new del">
        <pc:chgData name="harsh abad" userId="3aa972a0c7c4cf1e" providerId="LiveId" clId="{508C3893-B0B4-4B4D-BF3B-FF24F6F57962}" dt="2026-09-11T09:37:10.107" v="3" actId="2696"/>
        <pc:sldMkLst>
          <pc:docMk/>
          <pc:sldMk cId="532503395" sldId="263"/>
        </pc:sldMkLst>
      </pc:sldChg>
      <pc:sldChg chg="new del">
        <pc:chgData name="harsh abad" userId="3aa972a0c7c4cf1e" providerId="LiveId" clId="{508C3893-B0B4-4B4D-BF3B-FF24F6F57962}" dt="2026-09-11T09:37:02.377" v="1" actId="2696"/>
        <pc:sldMkLst>
          <pc:docMk/>
          <pc:sldMk cId="2091209706" sldId="263"/>
        </pc:sldMkLst>
      </pc:sldChg>
      <pc:sldChg chg="add">
        <pc:chgData name="harsh abad" userId="3aa972a0c7c4cf1e" providerId="LiveId" clId="{508C3893-B0B4-4B4D-BF3B-FF24F6F57962}" dt="2026-09-11T09:37:24.493" v="4"/>
        <pc:sldMkLst>
          <pc:docMk/>
          <pc:sldMk cId="17253345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78438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899275" y="0"/>
            <a:ext cx="527685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7BADA-54F1-4AB3-8103-0B9B4F90E4B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3838" y="857250"/>
            <a:ext cx="41116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7613" y="3300413"/>
            <a:ext cx="9744075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78438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99275" y="6513513"/>
            <a:ext cx="527685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42BE8-1914-4F16-AAEF-0FBC4983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50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950A-3801-23B8-1CE0-2C2B2DF7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CCECE-247F-F8D4-8A0F-3859DB071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6C874-6BF4-0A40-F31F-E13A1B2BF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D21B3-F878-2C63-7C66-F961DC6A5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113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447" y="2125980"/>
            <a:ext cx="1035240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423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22783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423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22783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423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2339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423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12179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7999"/>
                </a:lnTo>
                <a:close/>
              </a:path>
            </a:pathLst>
          </a:custGeom>
          <a:solidFill>
            <a:srgbClr val="F4F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0850" y="342410"/>
            <a:ext cx="11369995" cy="96138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57200" y="365759"/>
            <a:ext cx="11277600" cy="868680"/>
          </a:xfrm>
          <a:custGeom>
            <a:avLst/>
            <a:gdLst/>
            <a:ahLst/>
            <a:cxnLst/>
            <a:rect l="l" t="t" r="r" b="b"/>
            <a:pathLst>
              <a:path w="11277600" h="868680">
                <a:moveTo>
                  <a:pt x="11277294" y="868679"/>
                </a:moveTo>
                <a:lnTo>
                  <a:pt x="0" y="868679"/>
                </a:lnTo>
                <a:lnTo>
                  <a:pt x="0" y="0"/>
                </a:lnTo>
                <a:lnTo>
                  <a:pt x="11277294" y="0"/>
                </a:lnTo>
                <a:lnTo>
                  <a:pt x="11277294" y="8686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57200" y="365759"/>
            <a:ext cx="11277600" cy="868680"/>
          </a:xfrm>
          <a:custGeom>
            <a:avLst/>
            <a:gdLst/>
            <a:ahLst/>
            <a:cxnLst/>
            <a:rect l="l" t="t" r="r" b="b"/>
            <a:pathLst>
              <a:path w="11277600" h="868680">
                <a:moveTo>
                  <a:pt x="0" y="0"/>
                </a:moveTo>
                <a:lnTo>
                  <a:pt x="11277294" y="0"/>
                </a:lnTo>
                <a:lnTo>
                  <a:pt x="11277294" y="868679"/>
                </a:lnTo>
                <a:lnTo>
                  <a:pt x="0" y="86867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D7DE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7200" y="348760"/>
            <a:ext cx="189728" cy="94868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457200" y="365759"/>
            <a:ext cx="109855" cy="868680"/>
          </a:xfrm>
          <a:custGeom>
            <a:avLst/>
            <a:gdLst/>
            <a:ahLst/>
            <a:cxnLst/>
            <a:rect l="l" t="t" r="r" b="b"/>
            <a:pathLst>
              <a:path w="109854" h="868680">
                <a:moveTo>
                  <a:pt x="109727" y="868679"/>
                </a:moveTo>
                <a:lnTo>
                  <a:pt x="0" y="868679"/>
                </a:lnTo>
                <a:lnTo>
                  <a:pt x="0" y="0"/>
                </a:lnTo>
                <a:lnTo>
                  <a:pt x="109727" y="0"/>
                </a:lnTo>
                <a:lnTo>
                  <a:pt x="109727" y="868679"/>
                </a:lnTo>
                <a:close/>
              </a:path>
            </a:pathLst>
          </a:custGeom>
          <a:solidFill>
            <a:srgbClr val="2278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100" y="484493"/>
            <a:ext cx="6146800" cy="582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423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15532" y="2266188"/>
            <a:ext cx="4911090" cy="148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22783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2BAF1-C041-2EB4-3281-B903411B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5C7A9B4-7CEC-A17C-8FD8-B888C438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97"/>
          <a:stretch>
            <a:fillRect/>
          </a:stretch>
        </p:blipFill>
        <p:spPr>
          <a:xfrm>
            <a:off x="1" y="697179"/>
            <a:ext cx="12172691" cy="273182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DC0E9B2-0A05-49CE-F896-07C94288C2F2}"/>
              </a:ext>
            </a:extLst>
          </p:cNvPr>
          <p:cNvGrpSpPr/>
          <p:nvPr/>
        </p:nvGrpSpPr>
        <p:grpSpPr>
          <a:xfrm>
            <a:off x="1" y="3540"/>
            <a:ext cx="12179300" cy="712499"/>
            <a:chOff x="-324644" y="2222500"/>
            <a:chExt cx="22261685" cy="1302327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772E3824-A8BD-0246-524E-0F05B4E14847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7BB3B7A-5F3D-4158-8B95-75CBCB9BB89A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694CD4D4-1E51-1878-6A89-47B9A558853B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5E439E67-4596-092B-70B3-59250CB0068D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A7A8640-F303-B061-AC9A-62D09966ACCF}"/>
              </a:ext>
            </a:extLst>
          </p:cNvPr>
          <p:cNvSpPr txBox="1"/>
          <p:nvPr/>
        </p:nvSpPr>
        <p:spPr>
          <a:xfrm>
            <a:off x="-118879" y="114670"/>
            <a:ext cx="4560904" cy="687632"/>
          </a:xfrm>
          <a:prstGeom prst="rect">
            <a:avLst/>
          </a:prstGeom>
          <a:noFill/>
        </p:spPr>
        <p:txBody>
          <a:bodyPr vert="horz" wrap="square" lIns="0" tIns="56142" rIns="0" bIns="0" rtlCol="0">
            <a:spAutoFit/>
          </a:bodyPr>
          <a:lstStyle/>
          <a:p>
            <a:pPr marL="260380">
              <a:spcBef>
                <a:spcPts val="442"/>
              </a:spcBef>
            </a:pPr>
            <a:r>
              <a:rPr lang="en-GB" sz="2050" spc="-3" dirty="0">
                <a:solidFill>
                  <a:srgbClr val="FFFFFF"/>
                </a:solidFill>
                <a:cs typeface="Source Sans Pro Light"/>
              </a:rPr>
              <a:t>Department of Information Technology </a:t>
            </a:r>
            <a:endParaRPr sz="2050" dirty="0">
              <a:cs typeface="Source Sans Pro Ligh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76575C-25D6-85EF-AC00-95B58D7006AB}"/>
              </a:ext>
            </a:extLst>
          </p:cNvPr>
          <p:cNvSpPr txBox="1"/>
          <p:nvPr/>
        </p:nvSpPr>
        <p:spPr>
          <a:xfrm>
            <a:off x="4378001" y="188506"/>
            <a:ext cx="1784298" cy="323686"/>
          </a:xfrm>
          <a:prstGeom prst="rect">
            <a:avLst/>
          </a:prstGeom>
        </p:spPr>
        <p:txBody>
          <a:bodyPr vert="horz" wrap="square" lIns="0" tIns="8136" rIns="0" bIns="0" rtlCol="0">
            <a:spAutoFit/>
          </a:bodyPr>
          <a:lstStyle/>
          <a:p>
            <a:pPr marL="8137">
              <a:spcBef>
                <a:spcPts val="64"/>
              </a:spcBef>
            </a:pPr>
            <a:r>
              <a:rPr lang="en-GB" sz="2050" spc="-10" dirty="0">
                <a:solidFill>
                  <a:srgbClr val="FFFFFF"/>
                </a:solidFill>
                <a:cs typeface="Source Sans Pro Light"/>
              </a:rPr>
              <a:t>WIT, Solapur</a:t>
            </a:r>
            <a:endParaRPr sz="2050" dirty="0">
              <a:cs typeface="Source Sans Pro Light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07D93BB-71BD-74F2-C5CE-CDC00483B481}"/>
              </a:ext>
            </a:extLst>
          </p:cNvPr>
          <p:cNvSpPr txBox="1"/>
          <p:nvPr/>
        </p:nvSpPr>
        <p:spPr>
          <a:xfrm>
            <a:off x="1177795" y="3730486"/>
            <a:ext cx="10609340" cy="639157"/>
          </a:xfrm>
          <a:prstGeom prst="rect">
            <a:avLst/>
          </a:prstGeom>
        </p:spPr>
        <p:txBody>
          <a:bodyPr vert="horz" wrap="square" lIns="0" tIns="8136" rIns="0" bIns="0" rtlCol="0">
            <a:spAutoFit/>
          </a:bodyPr>
          <a:lstStyle/>
          <a:p>
            <a:pPr marL="783583" marR="3255" indent="-775852" algn="ctr">
              <a:spcBef>
                <a:spcPts val="64"/>
              </a:spcBef>
            </a:pPr>
            <a:r>
              <a:rPr lang="en-GB" sz="4100" spc="-3" dirty="0">
                <a:solidFill>
                  <a:srgbClr val="00318B"/>
                </a:solidFill>
                <a:cs typeface="Source Sans Pro"/>
              </a:rPr>
              <a:t>PROJECT SYNOPSIS PRESENTATION</a:t>
            </a:r>
            <a:endParaRPr lang="cs-CZ" sz="4613" dirty="0">
              <a:cs typeface="Source Sans Pr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4A2324-B93F-5633-304B-2787AB89C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4971" y="-14911"/>
            <a:ext cx="784330" cy="730951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3CA62C-0E64-278E-5BA7-7D48AB115D14}"/>
              </a:ext>
            </a:extLst>
          </p:cNvPr>
          <p:cNvGraphicFramePr>
            <a:graphicFrameLocks noGrp="1"/>
          </p:cNvGraphicFramePr>
          <p:nvPr/>
        </p:nvGraphicFramePr>
        <p:xfrm>
          <a:off x="4198188" y="5608635"/>
          <a:ext cx="4238889" cy="2414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45329">
                  <a:extLst>
                    <a:ext uri="{9D8B030D-6E8A-4147-A177-3AD203B41FA5}">
                      <a16:colId xmlns:a16="http://schemas.microsoft.com/office/drawing/2014/main" val="3433815265"/>
                    </a:ext>
                  </a:extLst>
                </a:gridCol>
                <a:gridCol w="2393560">
                  <a:extLst>
                    <a:ext uri="{9D8B030D-6E8A-4147-A177-3AD203B41FA5}">
                      <a16:colId xmlns:a16="http://schemas.microsoft.com/office/drawing/2014/main" val="3971670629"/>
                    </a:ext>
                  </a:extLst>
                </a:gridCol>
              </a:tblGrid>
              <a:tr h="237585"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GROUP NO: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58583" marR="58583" marT="29291" marB="29291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A18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marL="58583" marR="58583" marT="29291" marB="29291"/>
                </a:tc>
                <a:extLst>
                  <a:ext uri="{0D108BD9-81ED-4DB2-BD59-A6C34878D82A}">
                    <a16:rowId xmlns:a16="http://schemas.microsoft.com/office/drawing/2014/main" val="2755154563"/>
                  </a:ext>
                </a:extLst>
              </a:tr>
            </a:tbl>
          </a:graphicData>
        </a:graphic>
      </p:graphicFrame>
      <p:sp>
        <p:nvSpPr>
          <p:cNvPr id="25" name="object 18">
            <a:extLst>
              <a:ext uri="{FF2B5EF4-FFF2-40B4-BE49-F238E27FC236}">
                <a16:creationId xmlns:a16="http://schemas.microsoft.com/office/drawing/2014/main" id="{20B13B07-2F03-9B19-896C-E268821E4A94}"/>
              </a:ext>
            </a:extLst>
          </p:cNvPr>
          <p:cNvSpPr txBox="1"/>
          <p:nvPr/>
        </p:nvSpPr>
        <p:spPr>
          <a:xfrm>
            <a:off x="802461" y="5992647"/>
            <a:ext cx="10609340" cy="323686"/>
          </a:xfrm>
          <a:prstGeom prst="rect">
            <a:avLst/>
          </a:prstGeom>
        </p:spPr>
        <p:txBody>
          <a:bodyPr vert="horz" wrap="square" lIns="0" tIns="8136" rIns="0" bIns="0" rtlCol="0">
            <a:spAutoFit/>
          </a:bodyPr>
          <a:lstStyle/>
          <a:p>
            <a:pPr marL="783583" marR="3255" indent="-775852" algn="ctr">
              <a:spcBef>
                <a:spcPts val="64"/>
              </a:spcBef>
            </a:pPr>
            <a:r>
              <a:rPr lang="en-GB" sz="2050" spc="-3" dirty="0">
                <a:solidFill>
                  <a:srgbClr val="C00000"/>
                </a:solidFill>
                <a:cs typeface="Source Sans Pro"/>
              </a:rPr>
              <a:t>GUIDE : Ms. V. V. Manglaram</a:t>
            </a:r>
            <a:endParaRPr lang="cs-CZ" sz="2563" dirty="0">
              <a:solidFill>
                <a:srgbClr val="C00000"/>
              </a:solidFill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253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366267"/>
            <a:ext cx="7759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SLIDE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1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OF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spc="-50" dirty="0">
                <a:solidFill>
                  <a:srgbClr val="22783E"/>
                </a:solidFill>
                <a:latin typeface="Trebuchet MS"/>
                <a:cs typeface="Trebuchet MS"/>
              </a:rPr>
              <a:t>7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100" y="484493"/>
            <a:ext cx="5368290" cy="5829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Slide</a:t>
            </a:r>
            <a:r>
              <a:rPr spc="-55" dirty="0"/>
              <a:t> </a:t>
            </a:r>
            <a:r>
              <a:rPr dirty="0"/>
              <a:t>1</a:t>
            </a:r>
            <a:r>
              <a:rPr spc="-5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Project</a:t>
            </a:r>
            <a:r>
              <a:rPr spc="-50" dirty="0"/>
              <a:t> </a:t>
            </a:r>
            <a:r>
              <a:rPr spc="-10" dirty="0"/>
              <a:t>Overview</a:t>
            </a: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FutureVerse:</a:t>
            </a:r>
            <a:r>
              <a:rPr sz="1100" b="0" spc="-3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ML-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Based</a:t>
            </a:r>
            <a:r>
              <a:rPr sz="1100" b="0" spc="-3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Sugarcane</a:t>
            </a:r>
            <a:r>
              <a:rPr sz="1100" b="0" spc="-2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Growth</a:t>
            </a:r>
            <a:r>
              <a:rPr sz="1100" b="0" spc="-3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Prediction</a:t>
            </a:r>
            <a:r>
              <a:rPr sz="1100" b="0" spc="-3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&amp;</a:t>
            </a:r>
            <a:r>
              <a:rPr sz="1100" b="0" spc="-2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Intelligent</a:t>
            </a:r>
            <a:r>
              <a:rPr sz="1100" b="0" spc="-3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Farming</a:t>
            </a:r>
            <a:r>
              <a:rPr sz="1100" b="0" spc="-3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Recommendations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200" y="1336312"/>
            <a:ext cx="11357295" cy="765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7200" y="1353311"/>
            <a:ext cx="11277600" cy="685800"/>
          </a:xfrm>
          <a:prstGeom prst="rect">
            <a:avLst/>
          </a:prstGeom>
          <a:solidFill>
            <a:srgbClr val="14233C"/>
          </a:solidFill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endParaRPr sz="1100">
              <a:latin typeface="Times New Roman"/>
              <a:cs typeface="Times New Roman"/>
            </a:endParaRPr>
          </a:p>
          <a:p>
            <a:pPr marL="1045844">
              <a:lnSpc>
                <a:spcPct val="100000"/>
              </a:lnSpc>
            </a:pPr>
            <a:r>
              <a:rPr sz="1100" b="1" spc="-10" dirty="0">
                <a:solidFill>
                  <a:srgbClr val="FFFFFF"/>
                </a:solidFill>
                <a:latin typeface="Trebuchet MS"/>
                <a:cs typeface="Trebuchet MS"/>
              </a:rPr>
              <a:t>Department</a:t>
            </a:r>
            <a:r>
              <a:rPr sz="11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1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rebuchet MS"/>
                <a:cs typeface="Trebuchet MS"/>
              </a:rPr>
              <a:t>Information</a:t>
            </a:r>
            <a:r>
              <a:rPr sz="11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rebuchet MS"/>
                <a:cs typeface="Trebuchet MS"/>
              </a:rPr>
              <a:t>Technology,</a:t>
            </a:r>
            <a:r>
              <a:rPr sz="11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rebuchet MS"/>
                <a:cs typeface="Trebuchet MS"/>
              </a:rPr>
              <a:t>Walchand</a:t>
            </a:r>
            <a:r>
              <a:rPr sz="11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rebuchet MS"/>
                <a:cs typeface="Trebuchet MS"/>
              </a:rPr>
              <a:t>Institute</a:t>
            </a:r>
            <a:r>
              <a:rPr sz="11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1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rebuchet MS"/>
                <a:cs typeface="Trebuchet MS"/>
              </a:rPr>
              <a:t>Technology,</a:t>
            </a:r>
            <a:r>
              <a:rPr sz="11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rebuchet MS"/>
                <a:cs typeface="Trebuchet MS"/>
              </a:rPr>
              <a:t>Solapur</a:t>
            </a:r>
            <a:r>
              <a:rPr sz="11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rebuchet MS"/>
                <a:cs typeface="Trebuchet MS"/>
              </a:rPr>
              <a:t>|</a:t>
            </a:r>
            <a:r>
              <a:rPr sz="11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rebuchet MS"/>
                <a:cs typeface="Trebuchet MS"/>
              </a:rPr>
              <a:t>Final</a:t>
            </a:r>
            <a:r>
              <a:rPr sz="11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rebuchet MS"/>
                <a:cs typeface="Trebuchet MS"/>
              </a:rPr>
              <a:t>Year</a:t>
            </a:r>
            <a:r>
              <a:rPr sz="11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rebuchet MS"/>
                <a:cs typeface="Trebuchet MS"/>
              </a:rPr>
              <a:t>B.Tech</a:t>
            </a:r>
            <a:r>
              <a:rPr sz="11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r>
              <a:rPr sz="11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rebuchet MS"/>
                <a:cs typeface="Trebuchet MS"/>
              </a:rPr>
              <a:t>Design</a:t>
            </a:r>
            <a:r>
              <a:rPr sz="11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rebuchet MS"/>
                <a:cs typeface="Trebuchet MS"/>
              </a:rPr>
              <a:t>Presentation</a:t>
            </a:r>
            <a:r>
              <a:rPr sz="11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Trebuchet MS"/>
                <a:cs typeface="Trebuchet MS"/>
              </a:rPr>
              <a:t>(2026-</a:t>
            </a:r>
            <a:r>
              <a:rPr sz="1100" b="1" spc="-25" dirty="0">
                <a:solidFill>
                  <a:srgbClr val="FFFFFF"/>
                </a:solidFill>
                <a:latin typeface="Trebuchet MS"/>
                <a:cs typeface="Trebuchet MS"/>
              </a:rPr>
              <a:t>27)</a:t>
            </a:r>
            <a:endParaRPr sz="1100">
              <a:latin typeface="Trebuchet MS"/>
              <a:cs typeface="Trebuchet MS"/>
            </a:endParaRPr>
          </a:p>
          <a:p>
            <a:pPr marL="180975">
              <a:lnSpc>
                <a:spcPct val="100000"/>
              </a:lnSpc>
            </a:pP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Team</a:t>
            </a:r>
            <a:r>
              <a:rPr sz="1100" spc="-30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Members:</a:t>
            </a:r>
            <a:r>
              <a:rPr sz="1100" spc="-25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Abhishek</a:t>
            </a:r>
            <a:r>
              <a:rPr sz="1100" spc="-25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Danole</a:t>
            </a:r>
            <a:r>
              <a:rPr sz="1100" spc="-30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CEBF4"/>
                </a:solidFill>
                <a:latin typeface="Calibri"/>
                <a:cs typeface="Calibri"/>
              </a:rPr>
              <a:t>(A-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21),</a:t>
            </a:r>
            <a:r>
              <a:rPr sz="1100" spc="-25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Harsh</a:t>
            </a:r>
            <a:r>
              <a:rPr sz="1100" spc="-25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Abad</a:t>
            </a:r>
            <a:r>
              <a:rPr sz="1100" spc="-30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CEBF4"/>
                </a:solidFill>
                <a:latin typeface="Calibri"/>
                <a:cs typeface="Calibri"/>
              </a:rPr>
              <a:t>(A-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01),</a:t>
            </a:r>
            <a:r>
              <a:rPr sz="1100" spc="-25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Paras</a:t>
            </a:r>
            <a:r>
              <a:rPr sz="1100" spc="-25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Danole</a:t>
            </a:r>
            <a:r>
              <a:rPr sz="1100" spc="-30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CEBF4"/>
                </a:solidFill>
                <a:latin typeface="Calibri"/>
                <a:cs typeface="Calibri"/>
              </a:rPr>
              <a:t>(A-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22)</a:t>
            </a:r>
            <a:r>
              <a:rPr sz="1100" spc="430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|</a:t>
            </a:r>
            <a:r>
              <a:rPr sz="1100" spc="430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Project</a:t>
            </a:r>
            <a:r>
              <a:rPr sz="1100" spc="-30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Guide:</a:t>
            </a:r>
            <a:r>
              <a:rPr sz="1100" spc="-25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Ms.</a:t>
            </a:r>
            <a:r>
              <a:rPr sz="1100" spc="-25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V.V.</a:t>
            </a:r>
            <a:r>
              <a:rPr sz="1100" spc="-30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Manglaram,</a:t>
            </a:r>
            <a:r>
              <a:rPr sz="1100" spc="-25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CEBF4"/>
                </a:solidFill>
                <a:latin typeface="Calibri"/>
                <a:cs typeface="Calibri"/>
              </a:rPr>
              <a:t>Assistant</a:t>
            </a:r>
            <a:r>
              <a:rPr sz="1100" spc="-25" dirty="0">
                <a:solidFill>
                  <a:srgbClr val="DCEBF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CEBF4"/>
                </a:solidFill>
                <a:latin typeface="Calibri"/>
                <a:cs typeface="Calibri"/>
              </a:rPr>
              <a:t>Professor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0850" y="2152922"/>
            <a:ext cx="5533390" cy="2150110"/>
            <a:chOff x="410850" y="2152922"/>
            <a:chExt cx="5533390" cy="21501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850" y="2152922"/>
              <a:ext cx="5533380" cy="21501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7200" y="2176271"/>
              <a:ext cx="5440680" cy="2057400"/>
            </a:xfrm>
            <a:custGeom>
              <a:avLst/>
              <a:gdLst/>
              <a:ahLst/>
              <a:cxnLst/>
              <a:rect l="l" t="t" r="r" b="b"/>
              <a:pathLst>
                <a:path w="5440680" h="2057400">
                  <a:moveTo>
                    <a:pt x="5097772" y="2057399"/>
                  </a:moveTo>
                  <a:lnTo>
                    <a:pt x="342906" y="2057399"/>
                  </a:lnTo>
                  <a:lnTo>
                    <a:pt x="296376" y="2054269"/>
                  </a:lnTo>
                  <a:lnTo>
                    <a:pt x="251748" y="2045151"/>
                  </a:lnTo>
                  <a:lnTo>
                    <a:pt x="209432" y="2030452"/>
                  </a:lnTo>
                  <a:lnTo>
                    <a:pt x="169835" y="2010583"/>
                  </a:lnTo>
                  <a:lnTo>
                    <a:pt x="133366" y="1985951"/>
                  </a:lnTo>
                  <a:lnTo>
                    <a:pt x="100435" y="1956964"/>
                  </a:lnTo>
                  <a:lnTo>
                    <a:pt x="71448" y="1924033"/>
                  </a:lnTo>
                  <a:lnTo>
                    <a:pt x="46816" y="1887564"/>
                  </a:lnTo>
                  <a:lnTo>
                    <a:pt x="26947" y="1847967"/>
                  </a:lnTo>
                  <a:lnTo>
                    <a:pt x="12248" y="1805651"/>
                  </a:lnTo>
                  <a:lnTo>
                    <a:pt x="3130" y="1761023"/>
                  </a:lnTo>
                  <a:lnTo>
                    <a:pt x="0" y="1714493"/>
                  </a:lnTo>
                  <a:lnTo>
                    <a:pt x="0" y="342906"/>
                  </a:lnTo>
                  <a:lnTo>
                    <a:pt x="3130" y="296376"/>
                  </a:lnTo>
                  <a:lnTo>
                    <a:pt x="12248" y="251748"/>
                  </a:lnTo>
                  <a:lnTo>
                    <a:pt x="26947" y="209432"/>
                  </a:lnTo>
                  <a:lnTo>
                    <a:pt x="46816" y="169835"/>
                  </a:lnTo>
                  <a:lnTo>
                    <a:pt x="71448" y="133366"/>
                  </a:lnTo>
                  <a:lnTo>
                    <a:pt x="100435" y="100435"/>
                  </a:lnTo>
                  <a:lnTo>
                    <a:pt x="133366" y="71448"/>
                  </a:lnTo>
                  <a:lnTo>
                    <a:pt x="169835" y="46816"/>
                  </a:lnTo>
                  <a:lnTo>
                    <a:pt x="209432" y="26947"/>
                  </a:lnTo>
                  <a:lnTo>
                    <a:pt x="251748" y="12248"/>
                  </a:lnTo>
                  <a:lnTo>
                    <a:pt x="296376" y="3130"/>
                  </a:lnTo>
                  <a:lnTo>
                    <a:pt x="342906" y="0"/>
                  </a:lnTo>
                  <a:lnTo>
                    <a:pt x="5097772" y="0"/>
                  </a:lnTo>
                  <a:lnTo>
                    <a:pt x="5151739" y="4271"/>
                  </a:lnTo>
                  <a:lnTo>
                    <a:pt x="5203890" y="16832"/>
                  </a:lnTo>
                  <a:lnTo>
                    <a:pt x="5253306" y="37301"/>
                  </a:lnTo>
                  <a:lnTo>
                    <a:pt x="5299064" y="65295"/>
                  </a:lnTo>
                  <a:lnTo>
                    <a:pt x="5340244" y="100434"/>
                  </a:lnTo>
                  <a:lnTo>
                    <a:pt x="5375384" y="141615"/>
                  </a:lnTo>
                  <a:lnTo>
                    <a:pt x="5403378" y="187373"/>
                  </a:lnTo>
                  <a:lnTo>
                    <a:pt x="5423847" y="236789"/>
                  </a:lnTo>
                  <a:lnTo>
                    <a:pt x="5436408" y="288940"/>
                  </a:lnTo>
                  <a:lnTo>
                    <a:pt x="5440679" y="342906"/>
                  </a:lnTo>
                  <a:lnTo>
                    <a:pt x="5440679" y="1714493"/>
                  </a:lnTo>
                  <a:lnTo>
                    <a:pt x="5437549" y="1761023"/>
                  </a:lnTo>
                  <a:lnTo>
                    <a:pt x="5428431" y="1805651"/>
                  </a:lnTo>
                  <a:lnTo>
                    <a:pt x="5413732" y="1847967"/>
                  </a:lnTo>
                  <a:lnTo>
                    <a:pt x="5393863" y="1887564"/>
                  </a:lnTo>
                  <a:lnTo>
                    <a:pt x="5369231" y="1924033"/>
                  </a:lnTo>
                  <a:lnTo>
                    <a:pt x="5340244" y="1956964"/>
                  </a:lnTo>
                  <a:lnTo>
                    <a:pt x="5307313" y="1985951"/>
                  </a:lnTo>
                  <a:lnTo>
                    <a:pt x="5270844" y="2010583"/>
                  </a:lnTo>
                  <a:lnTo>
                    <a:pt x="5231247" y="2030452"/>
                  </a:lnTo>
                  <a:lnTo>
                    <a:pt x="5188931" y="2045151"/>
                  </a:lnTo>
                  <a:lnTo>
                    <a:pt x="5144303" y="2054269"/>
                  </a:lnTo>
                  <a:lnTo>
                    <a:pt x="5097772" y="205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2176271"/>
              <a:ext cx="5440680" cy="2057400"/>
            </a:xfrm>
            <a:custGeom>
              <a:avLst/>
              <a:gdLst/>
              <a:ahLst/>
              <a:cxnLst/>
              <a:rect l="l" t="t" r="r" b="b"/>
              <a:pathLst>
                <a:path w="5440680" h="2057400">
                  <a:moveTo>
                    <a:pt x="0" y="342906"/>
                  </a:moveTo>
                  <a:lnTo>
                    <a:pt x="3130" y="296376"/>
                  </a:lnTo>
                  <a:lnTo>
                    <a:pt x="12248" y="251748"/>
                  </a:lnTo>
                  <a:lnTo>
                    <a:pt x="26947" y="209432"/>
                  </a:lnTo>
                  <a:lnTo>
                    <a:pt x="46816" y="169835"/>
                  </a:lnTo>
                  <a:lnTo>
                    <a:pt x="71448" y="133366"/>
                  </a:lnTo>
                  <a:lnTo>
                    <a:pt x="100435" y="100435"/>
                  </a:lnTo>
                  <a:lnTo>
                    <a:pt x="133366" y="71448"/>
                  </a:lnTo>
                  <a:lnTo>
                    <a:pt x="169835" y="46816"/>
                  </a:lnTo>
                  <a:lnTo>
                    <a:pt x="209432" y="26947"/>
                  </a:lnTo>
                  <a:lnTo>
                    <a:pt x="251748" y="12248"/>
                  </a:lnTo>
                  <a:lnTo>
                    <a:pt x="296376" y="3130"/>
                  </a:lnTo>
                  <a:lnTo>
                    <a:pt x="342906" y="0"/>
                  </a:lnTo>
                  <a:lnTo>
                    <a:pt x="5097772" y="0"/>
                  </a:lnTo>
                  <a:lnTo>
                    <a:pt x="5151739" y="4271"/>
                  </a:lnTo>
                  <a:lnTo>
                    <a:pt x="5203890" y="16832"/>
                  </a:lnTo>
                  <a:lnTo>
                    <a:pt x="5253306" y="37301"/>
                  </a:lnTo>
                  <a:lnTo>
                    <a:pt x="5299064" y="65295"/>
                  </a:lnTo>
                  <a:lnTo>
                    <a:pt x="5340244" y="100434"/>
                  </a:lnTo>
                  <a:lnTo>
                    <a:pt x="5375384" y="141615"/>
                  </a:lnTo>
                  <a:lnTo>
                    <a:pt x="5403378" y="187373"/>
                  </a:lnTo>
                  <a:lnTo>
                    <a:pt x="5423847" y="236789"/>
                  </a:lnTo>
                  <a:lnTo>
                    <a:pt x="5436408" y="288940"/>
                  </a:lnTo>
                  <a:lnTo>
                    <a:pt x="5440679" y="342906"/>
                  </a:lnTo>
                  <a:lnTo>
                    <a:pt x="5440679" y="1714493"/>
                  </a:lnTo>
                  <a:lnTo>
                    <a:pt x="5437549" y="1761023"/>
                  </a:lnTo>
                  <a:lnTo>
                    <a:pt x="5428431" y="1805651"/>
                  </a:lnTo>
                  <a:lnTo>
                    <a:pt x="5413732" y="1847967"/>
                  </a:lnTo>
                  <a:lnTo>
                    <a:pt x="5393863" y="1887564"/>
                  </a:lnTo>
                  <a:lnTo>
                    <a:pt x="5369231" y="1924033"/>
                  </a:lnTo>
                  <a:lnTo>
                    <a:pt x="5340244" y="1956964"/>
                  </a:lnTo>
                  <a:lnTo>
                    <a:pt x="5307313" y="1985951"/>
                  </a:lnTo>
                  <a:lnTo>
                    <a:pt x="5270844" y="2010583"/>
                  </a:lnTo>
                  <a:lnTo>
                    <a:pt x="5231247" y="2030452"/>
                  </a:lnTo>
                  <a:lnTo>
                    <a:pt x="5188931" y="2045151"/>
                  </a:lnTo>
                  <a:lnTo>
                    <a:pt x="5144303" y="2054269"/>
                  </a:lnTo>
                  <a:lnTo>
                    <a:pt x="5097772" y="2057399"/>
                  </a:lnTo>
                  <a:lnTo>
                    <a:pt x="342906" y="2057399"/>
                  </a:lnTo>
                  <a:lnTo>
                    <a:pt x="296376" y="2054269"/>
                  </a:lnTo>
                  <a:lnTo>
                    <a:pt x="251748" y="2045151"/>
                  </a:lnTo>
                  <a:lnTo>
                    <a:pt x="209432" y="2030452"/>
                  </a:lnTo>
                  <a:lnTo>
                    <a:pt x="169835" y="2010583"/>
                  </a:lnTo>
                  <a:lnTo>
                    <a:pt x="133366" y="1985951"/>
                  </a:lnTo>
                  <a:lnTo>
                    <a:pt x="100435" y="1956964"/>
                  </a:lnTo>
                  <a:lnTo>
                    <a:pt x="71448" y="1924033"/>
                  </a:lnTo>
                  <a:lnTo>
                    <a:pt x="46816" y="1887564"/>
                  </a:lnTo>
                  <a:lnTo>
                    <a:pt x="26947" y="1847967"/>
                  </a:lnTo>
                  <a:lnTo>
                    <a:pt x="12248" y="1805651"/>
                  </a:lnTo>
                  <a:lnTo>
                    <a:pt x="3130" y="1761023"/>
                  </a:lnTo>
                  <a:lnTo>
                    <a:pt x="0" y="1714493"/>
                  </a:lnTo>
                  <a:lnTo>
                    <a:pt x="0" y="342906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1660" y="2266188"/>
            <a:ext cx="4843780" cy="1482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75F2D"/>
                </a:solidFill>
                <a:latin typeface="Trebuchet MS"/>
                <a:cs typeface="Trebuchet MS"/>
              </a:rPr>
              <a:t>Problem</a:t>
            </a:r>
            <a:r>
              <a:rPr sz="1400" b="1" spc="-3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75F2D"/>
                </a:solidFill>
                <a:latin typeface="Trebuchet MS"/>
                <a:cs typeface="Trebuchet MS"/>
              </a:rPr>
              <a:t>Statement</a:t>
            </a:r>
            <a:endParaRPr sz="1400">
              <a:latin typeface="Trebuchet MS"/>
              <a:cs typeface="Trebuchet MS"/>
            </a:endParaRPr>
          </a:p>
          <a:p>
            <a:pPr marL="58419" marR="333375" indent="100330">
              <a:lnSpc>
                <a:spcPct val="100000"/>
              </a:lnSpc>
              <a:spcBef>
                <a:spcPts val="1065"/>
              </a:spcBef>
              <a:buChar char="•"/>
              <a:tabLst>
                <a:tab pos="158750" algn="l"/>
              </a:tabLst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Traditional</a:t>
            </a:r>
            <a:r>
              <a:rPr sz="1100" spc="-5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sugarcane</a:t>
            </a:r>
            <a:r>
              <a:rPr sz="11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farming</a:t>
            </a:r>
            <a:r>
              <a:rPr sz="11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relies</a:t>
            </a:r>
            <a:r>
              <a:rPr sz="11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on</a:t>
            </a:r>
            <a:r>
              <a:rPr sz="11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personal</a:t>
            </a:r>
            <a:r>
              <a:rPr sz="11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intuition,</a:t>
            </a:r>
            <a:r>
              <a:rPr sz="11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causing</a:t>
            </a:r>
            <a:r>
              <a:rPr sz="11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inefficient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resource</a:t>
            </a:r>
            <a:r>
              <a:rPr sz="11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usage.</a:t>
            </a:r>
            <a:endParaRPr sz="1100">
              <a:latin typeface="Calibri"/>
              <a:cs typeface="Calibri"/>
            </a:endParaRPr>
          </a:p>
          <a:p>
            <a:pPr marL="58419" marR="5080" indent="100330">
              <a:lnSpc>
                <a:spcPct val="100000"/>
              </a:lnSpc>
              <a:spcBef>
                <a:spcPts val="400"/>
              </a:spcBef>
              <a:buChar char="•"/>
              <a:tabLst>
                <a:tab pos="158750" algn="l"/>
              </a:tabLst>
            </a:pP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Over/under-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application</a:t>
            </a:r>
            <a:r>
              <a:rPr sz="11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of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water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fertilizers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harms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health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reduces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crop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yields.</a:t>
            </a:r>
            <a:endParaRPr sz="1100">
              <a:latin typeface="Calibri"/>
              <a:cs typeface="Calibri"/>
            </a:endParaRPr>
          </a:p>
          <a:p>
            <a:pPr marL="58419" marR="182880" indent="100330">
              <a:lnSpc>
                <a:spcPct val="100000"/>
              </a:lnSpc>
              <a:spcBef>
                <a:spcPts val="400"/>
              </a:spcBef>
              <a:buChar char="•"/>
              <a:tabLst>
                <a:tab pos="158750" algn="l"/>
              </a:tabLst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Existing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ML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tools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focus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narrowly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on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yield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prediction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without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actionable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farming decisions.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44722" y="2152922"/>
            <a:ext cx="5533390" cy="2150110"/>
            <a:chOff x="6244722" y="2152922"/>
            <a:chExt cx="5533390" cy="215011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4722" y="2152922"/>
              <a:ext cx="5533380" cy="21501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291072" y="2176271"/>
              <a:ext cx="5440680" cy="2057400"/>
            </a:xfrm>
            <a:custGeom>
              <a:avLst/>
              <a:gdLst/>
              <a:ahLst/>
              <a:cxnLst/>
              <a:rect l="l" t="t" r="r" b="b"/>
              <a:pathLst>
                <a:path w="5440680" h="2057400">
                  <a:moveTo>
                    <a:pt x="5097772" y="2057399"/>
                  </a:moveTo>
                  <a:lnTo>
                    <a:pt x="342906" y="2057399"/>
                  </a:lnTo>
                  <a:lnTo>
                    <a:pt x="296376" y="2054269"/>
                  </a:lnTo>
                  <a:lnTo>
                    <a:pt x="251748" y="2045151"/>
                  </a:lnTo>
                  <a:lnTo>
                    <a:pt x="209432" y="2030452"/>
                  </a:lnTo>
                  <a:lnTo>
                    <a:pt x="169835" y="2010583"/>
                  </a:lnTo>
                  <a:lnTo>
                    <a:pt x="133366" y="1985951"/>
                  </a:lnTo>
                  <a:lnTo>
                    <a:pt x="100435" y="1956964"/>
                  </a:lnTo>
                  <a:lnTo>
                    <a:pt x="71448" y="1924033"/>
                  </a:lnTo>
                  <a:lnTo>
                    <a:pt x="46816" y="1887564"/>
                  </a:lnTo>
                  <a:lnTo>
                    <a:pt x="26947" y="1847967"/>
                  </a:lnTo>
                  <a:lnTo>
                    <a:pt x="12248" y="1805651"/>
                  </a:lnTo>
                  <a:lnTo>
                    <a:pt x="3130" y="1761023"/>
                  </a:lnTo>
                  <a:lnTo>
                    <a:pt x="0" y="1714493"/>
                  </a:lnTo>
                  <a:lnTo>
                    <a:pt x="0" y="342906"/>
                  </a:lnTo>
                  <a:lnTo>
                    <a:pt x="3130" y="296376"/>
                  </a:lnTo>
                  <a:lnTo>
                    <a:pt x="12248" y="251748"/>
                  </a:lnTo>
                  <a:lnTo>
                    <a:pt x="26947" y="209432"/>
                  </a:lnTo>
                  <a:lnTo>
                    <a:pt x="46816" y="169835"/>
                  </a:lnTo>
                  <a:lnTo>
                    <a:pt x="71448" y="133366"/>
                  </a:lnTo>
                  <a:lnTo>
                    <a:pt x="100435" y="100435"/>
                  </a:lnTo>
                  <a:lnTo>
                    <a:pt x="133366" y="71448"/>
                  </a:lnTo>
                  <a:lnTo>
                    <a:pt x="169835" y="46816"/>
                  </a:lnTo>
                  <a:lnTo>
                    <a:pt x="209432" y="26947"/>
                  </a:lnTo>
                  <a:lnTo>
                    <a:pt x="251748" y="12248"/>
                  </a:lnTo>
                  <a:lnTo>
                    <a:pt x="296376" y="3130"/>
                  </a:lnTo>
                  <a:lnTo>
                    <a:pt x="342906" y="0"/>
                  </a:lnTo>
                  <a:lnTo>
                    <a:pt x="5097772" y="0"/>
                  </a:lnTo>
                  <a:lnTo>
                    <a:pt x="5151739" y="4271"/>
                  </a:lnTo>
                  <a:lnTo>
                    <a:pt x="5203890" y="16832"/>
                  </a:lnTo>
                  <a:lnTo>
                    <a:pt x="5253306" y="37301"/>
                  </a:lnTo>
                  <a:lnTo>
                    <a:pt x="5299064" y="65295"/>
                  </a:lnTo>
                  <a:lnTo>
                    <a:pt x="5340245" y="100434"/>
                  </a:lnTo>
                  <a:lnTo>
                    <a:pt x="5375384" y="141615"/>
                  </a:lnTo>
                  <a:lnTo>
                    <a:pt x="5403379" y="187373"/>
                  </a:lnTo>
                  <a:lnTo>
                    <a:pt x="5423847" y="236789"/>
                  </a:lnTo>
                  <a:lnTo>
                    <a:pt x="5436408" y="288940"/>
                  </a:lnTo>
                  <a:lnTo>
                    <a:pt x="5440680" y="342906"/>
                  </a:lnTo>
                  <a:lnTo>
                    <a:pt x="5440680" y="1714493"/>
                  </a:lnTo>
                  <a:lnTo>
                    <a:pt x="5437550" y="1761023"/>
                  </a:lnTo>
                  <a:lnTo>
                    <a:pt x="5428431" y="1805651"/>
                  </a:lnTo>
                  <a:lnTo>
                    <a:pt x="5413733" y="1847967"/>
                  </a:lnTo>
                  <a:lnTo>
                    <a:pt x="5393863" y="1887564"/>
                  </a:lnTo>
                  <a:lnTo>
                    <a:pt x="5369231" y="1924033"/>
                  </a:lnTo>
                  <a:lnTo>
                    <a:pt x="5340245" y="1956964"/>
                  </a:lnTo>
                  <a:lnTo>
                    <a:pt x="5307313" y="1985951"/>
                  </a:lnTo>
                  <a:lnTo>
                    <a:pt x="5270844" y="2010583"/>
                  </a:lnTo>
                  <a:lnTo>
                    <a:pt x="5231248" y="2030452"/>
                  </a:lnTo>
                  <a:lnTo>
                    <a:pt x="5188931" y="2045151"/>
                  </a:lnTo>
                  <a:lnTo>
                    <a:pt x="5144303" y="2054269"/>
                  </a:lnTo>
                  <a:lnTo>
                    <a:pt x="5097772" y="205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91072" y="2176271"/>
              <a:ext cx="5440680" cy="2057400"/>
            </a:xfrm>
            <a:custGeom>
              <a:avLst/>
              <a:gdLst/>
              <a:ahLst/>
              <a:cxnLst/>
              <a:rect l="l" t="t" r="r" b="b"/>
              <a:pathLst>
                <a:path w="5440680" h="2057400">
                  <a:moveTo>
                    <a:pt x="0" y="342906"/>
                  </a:moveTo>
                  <a:lnTo>
                    <a:pt x="3130" y="296376"/>
                  </a:lnTo>
                  <a:lnTo>
                    <a:pt x="12248" y="251748"/>
                  </a:lnTo>
                  <a:lnTo>
                    <a:pt x="26947" y="209432"/>
                  </a:lnTo>
                  <a:lnTo>
                    <a:pt x="46816" y="169835"/>
                  </a:lnTo>
                  <a:lnTo>
                    <a:pt x="71448" y="133366"/>
                  </a:lnTo>
                  <a:lnTo>
                    <a:pt x="100435" y="100435"/>
                  </a:lnTo>
                  <a:lnTo>
                    <a:pt x="133366" y="71448"/>
                  </a:lnTo>
                  <a:lnTo>
                    <a:pt x="169835" y="46816"/>
                  </a:lnTo>
                  <a:lnTo>
                    <a:pt x="209432" y="26947"/>
                  </a:lnTo>
                  <a:lnTo>
                    <a:pt x="251748" y="12248"/>
                  </a:lnTo>
                  <a:lnTo>
                    <a:pt x="296376" y="3130"/>
                  </a:lnTo>
                  <a:lnTo>
                    <a:pt x="342906" y="0"/>
                  </a:lnTo>
                  <a:lnTo>
                    <a:pt x="5097772" y="0"/>
                  </a:lnTo>
                  <a:lnTo>
                    <a:pt x="5151739" y="4271"/>
                  </a:lnTo>
                  <a:lnTo>
                    <a:pt x="5203890" y="16832"/>
                  </a:lnTo>
                  <a:lnTo>
                    <a:pt x="5253306" y="37301"/>
                  </a:lnTo>
                  <a:lnTo>
                    <a:pt x="5299064" y="65295"/>
                  </a:lnTo>
                  <a:lnTo>
                    <a:pt x="5340245" y="100434"/>
                  </a:lnTo>
                  <a:lnTo>
                    <a:pt x="5375384" y="141615"/>
                  </a:lnTo>
                  <a:lnTo>
                    <a:pt x="5403379" y="187373"/>
                  </a:lnTo>
                  <a:lnTo>
                    <a:pt x="5423847" y="236789"/>
                  </a:lnTo>
                  <a:lnTo>
                    <a:pt x="5436408" y="288940"/>
                  </a:lnTo>
                  <a:lnTo>
                    <a:pt x="5440680" y="342906"/>
                  </a:lnTo>
                  <a:lnTo>
                    <a:pt x="5440680" y="1714493"/>
                  </a:lnTo>
                  <a:lnTo>
                    <a:pt x="5437550" y="1761023"/>
                  </a:lnTo>
                  <a:lnTo>
                    <a:pt x="5428431" y="1805651"/>
                  </a:lnTo>
                  <a:lnTo>
                    <a:pt x="5413733" y="1847967"/>
                  </a:lnTo>
                  <a:lnTo>
                    <a:pt x="5393863" y="1887564"/>
                  </a:lnTo>
                  <a:lnTo>
                    <a:pt x="5369231" y="1924033"/>
                  </a:lnTo>
                  <a:lnTo>
                    <a:pt x="5340245" y="1956964"/>
                  </a:lnTo>
                  <a:lnTo>
                    <a:pt x="5307313" y="1985951"/>
                  </a:lnTo>
                  <a:lnTo>
                    <a:pt x="5270844" y="2010583"/>
                  </a:lnTo>
                  <a:lnTo>
                    <a:pt x="5231248" y="2030452"/>
                  </a:lnTo>
                  <a:lnTo>
                    <a:pt x="5188931" y="2045151"/>
                  </a:lnTo>
                  <a:lnTo>
                    <a:pt x="5144303" y="2054269"/>
                  </a:lnTo>
                  <a:lnTo>
                    <a:pt x="5097772" y="2057399"/>
                  </a:lnTo>
                  <a:lnTo>
                    <a:pt x="342906" y="2057399"/>
                  </a:lnTo>
                  <a:lnTo>
                    <a:pt x="296376" y="2054269"/>
                  </a:lnTo>
                  <a:lnTo>
                    <a:pt x="251748" y="2045151"/>
                  </a:lnTo>
                  <a:lnTo>
                    <a:pt x="209432" y="2030452"/>
                  </a:lnTo>
                  <a:lnTo>
                    <a:pt x="169835" y="2010583"/>
                  </a:lnTo>
                  <a:lnTo>
                    <a:pt x="133366" y="1985951"/>
                  </a:lnTo>
                  <a:lnTo>
                    <a:pt x="100435" y="1956964"/>
                  </a:lnTo>
                  <a:lnTo>
                    <a:pt x="71448" y="1924033"/>
                  </a:lnTo>
                  <a:lnTo>
                    <a:pt x="46816" y="1887564"/>
                  </a:lnTo>
                  <a:lnTo>
                    <a:pt x="26947" y="1847967"/>
                  </a:lnTo>
                  <a:lnTo>
                    <a:pt x="12248" y="1805651"/>
                  </a:lnTo>
                  <a:lnTo>
                    <a:pt x="3130" y="1761023"/>
                  </a:lnTo>
                  <a:lnTo>
                    <a:pt x="0" y="1714493"/>
                  </a:lnTo>
                  <a:lnTo>
                    <a:pt x="0" y="342906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40" dirty="0"/>
              <a:t> </a:t>
            </a:r>
            <a:r>
              <a:rPr spc="-10" dirty="0"/>
              <a:t>Solution</a:t>
            </a:r>
          </a:p>
          <a:p>
            <a:pPr marL="58419" marR="198755" indent="100330">
              <a:lnSpc>
                <a:spcPct val="100000"/>
              </a:lnSpc>
              <a:spcBef>
                <a:spcPts val="1065"/>
              </a:spcBef>
              <a:buChar char="•"/>
              <a:tabLst>
                <a:tab pos="158750" algn="l"/>
              </a:tabLst>
            </a:pP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A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212529"/>
                </a:solidFill>
                <a:latin typeface="Calibri"/>
                <a:cs typeface="Calibri"/>
              </a:rPr>
              <a:t>farmer-friendly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AI/ML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decision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support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web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application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tailored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for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212529"/>
                </a:solidFill>
                <a:latin typeface="Calibri"/>
                <a:cs typeface="Calibri"/>
              </a:rPr>
              <a:t>sugarcane cultivation.</a:t>
            </a:r>
            <a:endParaRPr sz="1100">
              <a:latin typeface="Calibri"/>
              <a:cs typeface="Calibri"/>
            </a:endParaRPr>
          </a:p>
          <a:p>
            <a:pPr marL="58419" marR="5080" indent="100330">
              <a:lnSpc>
                <a:spcPct val="100000"/>
              </a:lnSpc>
              <a:spcBef>
                <a:spcPts val="400"/>
              </a:spcBef>
              <a:buChar char="•"/>
              <a:tabLst>
                <a:tab pos="158750" algn="l"/>
              </a:tabLst>
            </a:pP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Integrates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212529"/>
                </a:solidFill>
                <a:latin typeface="Calibri"/>
                <a:cs typeface="Calibri"/>
              </a:rPr>
              <a:t>multi-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model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machine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learning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comparison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to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212529"/>
                </a:solidFill>
                <a:latin typeface="Calibri"/>
                <a:cs typeface="Calibri"/>
              </a:rPr>
              <a:t>deliver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reliable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growth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%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spc="-5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 yield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212529"/>
                </a:solidFill>
                <a:latin typeface="Calibri"/>
                <a:cs typeface="Calibri"/>
              </a:rPr>
              <a:t>forecasts.</a:t>
            </a:r>
            <a:endParaRPr sz="1100">
              <a:latin typeface="Calibri"/>
              <a:cs typeface="Calibri"/>
            </a:endParaRPr>
          </a:p>
          <a:p>
            <a:pPr marL="58419" marR="274955" indent="100330">
              <a:lnSpc>
                <a:spcPct val="100000"/>
              </a:lnSpc>
              <a:spcBef>
                <a:spcPts val="400"/>
              </a:spcBef>
              <a:buChar char="•"/>
              <a:tabLst>
                <a:tab pos="158750" algn="l"/>
              </a:tabLst>
            </a:pPr>
            <a:r>
              <a:rPr sz="1100" b="0" spc="-10" dirty="0">
                <a:solidFill>
                  <a:srgbClr val="212529"/>
                </a:solidFill>
                <a:latin typeface="Calibri"/>
                <a:cs typeface="Calibri"/>
              </a:rPr>
              <a:t>Generates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personalized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advisory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for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212529"/>
                </a:solidFill>
                <a:latin typeface="Calibri"/>
                <a:cs typeface="Calibri"/>
              </a:rPr>
              <a:t>fertilizer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dosage,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irrigation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timing,</a:t>
            </a:r>
            <a:r>
              <a:rPr sz="1100" b="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100" b="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b="0" spc="-20" dirty="0">
                <a:solidFill>
                  <a:srgbClr val="212529"/>
                </a:solidFill>
                <a:latin typeface="Calibri"/>
                <a:cs typeface="Calibri"/>
              </a:rPr>
              <a:t>soil </a:t>
            </a:r>
            <a:r>
              <a:rPr sz="1100" b="0" spc="-10" dirty="0">
                <a:solidFill>
                  <a:srgbClr val="212529"/>
                </a:solidFill>
                <a:latin typeface="Calibri"/>
                <a:cs typeface="Calibri"/>
              </a:rPr>
              <a:t>health.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0850" y="4365769"/>
            <a:ext cx="5533390" cy="2150110"/>
            <a:chOff x="410850" y="4365769"/>
            <a:chExt cx="5533390" cy="215011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850" y="4365769"/>
              <a:ext cx="5533380" cy="21501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4389119"/>
              <a:ext cx="5440680" cy="2057400"/>
            </a:xfrm>
            <a:custGeom>
              <a:avLst/>
              <a:gdLst/>
              <a:ahLst/>
              <a:cxnLst/>
              <a:rect l="l" t="t" r="r" b="b"/>
              <a:pathLst>
                <a:path w="5440680" h="2057400">
                  <a:moveTo>
                    <a:pt x="5097772" y="2057399"/>
                  </a:moveTo>
                  <a:lnTo>
                    <a:pt x="342906" y="2057399"/>
                  </a:lnTo>
                  <a:lnTo>
                    <a:pt x="296376" y="2054269"/>
                  </a:lnTo>
                  <a:lnTo>
                    <a:pt x="251748" y="2045151"/>
                  </a:lnTo>
                  <a:lnTo>
                    <a:pt x="209432" y="2030452"/>
                  </a:lnTo>
                  <a:lnTo>
                    <a:pt x="169835" y="2010583"/>
                  </a:lnTo>
                  <a:lnTo>
                    <a:pt x="133366" y="1985951"/>
                  </a:lnTo>
                  <a:lnTo>
                    <a:pt x="100435" y="1956964"/>
                  </a:lnTo>
                  <a:lnTo>
                    <a:pt x="71448" y="1924033"/>
                  </a:lnTo>
                  <a:lnTo>
                    <a:pt x="46816" y="1887564"/>
                  </a:lnTo>
                  <a:lnTo>
                    <a:pt x="26947" y="1847967"/>
                  </a:lnTo>
                  <a:lnTo>
                    <a:pt x="12248" y="1805651"/>
                  </a:lnTo>
                  <a:lnTo>
                    <a:pt x="3130" y="1761023"/>
                  </a:lnTo>
                  <a:lnTo>
                    <a:pt x="0" y="1714493"/>
                  </a:lnTo>
                  <a:lnTo>
                    <a:pt x="0" y="342906"/>
                  </a:lnTo>
                  <a:lnTo>
                    <a:pt x="3130" y="296376"/>
                  </a:lnTo>
                  <a:lnTo>
                    <a:pt x="12248" y="251748"/>
                  </a:lnTo>
                  <a:lnTo>
                    <a:pt x="26947" y="209432"/>
                  </a:lnTo>
                  <a:lnTo>
                    <a:pt x="46816" y="169835"/>
                  </a:lnTo>
                  <a:lnTo>
                    <a:pt x="71448" y="133366"/>
                  </a:lnTo>
                  <a:lnTo>
                    <a:pt x="100435" y="100435"/>
                  </a:lnTo>
                  <a:lnTo>
                    <a:pt x="133366" y="71448"/>
                  </a:lnTo>
                  <a:lnTo>
                    <a:pt x="169835" y="46816"/>
                  </a:lnTo>
                  <a:lnTo>
                    <a:pt x="209432" y="26947"/>
                  </a:lnTo>
                  <a:lnTo>
                    <a:pt x="251748" y="12248"/>
                  </a:lnTo>
                  <a:lnTo>
                    <a:pt x="296376" y="3130"/>
                  </a:lnTo>
                  <a:lnTo>
                    <a:pt x="342906" y="0"/>
                  </a:lnTo>
                  <a:lnTo>
                    <a:pt x="5097772" y="0"/>
                  </a:lnTo>
                  <a:lnTo>
                    <a:pt x="5151739" y="4271"/>
                  </a:lnTo>
                  <a:lnTo>
                    <a:pt x="5203890" y="16832"/>
                  </a:lnTo>
                  <a:lnTo>
                    <a:pt x="5253306" y="37301"/>
                  </a:lnTo>
                  <a:lnTo>
                    <a:pt x="5299064" y="65295"/>
                  </a:lnTo>
                  <a:lnTo>
                    <a:pt x="5340244" y="100434"/>
                  </a:lnTo>
                  <a:lnTo>
                    <a:pt x="5375384" y="141615"/>
                  </a:lnTo>
                  <a:lnTo>
                    <a:pt x="5403378" y="187373"/>
                  </a:lnTo>
                  <a:lnTo>
                    <a:pt x="5423847" y="236789"/>
                  </a:lnTo>
                  <a:lnTo>
                    <a:pt x="5436408" y="288940"/>
                  </a:lnTo>
                  <a:lnTo>
                    <a:pt x="5440679" y="342906"/>
                  </a:lnTo>
                  <a:lnTo>
                    <a:pt x="5440679" y="1714493"/>
                  </a:lnTo>
                  <a:lnTo>
                    <a:pt x="5437549" y="1761023"/>
                  </a:lnTo>
                  <a:lnTo>
                    <a:pt x="5428431" y="1805651"/>
                  </a:lnTo>
                  <a:lnTo>
                    <a:pt x="5413732" y="1847967"/>
                  </a:lnTo>
                  <a:lnTo>
                    <a:pt x="5393863" y="1887564"/>
                  </a:lnTo>
                  <a:lnTo>
                    <a:pt x="5369231" y="1924033"/>
                  </a:lnTo>
                  <a:lnTo>
                    <a:pt x="5340244" y="1956964"/>
                  </a:lnTo>
                  <a:lnTo>
                    <a:pt x="5307313" y="1985951"/>
                  </a:lnTo>
                  <a:lnTo>
                    <a:pt x="5270844" y="2010583"/>
                  </a:lnTo>
                  <a:lnTo>
                    <a:pt x="5231247" y="2030452"/>
                  </a:lnTo>
                  <a:lnTo>
                    <a:pt x="5188931" y="2045151"/>
                  </a:lnTo>
                  <a:lnTo>
                    <a:pt x="5144303" y="2054269"/>
                  </a:lnTo>
                  <a:lnTo>
                    <a:pt x="5097772" y="205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4389119"/>
              <a:ext cx="5440680" cy="2057400"/>
            </a:xfrm>
            <a:custGeom>
              <a:avLst/>
              <a:gdLst/>
              <a:ahLst/>
              <a:cxnLst/>
              <a:rect l="l" t="t" r="r" b="b"/>
              <a:pathLst>
                <a:path w="5440680" h="2057400">
                  <a:moveTo>
                    <a:pt x="0" y="342906"/>
                  </a:moveTo>
                  <a:lnTo>
                    <a:pt x="3130" y="296376"/>
                  </a:lnTo>
                  <a:lnTo>
                    <a:pt x="12248" y="251748"/>
                  </a:lnTo>
                  <a:lnTo>
                    <a:pt x="26947" y="209432"/>
                  </a:lnTo>
                  <a:lnTo>
                    <a:pt x="46816" y="169835"/>
                  </a:lnTo>
                  <a:lnTo>
                    <a:pt x="71448" y="133366"/>
                  </a:lnTo>
                  <a:lnTo>
                    <a:pt x="100435" y="100435"/>
                  </a:lnTo>
                  <a:lnTo>
                    <a:pt x="133366" y="71448"/>
                  </a:lnTo>
                  <a:lnTo>
                    <a:pt x="169835" y="46816"/>
                  </a:lnTo>
                  <a:lnTo>
                    <a:pt x="209432" y="26947"/>
                  </a:lnTo>
                  <a:lnTo>
                    <a:pt x="251748" y="12248"/>
                  </a:lnTo>
                  <a:lnTo>
                    <a:pt x="296376" y="3130"/>
                  </a:lnTo>
                  <a:lnTo>
                    <a:pt x="342906" y="0"/>
                  </a:lnTo>
                  <a:lnTo>
                    <a:pt x="5097772" y="0"/>
                  </a:lnTo>
                  <a:lnTo>
                    <a:pt x="5151739" y="4271"/>
                  </a:lnTo>
                  <a:lnTo>
                    <a:pt x="5203890" y="16832"/>
                  </a:lnTo>
                  <a:lnTo>
                    <a:pt x="5253306" y="37301"/>
                  </a:lnTo>
                  <a:lnTo>
                    <a:pt x="5299064" y="65295"/>
                  </a:lnTo>
                  <a:lnTo>
                    <a:pt x="5340244" y="100434"/>
                  </a:lnTo>
                  <a:lnTo>
                    <a:pt x="5375384" y="141615"/>
                  </a:lnTo>
                  <a:lnTo>
                    <a:pt x="5403378" y="187373"/>
                  </a:lnTo>
                  <a:lnTo>
                    <a:pt x="5423847" y="236789"/>
                  </a:lnTo>
                  <a:lnTo>
                    <a:pt x="5436408" y="288940"/>
                  </a:lnTo>
                  <a:lnTo>
                    <a:pt x="5440679" y="342906"/>
                  </a:lnTo>
                  <a:lnTo>
                    <a:pt x="5440679" y="1714493"/>
                  </a:lnTo>
                  <a:lnTo>
                    <a:pt x="5437549" y="1761023"/>
                  </a:lnTo>
                  <a:lnTo>
                    <a:pt x="5428431" y="1805651"/>
                  </a:lnTo>
                  <a:lnTo>
                    <a:pt x="5413732" y="1847967"/>
                  </a:lnTo>
                  <a:lnTo>
                    <a:pt x="5393863" y="1887564"/>
                  </a:lnTo>
                  <a:lnTo>
                    <a:pt x="5369231" y="1924033"/>
                  </a:lnTo>
                  <a:lnTo>
                    <a:pt x="5340244" y="1956964"/>
                  </a:lnTo>
                  <a:lnTo>
                    <a:pt x="5307313" y="1985951"/>
                  </a:lnTo>
                  <a:lnTo>
                    <a:pt x="5270844" y="2010583"/>
                  </a:lnTo>
                  <a:lnTo>
                    <a:pt x="5231247" y="2030452"/>
                  </a:lnTo>
                  <a:lnTo>
                    <a:pt x="5188931" y="2045151"/>
                  </a:lnTo>
                  <a:lnTo>
                    <a:pt x="5144303" y="2054269"/>
                  </a:lnTo>
                  <a:lnTo>
                    <a:pt x="5097772" y="2057399"/>
                  </a:lnTo>
                  <a:lnTo>
                    <a:pt x="342906" y="2057399"/>
                  </a:lnTo>
                  <a:lnTo>
                    <a:pt x="296376" y="2054269"/>
                  </a:lnTo>
                  <a:lnTo>
                    <a:pt x="251748" y="2045151"/>
                  </a:lnTo>
                  <a:lnTo>
                    <a:pt x="209432" y="2030452"/>
                  </a:lnTo>
                  <a:lnTo>
                    <a:pt x="169835" y="2010583"/>
                  </a:lnTo>
                  <a:lnTo>
                    <a:pt x="133366" y="1985951"/>
                  </a:lnTo>
                  <a:lnTo>
                    <a:pt x="100435" y="1956964"/>
                  </a:lnTo>
                  <a:lnTo>
                    <a:pt x="71448" y="1924033"/>
                  </a:lnTo>
                  <a:lnTo>
                    <a:pt x="46816" y="1887564"/>
                  </a:lnTo>
                  <a:lnTo>
                    <a:pt x="26947" y="1847967"/>
                  </a:lnTo>
                  <a:lnTo>
                    <a:pt x="12248" y="1805651"/>
                  </a:lnTo>
                  <a:lnTo>
                    <a:pt x="3130" y="1761023"/>
                  </a:lnTo>
                  <a:lnTo>
                    <a:pt x="0" y="1714493"/>
                  </a:lnTo>
                  <a:lnTo>
                    <a:pt x="0" y="342906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1660" y="4479036"/>
            <a:ext cx="4947285" cy="114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Key</a:t>
            </a:r>
            <a:r>
              <a:rPr sz="1400" b="1" spc="-2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Project</a:t>
            </a:r>
            <a:r>
              <a:rPr sz="1400" b="1" spc="-2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F6EA5"/>
                </a:solidFill>
                <a:latin typeface="Trebuchet MS"/>
                <a:cs typeface="Trebuchet MS"/>
              </a:rPr>
              <a:t>Objectives</a:t>
            </a:r>
            <a:endParaRPr sz="1400">
              <a:latin typeface="Trebuchet MS"/>
              <a:cs typeface="Trebuchet MS"/>
            </a:endParaRPr>
          </a:p>
          <a:p>
            <a:pPr marL="158750" indent="-100330">
              <a:lnSpc>
                <a:spcPct val="100000"/>
              </a:lnSpc>
              <a:spcBef>
                <a:spcPts val="1065"/>
              </a:spcBef>
              <a:buChar char="•"/>
              <a:tabLst>
                <a:tab pos="158750" algn="l"/>
              </a:tabLst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Collect,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validate,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scale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soil,</a:t>
            </a:r>
            <a:r>
              <a:rPr sz="11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meteorological,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irrigation,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crop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age</a:t>
            </a:r>
            <a:r>
              <a:rPr sz="11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data.</a:t>
            </a:r>
            <a:endParaRPr sz="1100">
              <a:latin typeface="Calibri"/>
              <a:cs typeface="Calibri"/>
            </a:endParaRPr>
          </a:p>
          <a:p>
            <a:pPr marL="58419" marR="59690" indent="100330">
              <a:lnSpc>
                <a:spcPct val="100000"/>
              </a:lnSpc>
              <a:spcBef>
                <a:spcPts val="400"/>
              </a:spcBef>
              <a:buChar char="•"/>
              <a:tabLst>
                <a:tab pos="158750" algn="l"/>
              </a:tabLst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Train</a:t>
            </a:r>
            <a:r>
              <a:rPr sz="11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evaluate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DT,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Random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Forest,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Gradient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Boosting,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XGBoost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using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MAE,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RMSE,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R².</a:t>
            </a:r>
            <a:endParaRPr sz="1100">
              <a:latin typeface="Calibri"/>
              <a:cs typeface="Calibri"/>
            </a:endParaRPr>
          </a:p>
          <a:p>
            <a:pPr marL="158750" indent="-100330">
              <a:lnSpc>
                <a:spcPct val="100000"/>
              </a:lnSpc>
              <a:spcBef>
                <a:spcPts val="400"/>
              </a:spcBef>
              <a:buChar char="•"/>
              <a:tabLst>
                <a:tab pos="158750" algn="l"/>
              </a:tabLst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Deploy</a:t>
            </a:r>
            <a:r>
              <a:rPr sz="11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empirical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best-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performing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model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build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an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intuitive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React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dashboard.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44722" y="4365769"/>
            <a:ext cx="5533390" cy="2150110"/>
            <a:chOff x="6244722" y="4365769"/>
            <a:chExt cx="5533390" cy="215011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4722" y="4365769"/>
              <a:ext cx="5533380" cy="21501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91072" y="4389119"/>
              <a:ext cx="5440680" cy="2057400"/>
            </a:xfrm>
            <a:custGeom>
              <a:avLst/>
              <a:gdLst/>
              <a:ahLst/>
              <a:cxnLst/>
              <a:rect l="l" t="t" r="r" b="b"/>
              <a:pathLst>
                <a:path w="5440680" h="2057400">
                  <a:moveTo>
                    <a:pt x="5097772" y="2057399"/>
                  </a:moveTo>
                  <a:lnTo>
                    <a:pt x="342906" y="2057399"/>
                  </a:lnTo>
                  <a:lnTo>
                    <a:pt x="296376" y="2054269"/>
                  </a:lnTo>
                  <a:lnTo>
                    <a:pt x="251748" y="2045151"/>
                  </a:lnTo>
                  <a:lnTo>
                    <a:pt x="209432" y="2030452"/>
                  </a:lnTo>
                  <a:lnTo>
                    <a:pt x="169835" y="2010583"/>
                  </a:lnTo>
                  <a:lnTo>
                    <a:pt x="133366" y="1985951"/>
                  </a:lnTo>
                  <a:lnTo>
                    <a:pt x="100435" y="1956964"/>
                  </a:lnTo>
                  <a:lnTo>
                    <a:pt x="71448" y="1924033"/>
                  </a:lnTo>
                  <a:lnTo>
                    <a:pt x="46816" y="1887564"/>
                  </a:lnTo>
                  <a:lnTo>
                    <a:pt x="26947" y="1847967"/>
                  </a:lnTo>
                  <a:lnTo>
                    <a:pt x="12248" y="1805651"/>
                  </a:lnTo>
                  <a:lnTo>
                    <a:pt x="3130" y="1761023"/>
                  </a:lnTo>
                  <a:lnTo>
                    <a:pt x="0" y="1714493"/>
                  </a:lnTo>
                  <a:lnTo>
                    <a:pt x="0" y="342906"/>
                  </a:lnTo>
                  <a:lnTo>
                    <a:pt x="3130" y="296376"/>
                  </a:lnTo>
                  <a:lnTo>
                    <a:pt x="12248" y="251748"/>
                  </a:lnTo>
                  <a:lnTo>
                    <a:pt x="26947" y="209432"/>
                  </a:lnTo>
                  <a:lnTo>
                    <a:pt x="46816" y="169835"/>
                  </a:lnTo>
                  <a:lnTo>
                    <a:pt x="71448" y="133366"/>
                  </a:lnTo>
                  <a:lnTo>
                    <a:pt x="100435" y="100435"/>
                  </a:lnTo>
                  <a:lnTo>
                    <a:pt x="133366" y="71448"/>
                  </a:lnTo>
                  <a:lnTo>
                    <a:pt x="169835" y="46816"/>
                  </a:lnTo>
                  <a:lnTo>
                    <a:pt x="209432" y="26947"/>
                  </a:lnTo>
                  <a:lnTo>
                    <a:pt x="251748" y="12248"/>
                  </a:lnTo>
                  <a:lnTo>
                    <a:pt x="296376" y="3130"/>
                  </a:lnTo>
                  <a:lnTo>
                    <a:pt x="342906" y="0"/>
                  </a:lnTo>
                  <a:lnTo>
                    <a:pt x="5097772" y="0"/>
                  </a:lnTo>
                  <a:lnTo>
                    <a:pt x="5151739" y="4271"/>
                  </a:lnTo>
                  <a:lnTo>
                    <a:pt x="5203890" y="16832"/>
                  </a:lnTo>
                  <a:lnTo>
                    <a:pt x="5253306" y="37301"/>
                  </a:lnTo>
                  <a:lnTo>
                    <a:pt x="5299064" y="65295"/>
                  </a:lnTo>
                  <a:lnTo>
                    <a:pt x="5340245" y="100434"/>
                  </a:lnTo>
                  <a:lnTo>
                    <a:pt x="5375384" y="141615"/>
                  </a:lnTo>
                  <a:lnTo>
                    <a:pt x="5403379" y="187373"/>
                  </a:lnTo>
                  <a:lnTo>
                    <a:pt x="5423847" y="236789"/>
                  </a:lnTo>
                  <a:lnTo>
                    <a:pt x="5436408" y="288940"/>
                  </a:lnTo>
                  <a:lnTo>
                    <a:pt x="5440680" y="342906"/>
                  </a:lnTo>
                  <a:lnTo>
                    <a:pt x="5440680" y="1714493"/>
                  </a:lnTo>
                  <a:lnTo>
                    <a:pt x="5437550" y="1761023"/>
                  </a:lnTo>
                  <a:lnTo>
                    <a:pt x="5428431" y="1805651"/>
                  </a:lnTo>
                  <a:lnTo>
                    <a:pt x="5413733" y="1847967"/>
                  </a:lnTo>
                  <a:lnTo>
                    <a:pt x="5393863" y="1887564"/>
                  </a:lnTo>
                  <a:lnTo>
                    <a:pt x="5369231" y="1924033"/>
                  </a:lnTo>
                  <a:lnTo>
                    <a:pt x="5340245" y="1956964"/>
                  </a:lnTo>
                  <a:lnTo>
                    <a:pt x="5307313" y="1985951"/>
                  </a:lnTo>
                  <a:lnTo>
                    <a:pt x="5270844" y="2010583"/>
                  </a:lnTo>
                  <a:lnTo>
                    <a:pt x="5231248" y="2030452"/>
                  </a:lnTo>
                  <a:lnTo>
                    <a:pt x="5188931" y="2045151"/>
                  </a:lnTo>
                  <a:lnTo>
                    <a:pt x="5144303" y="2054269"/>
                  </a:lnTo>
                  <a:lnTo>
                    <a:pt x="5097772" y="205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91072" y="4389119"/>
              <a:ext cx="5440680" cy="2057400"/>
            </a:xfrm>
            <a:custGeom>
              <a:avLst/>
              <a:gdLst/>
              <a:ahLst/>
              <a:cxnLst/>
              <a:rect l="l" t="t" r="r" b="b"/>
              <a:pathLst>
                <a:path w="5440680" h="2057400">
                  <a:moveTo>
                    <a:pt x="0" y="342906"/>
                  </a:moveTo>
                  <a:lnTo>
                    <a:pt x="3130" y="296376"/>
                  </a:lnTo>
                  <a:lnTo>
                    <a:pt x="12248" y="251748"/>
                  </a:lnTo>
                  <a:lnTo>
                    <a:pt x="26947" y="209432"/>
                  </a:lnTo>
                  <a:lnTo>
                    <a:pt x="46816" y="169835"/>
                  </a:lnTo>
                  <a:lnTo>
                    <a:pt x="71448" y="133366"/>
                  </a:lnTo>
                  <a:lnTo>
                    <a:pt x="100435" y="100435"/>
                  </a:lnTo>
                  <a:lnTo>
                    <a:pt x="133366" y="71448"/>
                  </a:lnTo>
                  <a:lnTo>
                    <a:pt x="169835" y="46816"/>
                  </a:lnTo>
                  <a:lnTo>
                    <a:pt x="209432" y="26947"/>
                  </a:lnTo>
                  <a:lnTo>
                    <a:pt x="251748" y="12248"/>
                  </a:lnTo>
                  <a:lnTo>
                    <a:pt x="296376" y="3130"/>
                  </a:lnTo>
                  <a:lnTo>
                    <a:pt x="342906" y="0"/>
                  </a:lnTo>
                  <a:lnTo>
                    <a:pt x="5097772" y="0"/>
                  </a:lnTo>
                  <a:lnTo>
                    <a:pt x="5151739" y="4271"/>
                  </a:lnTo>
                  <a:lnTo>
                    <a:pt x="5203890" y="16832"/>
                  </a:lnTo>
                  <a:lnTo>
                    <a:pt x="5253306" y="37301"/>
                  </a:lnTo>
                  <a:lnTo>
                    <a:pt x="5299064" y="65295"/>
                  </a:lnTo>
                  <a:lnTo>
                    <a:pt x="5340245" y="100434"/>
                  </a:lnTo>
                  <a:lnTo>
                    <a:pt x="5375384" y="141615"/>
                  </a:lnTo>
                  <a:lnTo>
                    <a:pt x="5403379" y="187373"/>
                  </a:lnTo>
                  <a:lnTo>
                    <a:pt x="5423847" y="236789"/>
                  </a:lnTo>
                  <a:lnTo>
                    <a:pt x="5436408" y="288940"/>
                  </a:lnTo>
                  <a:lnTo>
                    <a:pt x="5440680" y="342906"/>
                  </a:lnTo>
                  <a:lnTo>
                    <a:pt x="5440680" y="1714493"/>
                  </a:lnTo>
                  <a:lnTo>
                    <a:pt x="5437550" y="1761023"/>
                  </a:lnTo>
                  <a:lnTo>
                    <a:pt x="5428431" y="1805651"/>
                  </a:lnTo>
                  <a:lnTo>
                    <a:pt x="5413733" y="1847967"/>
                  </a:lnTo>
                  <a:lnTo>
                    <a:pt x="5393863" y="1887564"/>
                  </a:lnTo>
                  <a:lnTo>
                    <a:pt x="5369231" y="1924033"/>
                  </a:lnTo>
                  <a:lnTo>
                    <a:pt x="5340245" y="1956964"/>
                  </a:lnTo>
                  <a:lnTo>
                    <a:pt x="5307313" y="1985951"/>
                  </a:lnTo>
                  <a:lnTo>
                    <a:pt x="5270844" y="2010583"/>
                  </a:lnTo>
                  <a:lnTo>
                    <a:pt x="5231248" y="2030452"/>
                  </a:lnTo>
                  <a:lnTo>
                    <a:pt x="5188931" y="2045151"/>
                  </a:lnTo>
                  <a:lnTo>
                    <a:pt x="5144303" y="2054269"/>
                  </a:lnTo>
                  <a:lnTo>
                    <a:pt x="5097772" y="2057399"/>
                  </a:lnTo>
                  <a:lnTo>
                    <a:pt x="342906" y="2057399"/>
                  </a:lnTo>
                  <a:lnTo>
                    <a:pt x="296376" y="2054269"/>
                  </a:lnTo>
                  <a:lnTo>
                    <a:pt x="251748" y="2045151"/>
                  </a:lnTo>
                  <a:lnTo>
                    <a:pt x="209432" y="2030452"/>
                  </a:lnTo>
                  <a:lnTo>
                    <a:pt x="169835" y="2010583"/>
                  </a:lnTo>
                  <a:lnTo>
                    <a:pt x="133366" y="1985951"/>
                  </a:lnTo>
                  <a:lnTo>
                    <a:pt x="100435" y="1956964"/>
                  </a:lnTo>
                  <a:lnTo>
                    <a:pt x="71448" y="1924033"/>
                  </a:lnTo>
                  <a:lnTo>
                    <a:pt x="46816" y="1887564"/>
                  </a:lnTo>
                  <a:lnTo>
                    <a:pt x="26947" y="1847967"/>
                  </a:lnTo>
                  <a:lnTo>
                    <a:pt x="12248" y="1805651"/>
                  </a:lnTo>
                  <a:lnTo>
                    <a:pt x="3130" y="1761023"/>
                  </a:lnTo>
                  <a:lnTo>
                    <a:pt x="0" y="1714493"/>
                  </a:lnTo>
                  <a:lnTo>
                    <a:pt x="0" y="342906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415532" y="4479036"/>
            <a:ext cx="4897755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Inputs</a:t>
            </a:r>
            <a:r>
              <a:rPr sz="14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&amp;</a:t>
            </a:r>
            <a:r>
              <a:rPr sz="14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Target</a:t>
            </a:r>
            <a:r>
              <a:rPr sz="14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4233C"/>
                </a:solidFill>
                <a:latin typeface="Trebuchet MS"/>
                <a:cs typeface="Trebuchet MS"/>
              </a:rPr>
              <a:t>Outputs</a:t>
            </a:r>
            <a:endParaRPr sz="1400">
              <a:latin typeface="Trebuchet MS"/>
              <a:cs typeface="Trebuchet MS"/>
            </a:endParaRPr>
          </a:p>
          <a:p>
            <a:pPr marL="58419" marR="5080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Inputs:</a:t>
            </a:r>
            <a:r>
              <a:rPr sz="1100" b="1" spc="-30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Soil</a:t>
            </a:r>
            <a:r>
              <a:rPr sz="11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pH,</a:t>
            </a:r>
            <a:r>
              <a:rPr sz="1100" b="1" spc="-30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N,</a:t>
            </a:r>
            <a:r>
              <a:rPr sz="11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P,</a:t>
            </a:r>
            <a:r>
              <a:rPr sz="11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K,</a:t>
            </a:r>
            <a:r>
              <a:rPr sz="1100" b="1" spc="-30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Temp</a:t>
            </a:r>
            <a:r>
              <a:rPr sz="11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(°C),</a:t>
            </a:r>
            <a:r>
              <a:rPr sz="11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Calibri"/>
                <a:cs typeface="Calibri"/>
              </a:rPr>
              <a:t>Humidity</a:t>
            </a:r>
            <a:r>
              <a:rPr sz="1100" b="1" spc="-30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(%),</a:t>
            </a:r>
            <a:r>
              <a:rPr sz="11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Calibri"/>
                <a:cs typeface="Calibri"/>
              </a:rPr>
              <a:t>Rainfall</a:t>
            </a:r>
            <a:r>
              <a:rPr sz="1100" b="1" spc="-30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(mm),</a:t>
            </a:r>
            <a:r>
              <a:rPr sz="11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Irrigation,</a:t>
            </a:r>
            <a:r>
              <a:rPr sz="11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Crop</a:t>
            </a:r>
            <a:r>
              <a:rPr sz="1100" b="1" spc="-30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14233C"/>
                </a:solidFill>
                <a:latin typeface="Calibri"/>
                <a:cs typeface="Calibri"/>
              </a:rPr>
              <a:t>Age,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Soil</a:t>
            </a:r>
            <a:r>
              <a:rPr sz="1100" b="1" spc="-40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4233C"/>
                </a:solidFill>
                <a:latin typeface="Calibri"/>
                <a:cs typeface="Calibri"/>
              </a:rPr>
              <a:t>Type</a:t>
            </a:r>
            <a:r>
              <a:rPr sz="1100" b="1" spc="-40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Calibri"/>
                <a:cs typeface="Calibri"/>
              </a:rPr>
              <a:t>(optional).</a:t>
            </a:r>
            <a:endParaRPr sz="1100">
              <a:latin typeface="Calibri"/>
              <a:cs typeface="Calibri"/>
            </a:endParaRPr>
          </a:p>
          <a:p>
            <a:pPr marL="58419" marR="433705">
              <a:lnSpc>
                <a:spcPct val="100000"/>
              </a:lnSpc>
              <a:spcBef>
                <a:spcPts val="600"/>
              </a:spcBef>
            </a:pPr>
            <a:r>
              <a:rPr sz="1100" b="1" spc="-10" dirty="0">
                <a:solidFill>
                  <a:srgbClr val="22783E"/>
                </a:solidFill>
                <a:latin typeface="Calibri"/>
                <a:cs typeface="Calibri"/>
              </a:rPr>
              <a:t>Outputs: </a:t>
            </a:r>
            <a:r>
              <a:rPr sz="1100" b="1" dirty="0">
                <a:solidFill>
                  <a:srgbClr val="22783E"/>
                </a:solidFill>
                <a:latin typeface="Calibri"/>
                <a:cs typeface="Calibri"/>
              </a:rPr>
              <a:t>Sugarcane</a:t>
            </a:r>
            <a:r>
              <a:rPr sz="1100" b="1" spc="-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2783E"/>
                </a:solidFill>
                <a:latin typeface="Calibri"/>
                <a:cs typeface="Calibri"/>
              </a:rPr>
              <a:t>Growth</a:t>
            </a:r>
            <a:r>
              <a:rPr sz="1100" b="1" spc="-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783E"/>
                </a:solidFill>
                <a:latin typeface="Calibri"/>
                <a:cs typeface="Calibri"/>
              </a:rPr>
              <a:t>(%),</a:t>
            </a:r>
            <a:r>
              <a:rPr sz="1100" b="1" spc="-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2783E"/>
                </a:solidFill>
                <a:latin typeface="Calibri"/>
                <a:cs typeface="Calibri"/>
              </a:rPr>
              <a:t>Estimated </a:t>
            </a:r>
            <a:r>
              <a:rPr sz="1100" b="1" dirty="0">
                <a:solidFill>
                  <a:srgbClr val="22783E"/>
                </a:solidFill>
                <a:latin typeface="Calibri"/>
                <a:cs typeface="Calibri"/>
              </a:rPr>
              <a:t>Yield</a:t>
            </a:r>
            <a:r>
              <a:rPr sz="1100" b="1" spc="-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2783E"/>
                </a:solidFill>
                <a:latin typeface="Calibri"/>
                <a:cs typeface="Calibri"/>
              </a:rPr>
              <a:t>(Tons/Hectare),</a:t>
            </a:r>
            <a:r>
              <a:rPr sz="1100" b="1" spc="-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783E"/>
                </a:solidFill>
                <a:latin typeface="Calibri"/>
                <a:cs typeface="Calibri"/>
              </a:rPr>
              <a:t>&amp;</a:t>
            </a:r>
            <a:r>
              <a:rPr sz="1100" b="1" spc="-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2783E"/>
                </a:solidFill>
                <a:latin typeface="Calibri"/>
                <a:cs typeface="Calibri"/>
              </a:rPr>
              <a:t>Practical Recommendations.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366267"/>
            <a:ext cx="7759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SLIDE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2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OF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spc="-50" dirty="0">
                <a:solidFill>
                  <a:srgbClr val="22783E"/>
                </a:solidFill>
                <a:latin typeface="Trebuchet MS"/>
                <a:cs typeface="Trebuchet MS"/>
              </a:rPr>
              <a:t>7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100" y="484493"/>
            <a:ext cx="5231130" cy="5829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Slide</a:t>
            </a:r>
            <a:r>
              <a:rPr spc="-35" dirty="0"/>
              <a:t> </a:t>
            </a:r>
            <a:r>
              <a:rPr dirty="0"/>
              <a:t>2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dirty="0"/>
              <a:t>Overall</a:t>
            </a:r>
            <a:r>
              <a:rPr spc="-35" dirty="0"/>
              <a:t> </a:t>
            </a:r>
            <a:r>
              <a:rPr dirty="0"/>
              <a:t>System</a:t>
            </a:r>
            <a:r>
              <a:rPr spc="-30" dirty="0"/>
              <a:t> </a:t>
            </a:r>
            <a:r>
              <a:rPr spc="-10" dirty="0"/>
              <a:t>Architecture</a:t>
            </a: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End-to-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End</a:t>
            </a:r>
            <a:r>
              <a:rPr sz="1100" b="0" spc="-1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Flow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from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Farmer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User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Interface</a:t>
            </a:r>
            <a:r>
              <a:rPr sz="1100" b="0" spc="-1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to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Model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Selection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&amp;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 Recommendation</a:t>
            </a:r>
            <a:r>
              <a:rPr sz="1100" b="0" spc="-1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Engine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0850" y="1393970"/>
            <a:ext cx="3567429" cy="1510030"/>
            <a:chOff x="410850" y="1393970"/>
            <a:chExt cx="3567429" cy="15100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850" y="1393970"/>
              <a:ext cx="3567420" cy="15100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1417319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3238495" y="1417319"/>
                  </a:move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7"/>
                  </a:lnTo>
                  <a:lnTo>
                    <a:pt x="3456738" y="145825"/>
                  </a:lnTo>
                  <a:lnTo>
                    <a:pt x="3470139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close/>
                </a:path>
              </a:pathLst>
            </a:custGeom>
            <a:solidFill>
              <a:srgbClr val="EB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417319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0" y="236224"/>
                  </a:move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7"/>
                  </a:lnTo>
                  <a:lnTo>
                    <a:pt x="3456738" y="145825"/>
                  </a:lnTo>
                  <a:lnTo>
                    <a:pt x="3470139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1660" y="1446507"/>
            <a:ext cx="2646680" cy="504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1.</a:t>
            </a:r>
            <a:r>
              <a:rPr sz="13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Farmer</a:t>
            </a:r>
            <a:r>
              <a:rPr sz="1300" b="1" spc="-20" dirty="0">
                <a:solidFill>
                  <a:srgbClr val="14233C"/>
                </a:solidFill>
                <a:latin typeface="Trebuchet MS"/>
                <a:cs typeface="Trebuchet MS"/>
              </a:rPr>
              <a:t> User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Inputs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field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parameters</a:t>
            </a:r>
            <a:r>
              <a:rPr sz="1100" spc="-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via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 browser/mobile</a:t>
            </a:r>
            <a:r>
              <a:rPr sz="1100" spc="-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UI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65072" y="1393970"/>
            <a:ext cx="3909060" cy="1510030"/>
            <a:chOff x="3965072" y="1393970"/>
            <a:chExt cx="3909060" cy="151003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5072" y="1999252"/>
              <a:ext cx="354320" cy="29945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05072" y="2016251"/>
              <a:ext cx="274320" cy="219710"/>
            </a:xfrm>
            <a:custGeom>
              <a:avLst/>
              <a:gdLst/>
              <a:ahLst/>
              <a:cxnLst/>
              <a:rect l="l" t="t" r="r" b="b"/>
              <a:pathLst>
                <a:path w="274320" h="219710">
                  <a:moveTo>
                    <a:pt x="164591" y="219455"/>
                  </a:moveTo>
                  <a:lnTo>
                    <a:pt x="164591" y="164591"/>
                  </a:lnTo>
                  <a:lnTo>
                    <a:pt x="0" y="164591"/>
                  </a:lnTo>
                  <a:lnTo>
                    <a:pt x="0" y="54863"/>
                  </a:lnTo>
                  <a:lnTo>
                    <a:pt x="164591" y="54863"/>
                  </a:lnTo>
                  <a:lnTo>
                    <a:pt x="164591" y="0"/>
                  </a:lnTo>
                  <a:lnTo>
                    <a:pt x="274320" y="109727"/>
                  </a:lnTo>
                  <a:lnTo>
                    <a:pt x="164591" y="219455"/>
                  </a:lnTo>
                  <a:close/>
                </a:path>
              </a:pathLst>
            </a:custGeom>
            <a:solidFill>
              <a:srgbClr val="2278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6194" y="1393970"/>
              <a:ext cx="3567420" cy="15100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52544" y="1417319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3238494" y="1417319"/>
                  </a:move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4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0" y="69188"/>
                  </a:lnTo>
                  <a:lnTo>
                    <a:pt x="3435030" y="105167"/>
                  </a:lnTo>
                  <a:lnTo>
                    <a:pt x="3456738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4" y="1417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52544" y="1417319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0" y="236224"/>
                  </a:move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4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0" y="69188"/>
                  </a:lnTo>
                  <a:lnTo>
                    <a:pt x="3435030" y="105167"/>
                  </a:lnTo>
                  <a:lnTo>
                    <a:pt x="3456738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4" y="1417319"/>
                  </a:ln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77004" y="1446507"/>
            <a:ext cx="2400935" cy="504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2.</a:t>
            </a:r>
            <a:r>
              <a:rPr sz="13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React</a:t>
            </a:r>
            <a:r>
              <a:rPr sz="1300" b="1" spc="-1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14233C"/>
                </a:solidFill>
                <a:latin typeface="Trebuchet MS"/>
                <a:cs typeface="Trebuchet MS"/>
              </a:rPr>
              <a:t>Frontend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Captures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input,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client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validation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API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call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860415" y="1393970"/>
            <a:ext cx="3909060" cy="1510030"/>
            <a:chOff x="7860415" y="1393970"/>
            <a:chExt cx="3909060" cy="151003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0415" y="1999252"/>
              <a:ext cx="354320" cy="29945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900415" y="2016251"/>
              <a:ext cx="274320" cy="219710"/>
            </a:xfrm>
            <a:custGeom>
              <a:avLst/>
              <a:gdLst/>
              <a:ahLst/>
              <a:cxnLst/>
              <a:rect l="l" t="t" r="r" b="b"/>
              <a:pathLst>
                <a:path w="274320" h="219710">
                  <a:moveTo>
                    <a:pt x="164591" y="219455"/>
                  </a:moveTo>
                  <a:lnTo>
                    <a:pt x="164591" y="164591"/>
                  </a:lnTo>
                  <a:lnTo>
                    <a:pt x="0" y="164591"/>
                  </a:lnTo>
                  <a:lnTo>
                    <a:pt x="0" y="54863"/>
                  </a:lnTo>
                  <a:lnTo>
                    <a:pt x="164591" y="54863"/>
                  </a:lnTo>
                  <a:lnTo>
                    <a:pt x="164591" y="0"/>
                  </a:lnTo>
                  <a:lnTo>
                    <a:pt x="274320" y="109727"/>
                  </a:lnTo>
                  <a:lnTo>
                    <a:pt x="164591" y="219455"/>
                  </a:lnTo>
                  <a:close/>
                </a:path>
              </a:pathLst>
            </a:custGeom>
            <a:solidFill>
              <a:srgbClr val="2278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1538" y="1393970"/>
              <a:ext cx="3567420" cy="151002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247888" y="1417319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3238495" y="1417319"/>
                  </a:moveTo>
                  <a:lnTo>
                    <a:pt x="236224" y="1417319"/>
                  </a:lnTo>
                  <a:lnTo>
                    <a:pt x="188616" y="1412520"/>
                  </a:lnTo>
                  <a:lnTo>
                    <a:pt x="144275" y="1398756"/>
                  </a:lnTo>
                  <a:lnTo>
                    <a:pt x="104148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8" y="40343"/>
                  </a:lnTo>
                  <a:lnTo>
                    <a:pt x="144275" y="18563"/>
                  </a:lnTo>
                  <a:lnTo>
                    <a:pt x="188616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7"/>
                  </a:lnTo>
                  <a:lnTo>
                    <a:pt x="3456737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5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47888" y="1417319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0" y="236224"/>
                  </a:move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8" y="40343"/>
                  </a:lnTo>
                  <a:lnTo>
                    <a:pt x="144275" y="18563"/>
                  </a:lnTo>
                  <a:lnTo>
                    <a:pt x="188616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7"/>
                  </a:lnTo>
                  <a:lnTo>
                    <a:pt x="3456737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5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lnTo>
                    <a:pt x="236224" y="1417319"/>
                  </a:lnTo>
                  <a:lnTo>
                    <a:pt x="188616" y="1412520"/>
                  </a:lnTo>
                  <a:lnTo>
                    <a:pt x="144275" y="1398756"/>
                  </a:lnTo>
                  <a:lnTo>
                    <a:pt x="104148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372348" y="1446507"/>
            <a:ext cx="2385695" cy="504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3.</a:t>
            </a:r>
            <a:r>
              <a:rPr sz="13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REST</a:t>
            </a:r>
            <a:r>
              <a:rPr sz="13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API</a:t>
            </a:r>
            <a:r>
              <a:rPr sz="13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14233C"/>
                </a:solidFill>
                <a:latin typeface="Trebuchet MS"/>
                <a:cs typeface="Trebuchet MS"/>
              </a:rPr>
              <a:t>(FastAPI)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Routes</a:t>
            </a:r>
            <a:r>
              <a:rPr sz="11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JSON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request,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manages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endpoints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10850" y="3103898"/>
            <a:ext cx="3567429" cy="1510030"/>
            <a:chOff x="410850" y="3103898"/>
            <a:chExt cx="3567429" cy="151003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850" y="3103898"/>
              <a:ext cx="3567420" cy="151002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57200" y="3127248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3238495" y="1417319"/>
                  </a:move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7"/>
                  </a:lnTo>
                  <a:lnTo>
                    <a:pt x="3456738" y="145825"/>
                  </a:lnTo>
                  <a:lnTo>
                    <a:pt x="3470139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" y="3127248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0" y="236224"/>
                  </a:move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7"/>
                  </a:lnTo>
                  <a:lnTo>
                    <a:pt x="3456738" y="145825"/>
                  </a:lnTo>
                  <a:lnTo>
                    <a:pt x="3470139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81660" y="3156435"/>
            <a:ext cx="2245360" cy="504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4.</a:t>
            </a:r>
            <a:r>
              <a:rPr sz="13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Validation</a:t>
            </a:r>
            <a:r>
              <a:rPr sz="13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/</a:t>
            </a:r>
            <a:r>
              <a:rPr sz="13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14233C"/>
                </a:solidFill>
                <a:latin typeface="Trebuchet MS"/>
                <a:cs typeface="Trebuchet MS"/>
              </a:rPr>
              <a:t>Preprocessing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Imputes</a:t>
            </a:r>
            <a:r>
              <a:rPr sz="1100" spc="-4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missing</a:t>
            </a:r>
            <a:r>
              <a:rPr sz="11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values,</a:t>
            </a:r>
            <a:r>
              <a:rPr sz="11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scales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features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65072" y="3103898"/>
            <a:ext cx="3909060" cy="1510030"/>
            <a:chOff x="3965072" y="3103898"/>
            <a:chExt cx="3909060" cy="1510030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5072" y="3709180"/>
              <a:ext cx="354320" cy="29945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005072" y="3726180"/>
              <a:ext cx="274320" cy="219710"/>
            </a:xfrm>
            <a:custGeom>
              <a:avLst/>
              <a:gdLst/>
              <a:ahLst/>
              <a:cxnLst/>
              <a:rect l="l" t="t" r="r" b="b"/>
              <a:pathLst>
                <a:path w="274320" h="219710">
                  <a:moveTo>
                    <a:pt x="164591" y="219455"/>
                  </a:moveTo>
                  <a:lnTo>
                    <a:pt x="164591" y="164591"/>
                  </a:lnTo>
                  <a:lnTo>
                    <a:pt x="0" y="164591"/>
                  </a:lnTo>
                  <a:lnTo>
                    <a:pt x="0" y="54864"/>
                  </a:lnTo>
                  <a:lnTo>
                    <a:pt x="164591" y="54864"/>
                  </a:lnTo>
                  <a:lnTo>
                    <a:pt x="164591" y="0"/>
                  </a:lnTo>
                  <a:lnTo>
                    <a:pt x="274320" y="109727"/>
                  </a:lnTo>
                  <a:lnTo>
                    <a:pt x="164591" y="219455"/>
                  </a:lnTo>
                  <a:close/>
                </a:path>
              </a:pathLst>
            </a:custGeom>
            <a:solidFill>
              <a:srgbClr val="2278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6194" y="3103898"/>
              <a:ext cx="3567420" cy="151002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352544" y="3127248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3238494" y="1417319"/>
                  </a:move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4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0" y="69188"/>
                  </a:lnTo>
                  <a:lnTo>
                    <a:pt x="3435030" y="105167"/>
                  </a:lnTo>
                  <a:lnTo>
                    <a:pt x="3456738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4" y="1417319"/>
                  </a:lnTo>
                  <a:close/>
                </a:path>
              </a:pathLst>
            </a:custGeom>
            <a:solidFill>
              <a:srgbClr val="E7F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52544" y="3127248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0" y="236224"/>
                  </a:move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4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0" y="69188"/>
                  </a:lnTo>
                  <a:lnTo>
                    <a:pt x="3435030" y="105167"/>
                  </a:lnTo>
                  <a:lnTo>
                    <a:pt x="3456738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4" y="1417319"/>
                  </a:ln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477004" y="3156435"/>
            <a:ext cx="2187575" cy="504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b="1" dirty="0">
                <a:solidFill>
                  <a:srgbClr val="22783E"/>
                </a:solidFill>
                <a:latin typeface="Trebuchet MS"/>
                <a:cs typeface="Trebuchet MS"/>
              </a:rPr>
              <a:t>5.</a:t>
            </a:r>
            <a:r>
              <a:rPr sz="1300" b="1" spc="-1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2783E"/>
                </a:solidFill>
                <a:latin typeface="Trebuchet MS"/>
                <a:cs typeface="Trebuchet MS"/>
              </a:rPr>
              <a:t>ML</a:t>
            </a:r>
            <a:r>
              <a:rPr sz="1300" b="1" spc="-10" dirty="0">
                <a:solidFill>
                  <a:srgbClr val="22783E"/>
                </a:solidFill>
                <a:latin typeface="Trebuchet MS"/>
                <a:cs typeface="Trebuchet MS"/>
              </a:rPr>
              <a:t> Engine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Runs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DT,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RF,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GB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XGBoost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regressors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860415" y="3103898"/>
            <a:ext cx="3909060" cy="1510030"/>
            <a:chOff x="7860415" y="3103898"/>
            <a:chExt cx="3909060" cy="1510030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0415" y="3709180"/>
              <a:ext cx="354320" cy="29945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900415" y="3726180"/>
              <a:ext cx="274320" cy="219710"/>
            </a:xfrm>
            <a:custGeom>
              <a:avLst/>
              <a:gdLst/>
              <a:ahLst/>
              <a:cxnLst/>
              <a:rect l="l" t="t" r="r" b="b"/>
              <a:pathLst>
                <a:path w="274320" h="219710">
                  <a:moveTo>
                    <a:pt x="164591" y="219455"/>
                  </a:moveTo>
                  <a:lnTo>
                    <a:pt x="164591" y="164591"/>
                  </a:lnTo>
                  <a:lnTo>
                    <a:pt x="0" y="164591"/>
                  </a:lnTo>
                  <a:lnTo>
                    <a:pt x="0" y="54864"/>
                  </a:lnTo>
                  <a:lnTo>
                    <a:pt x="164591" y="54864"/>
                  </a:lnTo>
                  <a:lnTo>
                    <a:pt x="164591" y="0"/>
                  </a:lnTo>
                  <a:lnTo>
                    <a:pt x="274320" y="109727"/>
                  </a:lnTo>
                  <a:lnTo>
                    <a:pt x="164591" y="219455"/>
                  </a:lnTo>
                  <a:close/>
                </a:path>
              </a:pathLst>
            </a:custGeom>
            <a:solidFill>
              <a:srgbClr val="2278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1538" y="3103898"/>
              <a:ext cx="3567420" cy="151002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247888" y="3127248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3238495" y="1417319"/>
                  </a:moveTo>
                  <a:lnTo>
                    <a:pt x="236224" y="1417319"/>
                  </a:lnTo>
                  <a:lnTo>
                    <a:pt x="188616" y="1412520"/>
                  </a:lnTo>
                  <a:lnTo>
                    <a:pt x="144275" y="1398756"/>
                  </a:lnTo>
                  <a:lnTo>
                    <a:pt x="104148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8" y="40343"/>
                  </a:lnTo>
                  <a:lnTo>
                    <a:pt x="144275" y="18563"/>
                  </a:lnTo>
                  <a:lnTo>
                    <a:pt x="188616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7"/>
                  </a:lnTo>
                  <a:lnTo>
                    <a:pt x="3456737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5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close/>
                </a:path>
              </a:pathLst>
            </a:custGeom>
            <a:solidFill>
              <a:srgbClr val="E7F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247888" y="3127248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0" y="236224"/>
                  </a:move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8" y="40343"/>
                  </a:lnTo>
                  <a:lnTo>
                    <a:pt x="144275" y="18563"/>
                  </a:lnTo>
                  <a:lnTo>
                    <a:pt x="188616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7"/>
                  </a:lnTo>
                  <a:lnTo>
                    <a:pt x="3456737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5"/>
                  </a:lnTo>
                  <a:lnTo>
                    <a:pt x="3469920" y="1228702"/>
                  </a:lnTo>
                  <a:lnTo>
                    <a:pt x="3456155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lnTo>
                    <a:pt x="236224" y="1417319"/>
                  </a:lnTo>
                  <a:lnTo>
                    <a:pt x="188616" y="1412520"/>
                  </a:lnTo>
                  <a:lnTo>
                    <a:pt x="144275" y="1398756"/>
                  </a:lnTo>
                  <a:lnTo>
                    <a:pt x="104148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5"/>
                  </a:lnTo>
                  <a:lnTo>
                    <a:pt x="0" y="236224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372348" y="3156435"/>
            <a:ext cx="2559050" cy="504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b="1" dirty="0">
                <a:solidFill>
                  <a:srgbClr val="22783E"/>
                </a:solidFill>
                <a:latin typeface="Trebuchet MS"/>
                <a:cs typeface="Trebuchet MS"/>
              </a:rPr>
              <a:t>6.</a:t>
            </a:r>
            <a:r>
              <a:rPr sz="1300" b="1" spc="-3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2783E"/>
                </a:solidFill>
                <a:latin typeface="Trebuchet MS"/>
                <a:cs typeface="Trebuchet MS"/>
              </a:rPr>
              <a:t>Evaluation</a:t>
            </a:r>
            <a:r>
              <a:rPr sz="1300" b="1" spc="-25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2783E"/>
                </a:solidFill>
                <a:latin typeface="Trebuchet MS"/>
                <a:cs typeface="Trebuchet MS"/>
              </a:rPr>
              <a:t>/</a:t>
            </a:r>
            <a:r>
              <a:rPr sz="1300" b="1" spc="-25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22783E"/>
                </a:solidFill>
                <a:latin typeface="Trebuchet MS"/>
                <a:cs typeface="Trebuchet MS"/>
              </a:rPr>
              <a:t>Selection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Compares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MAE,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RMSE,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R²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pick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best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10850" y="4813826"/>
            <a:ext cx="3567429" cy="1510030"/>
            <a:chOff x="410850" y="4813826"/>
            <a:chExt cx="3567429" cy="1510030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850" y="4813826"/>
              <a:ext cx="3567420" cy="151002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57200" y="4837176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3238495" y="1417319"/>
                  </a:move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4"/>
                  </a:lnTo>
                  <a:lnTo>
                    <a:pt x="0" y="236224"/>
                  </a:ln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6"/>
                  </a:lnTo>
                  <a:lnTo>
                    <a:pt x="3456738" y="145825"/>
                  </a:lnTo>
                  <a:lnTo>
                    <a:pt x="3470139" y="189924"/>
                  </a:lnTo>
                  <a:lnTo>
                    <a:pt x="3474719" y="236224"/>
                  </a:lnTo>
                  <a:lnTo>
                    <a:pt x="3474719" y="1181094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7200" y="4837176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0" y="236224"/>
                  </a:move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6"/>
                  </a:lnTo>
                  <a:lnTo>
                    <a:pt x="3456738" y="145825"/>
                  </a:lnTo>
                  <a:lnTo>
                    <a:pt x="3470139" y="189924"/>
                  </a:lnTo>
                  <a:lnTo>
                    <a:pt x="3474719" y="236224"/>
                  </a:lnTo>
                  <a:lnTo>
                    <a:pt x="3474719" y="1181094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4"/>
                  </a:lnTo>
                  <a:lnTo>
                    <a:pt x="0" y="236224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81660" y="4866363"/>
            <a:ext cx="2186940" cy="504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7.</a:t>
            </a:r>
            <a:r>
              <a:rPr sz="13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Growth</a:t>
            </a:r>
            <a:r>
              <a:rPr sz="13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&amp;</a:t>
            </a:r>
            <a:r>
              <a:rPr sz="13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Yield</a:t>
            </a:r>
            <a:r>
              <a:rPr sz="13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14233C"/>
                </a:solidFill>
                <a:latin typeface="Trebuchet MS"/>
                <a:cs typeface="Trebuchet MS"/>
              </a:rPr>
              <a:t>Engine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Predicts</a:t>
            </a:r>
            <a:r>
              <a:rPr sz="11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Growth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(%)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Yield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(Tons/Ha)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965072" y="4813826"/>
            <a:ext cx="3909060" cy="1510030"/>
            <a:chOff x="3965072" y="4813826"/>
            <a:chExt cx="3909060" cy="1510030"/>
          </a:xfrm>
        </p:grpSpPr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5072" y="5419108"/>
              <a:ext cx="354320" cy="29945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005072" y="5436107"/>
              <a:ext cx="274320" cy="219710"/>
            </a:xfrm>
            <a:custGeom>
              <a:avLst/>
              <a:gdLst/>
              <a:ahLst/>
              <a:cxnLst/>
              <a:rect l="l" t="t" r="r" b="b"/>
              <a:pathLst>
                <a:path w="274320" h="219710">
                  <a:moveTo>
                    <a:pt x="164591" y="219456"/>
                  </a:moveTo>
                  <a:lnTo>
                    <a:pt x="164591" y="164592"/>
                  </a:lnTo>
                  <a:lnTo>
                    <a:pt x="0" y="164592"/>
                  </a:lnTo>
                  <a:lnTo>
                    <a:pt x="0" y="54864"/>
                  </a:lnTo>
                  <a:lnTo>
                    <a:pt x="164591" y="54864"/>
                  </a:lnTo>
                  <a:lnTo>
                    <a:pt x="164591" y="0"/>
                  </a:lnTo>
                  <a:lnTo>
                    <a:pt x="274320" y="109728"/>
                  </a:lnTo>
                  <a:lnTo>
                    <a:pt x="164591" y="219456"/>
                  </a:lnTo>
                  <a:close/>
                </a:path>
              </a:pathLst>
            </a:custGeom>
            <a:solidFill>
              <a:srgbClr val="2278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6194" y="4813826"/>
              <a:ext cx="3567420" cy="151002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352544" y="4837176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3238494" y="1417319"/>
                  </a:move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4"/>
                  </a:lnTo>
                  <a:lnTo>
                    <a:pt x="0" y="236224"/>
                  </a:ln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4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0" y="69188"/>
                  </a:lnTo>
                  <a:lnTo>
                    <a:pt x="3435030" y="105166"/>
                  </a:lnTo>
                  <a:lnTo>
                    <a:pt x="3456738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4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4" y="1417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352544" y="4837176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0" y="236224"/>
                  </a:move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9" y="40343"/>
                  </a:lnTo>
                  <a:lnTo>
                    <a:pt x="144275" y="18563"/>
                  </a:lnTo>
                  <a:lnTo>
                    <a:pt x="188617" y="4799"/>
                  </a:lnTo>
                  <a:lnTo>
                    <a:pt x="236224" y="0"/>
                  </a:lnTo>
                  <a:lnTo>
                    <a:pt x="3238494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0" y="69188"/>
                  </a:lnTo>
                  <a:lnTo>
                    <a:pt x="3435030" y="105166"/>
                  </a:lnTo>
                  <a:lnTo>
                    <a:pt x="3456738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4"/>
                  </a:lnTo>
                  <a:lnTo>
                    <a:pt x="3469920" y="1228702"/>
                  </a:lnTo>
                  <a:lnTo>
                    <a:pt x="3456156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4" y="1417319"/>
                  </a:lnTo>
                  <a:lnTo>
                    <a:pt x="236224" y="1417319"/>
                  </a:lnTo>
                  <a:lnTo>
                    <a:pt x="188617" y="1412520"/>
                  </a:lnTo>
                  <a:lnTo>
                    <a:pt x="144275" y="1398756"/>
                  </a:lnTo>
                  <a:lnTo>
                    <a:pt x="104149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4"/>
                  </a:lnTo>
                  <a:lnTo>
                    <a:pt x="0" y="236224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477004" y="4866363"/>
            <a:ext cx="2136140" cy="504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8.</a:t>
            </a:r>
            <a:r>
              <a:rPr sz="13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4233C"/>
                </a:solidFill>
                <a:latin typeface="Trebuchet MS"/>
                <a:cs typeface="Trebuchet MS"/>
              </a:rPr>
              <a:t>Recommendation</a:t>
            </a:r>
            <a:r>
              <a:rPr sz="13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14233C"/>
                </a:solidFill>
                <a:latin typeface="Trebuchet MS"/>
                <a:cs typeface="Trebuchet MS"/>
              </a:rPr>
              <a:t>Engine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Generates 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N-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P-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K,</a:t>
            </a:r>
            <a:r>
              <a:rPr sz="1100" spc="-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water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100" spc="-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100" spc="-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advice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860415" y="4813826"/>
            <a:ext cx="3909060" cy="1510030"/>
            <a:chOff x="7860415" y="4813826"/>
            <a:chExt cx="3909060" cy="1510030"/>
          </a:xfrm>
        </p:grpSpPr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0415" y="5419108"/>
              <a:ext cx="354320" cy="29945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900415" y="5436107"/>
              <a:ext cx="274320" cy="219710"/>
            </a:xfrm>
            <a:custGeom>
              <a:avLst/>
              <a:gdLst/>
              <a:ahLst/>
              <a:cxnLst/>
              <a:rect l="l" t="t" r="r" b="b"/>
              <a:pathLst>
                <a:path w="274320" h="219710">
                  <a:moveTo>
                    <a:pt x="164591" y="219456"/>
                  </a:moveTo>
                  <a:lnTo>
                    <a:pt x="164591" y="164592"/>
                  </a:lnTo>
                  <a:lnTo>
                    <a:pt x="0" y="164592"/>
                  </a:lnTo>
                  <a:lnTo>
                    <a:pt x="0" y="54864"/>
                  </a:lnTo>
                  <a:lnTo>
                    <a:pt x="164591" y="54864"/>
                  </a:lnTo>
                  <a:lnTo>
                    <a:pt x="164591" y="0"/>
                  </a:lnTo>
                  <a:lnTo>
                    <a:pt x="274320" y="109728"/>
                  </a:lnTo>
                  <a:lnTo>
                    <a:pt x="164591" y="219456"/>
                  </a:lnTo>
                  <a:close/>
                </a:path>
              </a:pathLst>
            </a:custGeom>
            <a:solidFill>
              <a:srgbClr val="2278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1538" y="4813826"/>
              <a:ext cx="3567420" cy="151002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247888" y="4837176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3238495" y="1417319"/>
                  </a:moveTo>
                  <a:lnTo>
                    <a:pt x="236224" y="1417319"/>
                  </a:lnTo>
                  <a:lnTo>
                    <a:pt x="188616" y="1412520"/>
                  </a:lnTo>
                  <a:lnTo>
                    <a:pt x="144275" y="1398756"/>
                  </a:lnTo>
                  <a:lnTo>
                    <a:pt x="104148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4"/>
                  </a:lnTo>
                  <a:lnTo>
                    <a:pt x="0" y="236224"/>
                  </a:ln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8" y="40343"/>
                  </a:lnTo>
                  <a:lnTo>
                    <a:pt x="144275" y="18563"/>
                  </a:lnTo>
                  <a:lnTo>
                    <a:pt x="188616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6"/>
                  </a:lnTo>
                  <a:lnTo>
                    <a:pt x="3456737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4"/>
                  </a:lnTo>
                  <a:lnTo>
                    <a:pt x="3469920" y="1228702"/>
                  </a:lnTo>
                  <a:lnTo>
                    <a:pt x="3456155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close/>
                </a:path>
              </a:pathLst>
            </a:custGeom>
            <a:solidFill>
              <a:srgbClr val="EB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247888" y="4837176"/>
              <a:ext cx="3474720" cy="1417320"/>
            </a:xfrm>
            <a:custGeom>
              <a:avLst/>
              <a:gdLst/>
              <a:ahLst/>
              <a:cxnLst/>
              <a:rect l="l" t="t" r="r" b="b"/>
              <a:pathLst>
                <a:path w="3474720" h="1417320">
                  <a:moveTo>
                    <a:pt x="0" y="236224"/>
                  </a:moveTo>
                  <a:lnTo>
                    <a:pt x="4799" y="188617"/>
                  </a:lnTo>
                  <a:lnTo>
                    <a:pt x="18563" y="144275"/>
                  </a:lnTo>
                  <a:lnTo>
                    <a:pt x="40343" y="104149"/>
                  </a:lnTo>
                  <a:lnTo>
                    <a:pt x="69188" y="69188"/>
                  </a:lnTo>
                  <a:lnTo>
                    <a:pt x="104148" y="40343"/>
                  </a:lnTo>
                  <a:lnTo>
                    <a:pt x="144275" y="18563"/>
                  </a:lnTo>
                  <a:lnTo>
                    <a:pt x="188616" y="4799"/>
                  </a:lnTo>
                  <a:lnTo>
                    <a:pt x="236224" y="0"/>
                  </a:lnTo>
                  <a:lnTo>
                    <a:pt x="3238495" y="0"/>
                  </a:lnTo>
                  <a:lnTo>
                    <a:pt x="3284795" y="4580"/>
                  </a:lnTo>
                  <a:lnTo>
                    <a:pt x="3328894" y="17981"/>
                  </a:lnTo>
                  <a:lnTo>
                    <a:pt x="3369552" y="39688"/>
                  </a:lnTo>
                  <a:lnTo>
                    <a:pt x="3405531" y="69188"/>
                  </a:lnTo>
                  <a:lnTo>
                    <a:pt x="3435031" y="105166"/>
                  </a:lnTo>
                  <a:lnTo>
                    <a:pt x="3456737" y="145825"/>
                  </a:lnTo>
                  <a:lnTo>
                    <a:pt x="3470138" y="189924"/>
                  </a:lnTo>
                  <a:lnTo>
                    <a:pt x="3474719" y="236224"/>
                  </a:lnTo>
                  <a:lnTo>
                    <a:pt x="3474719" y="1181094"/>
                  </a:lnTo>
                  <a:lnTo>
                    <a:pt x="3469920" y="1228702"/>
                  </a:lnTo>
                  <a:lnTo>
                    <a:pt x="3456155" y="1273044"/>
                  </a:lnTo>
                  <a:lnTo>
                    <a:pt x="3434376" y="1313170"/>
                  </a:lnTo>
                  <a:lnTo>
                    <a:pt x="3405531" y="1348131"/>
                  </a:lnTo>
                  <a:lnTo>
                    <a:pt x="3370570" y="1376976"/>
                  </a:lnTo>
                  <a:lnTo>
                    <a:pt x="3330444" y="1398756"/>
                  </a:lnTo>
                  <a:lnTo>
                    <a:pt x="3286102" y="1412520"/>
                  </a:lnTo>
                  <a:lnTo>
                    <a:pt x="3238495" y="1417319"/>
                  </a:lnTo>
                  <a:lnTo>
                    <a:pt x="236224" y="1417319"/>
                  </a:lnTo>
                  <a:lnTo>
                    <a:pt x="188616" y="1412520"/>
                  </a:lnTo>
                  <a:lnTo>
                    <a:pt x="144275" y="1398756"/>
                  </a:lnTo>
                  <a:lnTo>
                    <a:pt x="104148" y="1376976"/>
                  </a:lnTo>
                  <a:lnTo>
                    <a:pt x="69188" y="1348131"/>
                  </a:lnTo>
                  <a:lnTo>
                    <a:pt x="40343" y="1313170"/>
                  </a:lnTo>
                  <a:lnTo>
                    <a:pt x="18563" y="1273044"/>
                  </a:lnTo>
                  <a:lnTo>
                    <a:pt x="4799" y="1228702"/>
                  </a:lnTo>
                  <a:lnTo>
                    <a:pt x="0" y="1181094"/>
                  </a:lnTo>
                  <a:lnTo>
                    <a:pt x="0" y="236224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372348" y="4866363"/>
            <a:ext cx="2498725" cy="504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b="1" dirty="0">
                <a:solidFill>
                  <a:srgbClr val="1F6EA5"/>
                </a:solidFill>
                <a:latin typeface="Trebuchet MS"/>
                <a:cs typeface="Trebuchet MS"/>
              </a:rPr>
              <a:t>9.</a:t>
            </a:r>
            <a:r>
              <a:rPr sz="1300" b="1" spc="-2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1F6EA5"/>
                </a:solidFill>
                <a:latin typeface="Trebuchet MS"/>
                <a:cs typeface="Trebuchet MS"/>
              </a:rPr>
              <a:t>Farmer</a:t>
            </a:r>
            <a:r>
              <a:rPr sz="1300" b="1" spc="-2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1F6EA5"/>
                </a:solidFill>
                <a:latin typeface="Trebuchet MS"/>
                <a:cs typeface="Trebuchet MS"/>
              </a:rPr>
              <a:t>Dashboard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Displays</a:t>
            </a:r>
            <a:r>
              <a:rPr sz="11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health,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yield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'What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529"/>
                </a:solidFill>
                <a:latin typeface="Calibri"/>
                <a:cs typeface="Calibri"/>
              </a:rPr>
              <a:t>do</a:t>
            </a:r>
            <a:r>
              <a:rPr sz="11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529"/>
                </a:solidFill>
                <a:latin typeface="Calibri"/>
                <a:cs typeface="Calibri"/>
              </a:rPr>
              <a:t>today?'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1" name="object 6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200" y="6200920"/>
            <a:ext cx="11357295" cy="491480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457200" y="6217920"/>
            <a:ext cx="11277600" cy="411480"/>
          </a:xfrm>
          <a:prstGeom prst="rect">
            <a:avLst/>
          </a:prstGeom>
          <a:solidFill>
            <a:srgbClr val="14233C"/>
          </a:solidFill>
        </p:spPr>
        <p:txBody>
          <a:bodyPr vert="horz" wrap="square" lIns="0" tIns="124460" rIns="0" bIns="0" rtlCol="0">
            <a:spAutoFit/>
          </a:bodyPr>
          <a:lstStyle/>
          <a:p>
            <a:pPr marL="1238250">
              <a:lnSpc>
                <a:spcPct val="100000"/>
              </a:lnSpc>
              <a:spcBef>
                <a:spcPts val="980"/>
              </a:spcBef>
            </a:pP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Pipeline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Summary: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Farmer</a:t>
            </a:r>
            <a:r>
              <a:rPr sz="10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React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UI</a:t>
            </a:r>
            <a:r>
              <a:rPr sz="10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FastAPI</a:t>
            </a:r>
            <a:r>
              <a:rPr sz="10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REST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Preprocessing</a:t>
            </a:r>
            <a:r>
              <a:rPr sz="10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ML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Models</a:t>
            </a:r>
            <a:r>
              <a:rPr sz="10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Evaluation</a:t>
            </a:r>
            <a:r>
              <a:rPr sz="10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Prediction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10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Recommendations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1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Trebuchet MS"/>
                <a:cs typeface="Trebuchet MS"/>
              </a:rPr>
              <a:t>Dashboard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366267"/>
            <a:ext cx="7759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SLIDE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3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OF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spc="-50" dirty="0">
                <a:solidFill>
                  <a:srgbClr val="22783E"/>
                </a:solidFill>
                <a:latin typeface="Trebuchet MS"/>
                <a:cs typeface="Trebuchet MS"/>
              </a:rPr>
              <a:t>7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100" y="484493"/>
            <a:ext cx="4458970" cy="5829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Slide</a:t>
            </a:r>
            <a:r>
              <a:rPr spc="-50" dirty="0"/>
              <a:t> </a:t>
            </a:r>
            <a:r>
              <a:rPr dirty="0"/>
              <a:t>3</a:t>
            </a:r>
            <a:r>
              <a:rPr spc="-5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Module</a:t>
            </a:r>
            <a:r>
              <a:rPr spc="-50" dirty="0"/>
              <a:t> </a:t>
            </a:r>
            <a:r>
              <a:rPr spc="-10" dirty="0"/>
              <a:t>Design</a:t>
            </a: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Functional</a:t>
            </a:r>
            <a:r>
              <a:rPr sz="1100" b="0" spc="-2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Description</a:t>
            </a:r>
            <a:r>
              <a:rPr sz="1100" b="0" spc="-2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&amp;</a:t>
            </a:r>
            <a:r>
              <a:rPr sz="1100" b="0" spc="-2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Operational</a:t>
            </a:r>
            <a:r>
              <a:rPr sz="1100" b="0" spc="-2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Responsibilities</a:t>
            </a:r>
            <a:r>
              <a:rPr sz="1100" b="0" spc="-2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of</a:t>
            </a:r>
            <a:r>
              <a:rPr sz="1100" b="0" spc="-2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Core</a:t>
            </a:r>
            <a:r>
              <a:rPr sz="1100" b="0" spc="-2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System</a:t>
            </a:r>
            <a:r>
              <a:rPr sz="1100" b="0" spc="-2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Modules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0850" y="1348250"/>
            <a:ext cx="5533390" cy="1665605"/>
            <a:chOff x="410850" y="1348250"/>
            <a:chExt cx="5533390" cy="16656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850" y="1348250"/>
              <a:ext cx="5533380" cy="16654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1371600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5178546" y="1572767"/>
                  </a:moveTo>
                  <a:lnTo>
                    <a:pt x="262133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9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3"/>
                  </a:ln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3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7"/>
                  </a:lnTo>
                  <a:lnTo>
                    <a:pt x="5396638" y="116701"/>
                  </a:lnTo>
                  <a:lnTo>
                    <a:pt x="5420726" y="161819"/>
                  </a:lnTo>
                  <a:lnTo>
                    <a:pt x="5435596" y="210754"/>
                  </a:lnTo>
                  <a:lnTo>
                    <a:pt x="5440679" y="262133"/>
                  </a:lnTo>
                  <a:lnTo>
                    <a:pt x="5440679" y="1310634"/>
                  </a:lnTo>
                  <a:lnTo>
                    <a:pt x="5436456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6" y="1511117"/>
                  </a:lnTo>
                  <a:lnTo>
                    <a:pt x="5310850" y="1536979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371600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0" y="262133"/>
                  </a:move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3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7"/>
                  </a:lnTo>
                  <a:lnTo>
                    <a:pt x="5396638" y="116701"/>
                  </a:lnTo>
                  <a:lnTo>
                    <a:pt x="5420726" y="161819"/>
                  </a:lnTo>
                  <a:lnTo>
                    <a:pt x="5435596" y="210754"/>
                  </a:lnTo>
                  <a:lnTo>
                    <a:pt x="5440679" y="262133"/>
                  </a:lnTo>
                  <a:lnTo>
                    <a:pt x="5440679" y="1310634"/>
                  </a:lnTo>
                  <a:lnTo>
                    <a:pt x="5436456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6" y="1511117"/>
                  </a:lnTo>
                  <a:lnTo>
                    <a:pt x="5310850" y="1536979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lnTo>
                    <a:pt x="262133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9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3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1660" y="1373327"/>
            <a:ext cx="4871085" cy="10509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234315" algn="l"/>
              </a:tabLst>
            </a:pP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User</a:t>
            </a:r>
            <a:r>
              <a:rPr sz="1400" b="1" spc="-2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Input</a:t>
            </a:r>
            <a:r>
              <a:rPr sz="1400" b="1" spc="-2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F6EA5"/>
                </a:solidFill>
                <a:latin typeface="Trebuchet MS"/>
                <a:cs typeface="Trebuchet MS"/>
              </a:rPr>
              <a:t>Module</a:t>
            </a:r>
            <a:endParaRPr sz="1400">
              <a:latin typeface="Trebuchet MS"/>
              <a:cs typeface="Trebuchet MS"/>
            </a:endParaRPr>
          </a:p>
          <a:p>
            <a:pPr marL="12700" marR="71755" lvl="1" indent="90805">
              <a:lnSpc>
                <a:spcPct val="100000"/>
              </a:lnSpc>
              <a:spcBef>
                <a:spcPts val="495"/>
              </a:spcBef>
              <a:buChar char="•"/>
              <a:tabLst>
                <a:tab pos="103505" algn="l"/>
              </a:tabLst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Captures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nutrients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(pH,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N,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P,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K),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meteorological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data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(temp,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humidity,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rain),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crop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age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 irrigation.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Provides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intuitive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React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web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form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with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visual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sliders,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preset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defaults,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field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validation.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Sends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structured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JSON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payloads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securely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to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backend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FastAPI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REST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service.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44722" y="1348250"/>
            <a:ext cx="5533390" cy="1665605"/>
            <a:chOff x="6244722" y="1348250"/>
            <a:chExt cx="5533390" cy="16656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4722" y="1348250"/>
              <a:ext cx="5533380" cy="16654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91072" y="1371600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5178546" y="1572767"/>
                  </a:moveTo>
                  <a:lnTo>
                    <a:pt x="262132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9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3"/>
                  </a:ln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2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7"/>
                  </a:lnTo>
                  <a:lnTo>
                    <a:pt x="5396638" y="116701"/>
                  </a:lnTo>
                  <a:lnTo>
                    <a:pt x="5420726" y="161819"/>
                  </a:lnTo>
                  <a:lnTo>
                    <a:pt x="5435597" y="210754"/>
                  </a:lnTo>
                  <a:lnTo>
                    <a:pt x="5440680" y="262133"/>
                  </a:lnTo>
                  <a:lnTo>
                    <a:pt x="5440680" y="1310634"/>
                  </a:lnTo>
                  <a:lnTo>
                    <a:pt x="5436457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5" y="1511117"/>
                  </a:lnTo>
                  <a:lnTo>
                    <a:pt x="5310850" y="1536979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1072" y="1371600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0" y="262133"/>
                  </a:move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2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7"/>
                  </a:lnTo>
                  <a:lnTo>
                    <a:pt x="5396638" y="116701"/>
                  </a:lnTo>
                  <a:lnTo>
                    <a:pt x="5420726" y="161819"/>
                  </a:lnTo>
                  <a:lnTo>
                    <a:pt x="5435597" y="210754"/>
                  </a:lnTo>
                  <a:lnTo>
                    <a:pt x="5440680" y="262133"/>
                  </a:lnTo>
                  <a:lnTo>
                    <a:pt x="5440680" y="1310634"/>
                  </a:lnTo>
                  <a:lnTo>
                    <a:pt x="5436457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5" y="1511117"/>
                  </a:lnTo>
                  <a:lnTo>
                    <a:pt x="5310850" y="1536979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lnTo>
                    <a:pt x="262132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9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3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15532" y="1373327"/>
            <a:ext cx="4752975" cy="8985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795"/>
              </a:spcBef>
              <a:buAutoNum type="arabicPeriod" startAt="2"/>
              <a:tabLst>
                <a:tab pos="234315" algn="l"/>
              </a:tabLst>
            </a:pPr>
            <a:r>
              <a:rPr sz="1400" b="1" dirty="0">
                <a:solidFill>
                  <a:srgbClr val="D75F2D"/>
                </a:solidFill>
                <a:latin typeface="Trebuchet MS"/>
                <a:cs typeface="Trebuchet MS"/>
              </a:rPr>
              <a:t>Input</a:t>
            </a:r>
            <a:r>
              <a:rPr sz="1400" b="1" spc="-30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75F2D"/>
                </a:solidFill>
                <a:latin typeface="Trebuchet MS"/>
                <a:cs typeface="Trebuchet MS"/>
              </a:rPr>
              <a:t>Validation</a:t>
            </a:r>
            <a:r>
              <a:rPr sz="1400" b="1" spc="-2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75F2D"/>
                </a:solidFill>
                <a:latin typeface="Trebuchet MS"/>
                <a:cs typeface="Trebuchet MS"/>
              </a:rPr>
              <a:t>&amp;</a:t>
            </a:r>
            <a:r>
              <a:rPr sz="1400" b="1" spc="-2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75F2D"/>
                </a:solidFill>
                <a:latin typeface="Trebuchet MS"/>
                <a:cs typeface="Trebuchet MS"/>
              </a:rPr>
              <a:t>Preprocessing</a:t>
            </a:r>
            <a:endParaRPr sz="1400">
              <a:latin typeface="Trebuchet MS"/>
              <a:cs typeface="Trebuchet MS"/>
            </a:endParaRPr>
          </a:p>
          <a:p>
            <a:pPr marL="103505" lvl="1" indent="-90805">
              <a:lnSpc>
                <a:spcPct val="100000"/>
              </a:lnSpc>
              <a:spcBef>
                <a:spcPts val="495"/>
              </a:spcBef>
              <a:buChar char="•"/>
              <a:tabLst>
                <a:tab pos="103505" algn="l"/>
              </a:tabLst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Checks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input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parameter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range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correctness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flags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erroneous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entries.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Imputes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missing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values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applies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feature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scaling/normalization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for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ML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model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 readiness.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Performs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feature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extraction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formatting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into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standard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numerical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matrices.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10850" y="3067322"/>
            <a:ext cx="5533390" cy="1665605"/>
            <a:chOff x="410850" y="3067322"/>
            <a:chExt cx="5533390" cy="166560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850" y="3067322"/>
              <a:ext cx="5533380" cy="166546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57200" y="3090671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5178546" y="1572767"/>
                  </a:moveTo>
                  <a:lnTo>
                    <a:pt x="262133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9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2"/>
                  </a:ln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3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6"/>
                  </a:lnTo>
                  <a:lnTo>
                    <a:pt x="5396638" y="116701"/>
                  </a:lnTo>
                  <a:lnTo>
                    <a:pt x="5420726" y="161819"/>
                  </a:lnTo>
                  <a:lnTo>
                    <a:pt x="5435596" y="210754"/>
                  </a:lnTo>
                  <a:lnTo>
                    <a:pt x="5440679" y="262132"/>
                  </a:lnTo>
                  <a:lnTo>
                    <a:pt x="5440679" y="1310634"/>
                  </a:lnTo>
                  <a:lnTo>
                    <a:pt x="5436456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6" y="1511117"/>
                  </a:lnTo>
                  <a:lnTo>
                    <a:pt x="5310850" y="1536979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" y="3090671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0" y="262132"/>
                  </a:move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3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6"/>
                  </a:lnTo>
                  <a:lnTo>
                    <a:pt x="5396638" y="116701"/>
                  </a:lnTo>
                  <a:lnTo>
                    <a:pt x="5420726" y="161819"/>
                  </a:lnTo>
                  <a:lnTo>
                    <a:pt x="5435596" y="210754"/>
                  </a:lnTo>
                  <a:lnTo>
                    <a:pt x="5440679" y="262132"/>
                  </a:lnTo>
                  <a:lnTo>
                    <a:pt x="5440679" y="1310634"/>
                  </a:lnTo>
                  <a:lnTo>
                    <a:pt x="5436456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6" y="1511117"/>
                  </a:lnTo>
                  <a:lnTo>
                    <a:pt x="5310850" y="1536979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lnTo>
                    <a:pt x="262133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9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2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81660" y="3092399"/>
            <a:ext cx="5039360" cy="8985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795"/>
              </a:spcBef>
              <a:buAutoNum type="arabicPeriod" startAt="3"/>
              <a:tabLst>
                <a:tab pos="234315" algn="l"/>
              </a:tabLst>
            </a:pP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Machine</a:t>
            </a:r>
            <a:r>
              <a:rPr sz="1400" b="1" spc="-45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Learning</a:t>
            </a:r>
            <a:r>
              <a:rPr sz="1400" b="1" spc="-4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Prediction</a:t>
            </a:r>
            <a:r>
              <a:rPr sz="1400" b="1" spc="-4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22783E"/>
                </a:solidFill>
                <a:latin typeface="Trebuchet MS"/>
                <a:cs typeface="Trebuchet MS"/>
              </a:rPr>
              <a:t>Engine</a:t>
            </a:r>
            <a:endParaRPr sz="1400">
              <a:latin typeface="Trebuchet MS"/>
              <a:cs typeface="Trebuchet MS"/>
            </a:endParaRPr>
          </a:p>
          <a:p>
            <a:pPr marL="103505" lvl="1" indent="-90805">
              <a:lnSpc>
                <a:spcPct val="100000"/>
              </a:lnSpc>
              <a:spcBef>
                <a:spcPts val="495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Hosts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four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regression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algorithms: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Decision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Tree,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Random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Forest,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Gradient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Boosting,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XGBoost.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Learns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non-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linear</a:t>
            </a:r>
            <a:r>
              <a:rPr sz="1000" spc="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relationships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between</a:t>
            </a:r>
            <a:r>
              <a:rPr sz="1000" spc="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soil/weather</a:t>
            </a:r>
            <a:r>
              <a:rPr sz="1000" spc="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inputs and</a:t>
            </a:r>
            <a:r>
              <a:rPr sz="1000" spc="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sugarcane</a:t>
            </a:r>
            <a:r>
              <a:rPr sz="1000" spc="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growth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metrics.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Executes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concurrent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batch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inference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during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validation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runtime.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44722" y="3067322"/>
            <a:ext cx="5533390" cy="1665605"/>
            <a:chOff x="6244722" y="3067322"/>
            <a:chExt cx="5533390" cy="166560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4722" y="3067322"/>
              <a:ext cx="5533380" cy="166546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91072" y="3090671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5178546" y="1572767"/>
                  </a:moveTo>
                  <a:lnTo>
                    <a:pt x="262132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9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2"/>
                  </a:ln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2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6"/>
                  </a:lnTo>
                  <a:lnTo>
                    <a:pt x="5396638" y="116701"/>
                  </a:lnTo>
                  <a:lnTo>
                    <a:pt x="5420726" y="161819"/>
                  </a:lnTo>
                  <a:lnTo>
                    <a:pt x="5435597" y="210754"/>
                  </a:lnTo>
                  <a:lnTo>
                    <a:pt x="5440680" y="262132"/>
                  </a:lnTo>
                  <a:lnTo>
                    <a:pt x="5440680" y="1310634"/>
                  </a:lnTo>
                  <a:lnTo>
                    <a:pt x="5436457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5" y="1511117"/>
                  </a:lnTo>
                  <a:lnTo>
                    <a:pt x="5310850" y="1536979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91072" y="3090671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0" y="262132"/>
                  </a:move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2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6"/>
                  </a:lnTo>
                  <a:lnTo>
                    <a:pt x="5396638" y="116701"/>
                  </a:lnTo>
                  <a:lnTo>
                    <a:pt x="5420726" y="161819"/>
                  </a:lnTo>
                  <a:lnTo>
                    <a:pt x="5435597" y="210754"/>
                  </a:lnTo>
                  <a:lnTo>
                    <a:pt x="5440680" y="262132"/>
                  </a:lnTo>
                  <a:lnTo>
                    <a:pt x="5440680" y="1310634"/>
                  </a:lnTo>
                  <a:lnTo>
                    <a:pt x="5436457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5" y="1511117"/>
                  </a:lnTo>
                  <a:lnTo>
                    <a:pt x="5310850" y="1536979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lnTo>
                    <a:pt x="262132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9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2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415532" y="3092399"/>
            <a:ext cx="5002530" cy="8985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795"/>
              </a:spcBef>
              <a:buAutoNum type="arabicPeriod" startAt="4"/>
              <a:tabLst>
                <a:tab pos="234315" algn="l"/>
              </a:tabLst>
            </a:pP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Best</a:t>
            </a:r>
            <a:r>
              <a:rPr sz="14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Model</a:t>
            </a:r>
            <a:r>
              <a:rPr sz="14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Selection</a:t>
            </a:r>
            <a:r>
              <a:rPr sz="14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4233C"/>
                </a:solidFill>
                <a:latin typeface="Trebuchet MS"/>
                <a:cs typeface="Trebuchet MS"/>
              </a:rPr>
              <a:t>Module</a:t>
            </a:r>
            <a:endParaRPr sz="1400">
              <a:latin typeface="Trebuchet MS"/>
              <a:cs typeface="Trebuchet MS"/>
            </a:endParaRPr>
          </a:p>
          <a:p>
            <a:pPr marL="103505" lvl="1" indent="-90805">
              <a:lnSpc>
                <a:spcPct val="100000"/>
              </a:lnSpc>
              <a:spcBef>
                <a:spcPts val="495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Evaluates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trained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models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using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Mean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Absolute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Error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(MAE),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RMSE,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R²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Score.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Dynamically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selects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the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best-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performing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model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based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on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empirical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validation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set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performance.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Ensures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no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model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is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hardcoded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or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biased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prior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to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evaluation.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0850" y="4786394"/>
            <a:ext cx="5533390" cy="1665605"/>
            <a:chOff x="410850" y="4786394"/>
            <a:chExt cx="5533390" cy="166560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850" y="4786394"/>
              <a:ext cx="5533380" cy="166546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57200" y="4809744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5178546" y="1572767"/>
                  </a:moveTo>
                  <a:lnTo>
                    <a:pt x="262133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8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3"/>
                  </a:ln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3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6"/>
                  </a:lnTo>
                  <a:lnTo>
                    <a:pt x="5396638" y="116701"/>
                  </a:lnTo>
                  <a:lnTo>
                    <a:pt x="5420726" y="161818"/>
                  </a:lnTo>
                  <a:lnTo>
                    <a:pt x="5435596" y="210754"/>
                  </a:lnTo>
                  <a:lnTo>
                    <a:pt x="5440679" y="262133"/>
                  </a:lnTo>
                  <a:lnTo>
                    <a:pt x="5440679" y="1310634"/>
                  </a:lnTo>
                  <a:lnTo>
                    <a:pt x="5436456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6" y="1511117"/>
                  </a:lnTo>
                  <a:lnTo>
                    <a:pt x="5310850" y="1536978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200" y="4809744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0" y="262133"/>
                  </a:move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3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6"/>
                  </a:lnTo>
                  <a:lnTo>
                    <a:pt x="5396638" y="116701"/>
                  </a:lnTo>
                  <a:lnTo>
                    <a:pt x="5420726" y="161818"/>
                  </a:lnTo>
                  <a:lnTo>
                    <a:pt x="5435596" y="210754"/>
                  </a:lnTo>
                  <a:lnTo>
                    <a:pt x="5440679" y="262133"/>
                  </a:lnTo>
                  <a:lnTo>
                    <a:pt x="5440679" y="1310634"/>
                  </a:lnTo>
                  <a:lnTo>
                    <a:pt x="5436456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6" y="1511117"/>
                  </a:lnTo>
                  <a:lnTo>
                    <a:pt x="5310850" y="1536978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lnTo>
                    <a:pt x="262133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8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3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81660" y="4811471"/>
            <a:ext cx="4780915" cy="8985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795"/>
              </a:spcBef>
              <a:buAutoNum type="arabicPeriod" startAt="5"/>
              <a:tabLst>
                <a:tab pos="234315" algn="l"/>
              </a:tabLst>
            </a:pP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Intelligent</a:t>
            </a:r>
            <a:r>
              <a:rPr sz="1400" b="1" spc="-65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Recommendation</a:t>
            </a:r>
            <a:r>
              <a:rPr sz="1400" b="1" spc="-6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22783E"/>
                </a:solidFill>
                <a:latin typeface="Trebuchet MS"/>
                <a:cs typeface="Trebuchet MS"/>
              </a:rPr>
              <a:t>Engine</a:t>
            </a:r>
            <a:endParaRPr sz="1400">
              <a:latin typeface="Trebuchet MS"/>
              <a:cs typeface="Trebuchet MS"/>
            </a:endParaRPr>
          </a:p>
          <a:p>
            <a:pPr marL="103505" lvl="1" indent="-90805">
              <a:lnSpc>
                <a:spcPct val="100000"/>
              </a:lnSpc>
              <a:spcBef>
                <a:spcPts val="495"/>
              </a:spcBef>
              <a:buChar char="•"/>
              <a:tabLst>
                <a:tab pos="103505" algn="l"/>
              </a:tabLst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Rule-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based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heuristic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advisory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mapping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deficits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to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optimal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fertilizer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dosage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(N-P-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K).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Schedules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irrigation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based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on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current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rainfall,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temperature,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crop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growth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stage.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Provides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health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treatment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(pH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balancing)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crop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management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practices.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44722" y="4786394"/>
            <a:ext cx="5533390" cy="1665605"/>
            <a:chOff x="6244722" y="4786394"/>
            <a:chExt cx="5533390" cy="166560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4722" y="4786394"/>
              <a:ext cx="5533380" cy="166546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291072" y="4809744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5178546" y="1572767"/>
                  </a:moveTo>
                  <a:lnTo>
                    <a:pt x="262132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8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3"/>
                  </a:ln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2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6"/>
                  </a:lnTo>
                  <a:lnTo>
                    <a:pt x="5396638" y="116701"/>
                  </a:lnTo>
                  <a:lnTo>
                    <a:pt x="5420726" y="161818"/>
                  </a:lnTo>
                  <a:lnTo>
                    <a:pt x="5435597" y="210754"/>
                  </a:lnTo>
                  <a:lnTo>
                    <a:pt x="5440680" y="262133"/>
                  </a:lnTo>
                  <a:lnTo>
                    <a:pt x="5440680" y="1310634"/>
                  </a:lnTo>
                  <a:lnTo>
                    <a:pt x="5436457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5" y="1511117"/>
                  </a:lnTo>
                  <a:lnTo>
                    <a:pt x="5310850" y="1536978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91072" y="4809744"/>
              <a:ext cx="5440680" cy="1572895"/>
            </a:xfrm>
            <a:custGeom>
              <a:avLst/>
              <a:gdLst/>
              <a:ahLst/>
              <a:cxnLst/>
              <a:rect l="l" t="t" r="r" b="b"/>
              <a:pathLst>
                <a:path w="5440680" h="1572895">
                  <a:moveTo>
                    <a:pt x="0" y="262133"/>
                  </a:moveTo>
                  <a:lnTo>
                    <a:pt x="4223" y="215014"/>
                  </a:lnTo>
                  <a:lnTo>
                    <a:pt x="16399" y="170666"/>
                  </a:lnTo>
                  <a:lnTo>
                    <a:pt x="35788" y="129829"/>
                  </a:lnTo>
                  <a:lnTo>
                    <a:pt x="61650" y="93244"/>
                  </a:lnTo>
                  <a:lnTo>
                    <a:pt x="93244" y="61650"/>
                  </a:lnTo>
                  <a:lnTo>
                    <a:pt x="129829" y="35788"/>
                  </a:lnTo>
                  <a:lnTo>
                    <a:pt x="170666" y="16399"/>
                  </a:lnTo>
                  <a:lnTo>
                    <a:pt x="215014" y="4223"/>
                  </a:lnTo>
                  <a:lnTo>
                    <a:pt x="262132" y="0"/>
                  </a:lnTo>
                  <a:lnTo>
                    <a:pt x="5178546" y="0"/>
                  </a:lnTo>
                  <a:lnTo>
                    <a:pt x="5229925" y="5083"/>
                  </a:lnTo>
                  <a:lnTo>
                    <a:pt x="5278860" y="19953"/>
                  </a:lnTo>
                  <a:lnTo>
                    <a:pt x="5323978" y="44041"/>
                  </a:lnTo>
                  <a:lnTo>
                    <a:pt x="5363902" y="76776"/>
                  </a:lnTo>
                  <a:lnTo>
                    <a:pt x="5396638" y="116701"/>
                  </a:lnTo>
                  <a:lnTo>
                    <a:pt x="5420726" y="161818"/>
                  </a:lnTo>
                  <a:lnTo>
                    <a:pt x="5435597" y="210754"/>
                  </a:lnTo>
                  <a:lnTo>
                    <a:pt x="5440680" y="262133"/>
                  </a:lnTo>
                  <a:lnTo>
                    <a:pt x="5440680" y="1310634"/>
                  </a:lnTo>
                  <a:lnTo>
                    <a:pt x="5436457" y="1357753"/>
                  </a:lnTo>
                  <a:lnTo>
                    <a:pt x="5424280" y="1402101"/>
                  </a:lnTo>
                  <a:lnTo>
                    <a:pt x="5404891" y="1442938"/>
                  </a:lnTo>
                  <a:lnTo>
                    <a:pt x="5379029" y="1479523"/>
                  </a:lnTo>
                  <a:lnTo>
                    <a:pt x="5347435" y="1511117"/>
                  </a:lnTo>
                  <a:lnTo>
                    <a:pt x="5310850" y="1536978"/>
                  </a:lnTo>
                  <a:lnTo>
                    <a:pt x="5270013" y="1556368"/>
                  </a:lnTo>
                  <a:lnTo>
                    <a:pt x="5225665" y="1568544"/>
                  </a:lnTo>
                  <a:lnTo>
                    <a:pt x="5178546" y="1572767"/>
                  </a:lnTo>
                  <a:lnTo>
                    <a:pt x="262132" y="1572767"/>
                  </a:lnTo>
                  <a:lnTo>
                    <a:pt x="215014" y="1568544"/>
                  </a:lnTo>
                  <a:lnTo>
                    <a:pt x="170666" y="1556368"/>
                  </a:lnTo>
                  <a:lnTo>
                    <a:pt x="129829" y="1536978"/>
                  </a:lnTo>
                  <a:lnTo>
                    <a:pt x="93244" y="1511117"/>
                  </a:lnTo>
                  <a:lnTo>
                    <a:pt x="61650" y="1479523"/>
                  </a:lnTo>
                  <a:lnTo>
                    <a:pt x="35788" y="1442938"/>
                  </a:lnTo>
                  <a:lnTo>
                    <a:pt x="16399" y="1402101"/>
                  </a:lnTo>
                  <a:lnTo>
                    <a:pt x="4223" y="1357753"/>
                  </a:lnTo>
                  <a:lnTo>
                    <a:pt x="0" y="1310634"/>
                  </a:lnTo>
                  <a:lnTo>
                    <a:pt x="0" y="262133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415532" y="4811471"/>
            <a:ext cx="4748530" cy="8985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795"/>
              </a:spcBef>
              <a:buAutoNum type="arabicPeriod" startAt="6"/>
              <a:tabLst>
                <a:tab pos="234315" algn="l"/>
              </a:tabLst>
            </a:pP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Farmer</a:t>
            </a:r>
            <a:r>
              <a:rPr sz="1400" b="1" spc="-4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Dashboard</a:t>
            </a:r>
            <a:r>
              <a:rPr sz="1400" b="1" spc="-3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F6EA5"/>
                </a:solidFill>
                <a:latin typeface="Trebuchet MS"/>
                <a:cs typeface="Trebuchet MS"/>
              </a:rPr>
              <a:t>Module</a:t>
            </a:r>
            <a:endParaRPr sz="1400">
              <a:latin typeface="Trebuchet MS"/>
              <a:cs typeface="Trebuchet MS"/>
            </a:endParaRPr>
          </a:p>
          <a:p>
            <a:pPr marL="103505" lvl="1" indent="-90805">
              <a:lnSpc>
                <a:spcPct val="100000"/>
              </a:lnSpc>
              <a:spcBef>
                <a:spcPts val="495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Renders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Growth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(%)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Estimated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Yield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(Tons/Ha)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in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simple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visual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gauges.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Displays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daily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actionable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advice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under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'What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should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do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today?'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without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technical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clutter.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Hides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complex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ML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metrics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to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ensure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clean,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accessible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user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experience.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366267"/>
            <a:ext cx="7759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SLIDE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4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OF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spc="-50" dirty="0">
                <a:solidFill>
                  <a:srgbClr val="22783E"/>
                </a:solidFill>
                <a:latin typeface="Trebuchet MS"/>
                <a:cs typeface="Trebuchet MS"/>
              </a:rPr>
              <a:t>7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100" y="484493"/>
            <a:ext cx="5153025" cy="5829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Slide</a:t>
            </a:r>
            <a:r>
              <a:rPr spc="-30" dirty="0"/>
              <a:t> </a:t>
            </a:r>
            <a:r>
              <a:rPr dirty="0"/>
              <a:t>4</a:t>
            </a:r>
            <a:r>
              <a:rPr spc="-25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dirty="0"/>
              <a:t>Database</a:t>
            </a:r>
            <a:r>
              <a:rPr spc="-25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dirty="0"/>
              <a:t>Workflow</a:t>
            </a:r>
            <a:r>
              <a:rPr spc="-25" dirty="0"/>
              <a:t> </a:t>
            </a:r>
            <a:r>
              <a:rPr spc="-10" dirty="0"/>
              <a:t>Design</a:t>
            </a: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Input</a:t>
            </a:r>
            <a:r>
              <a:rPr sz="1100" b="0" spc="-2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Feature</a:t>
            </a:r>
            <a:r>
              <a:rPr sz="1100" b="0" spc="-1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Specification,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Target</a:t>
            </a:r>
            <a:r>
              <a:rPr sz="1100" b="0" spc="-1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Attributes,</a:t>
            </a:r>
            <a:r>
              <a:rPr sz="1100" b="0" spc="-1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and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 End-to-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End</a:t>
            </a:r>
            <a:r>
              <a:rPr sz="1100" b="0" spc="-1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ML</a:t>
            </a:r>
            <a:r>
              <a:rPr sz="1100" b="0" spc="-1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Pipeline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 Sequence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0850" y="1348250"/>
            <a:ext cx="4207510" cy="5121910"/>
            <a:chOff x="410850" y="1348250"/>
            <a:chExt cx="4207510" cy="5121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850" y="1348250"/>
              <a:ext cx="4207500" cy="51219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1371600"/>
              <a:ext cx="4114800" cy="5029200"/>
            </a:xfrm>
            <a:custGeom>
              <a:avLst/>
              <a:gdLst/>
              <a:ahLst/>
              <a:cxnLst/>
              <a:rect l="l" t="t" r="r" b="b"/>
              <a:pathLst>
                <a:path w="4114800" h="5029200">
                  <a:moveTo>
                    <a:pt x="3428986" y="5029199"/>
                  </a:moveTo>
                  <a:lnTo>
                    <a:pt x="685813" y="5029199"/>
                  </a:lnTo>
                  <a:lnTo>
                    <a:pt x="636835" y="5027478"/>
                  </a:lnTo>
                  <a:lnTo>
                    <a:pt x="588787" y="5022389"/>
                  </a:lnTo>
                  <a:lnTo>
                    <a:pt x="541784" y="5014050"/>
                  </a:lnTo>
                  <a:lnTo>
                    <a:pt x="495942" y="5002577"/>
                  </a:lnTo>
                  <a:lnTo>
                    <a:pt x="451378" y="4988085"/>
                  </a:lnTo>
                  <a:lnTo>
                    <a:pt x="408208" y="4970691"/>
                  </a:lnTo>
                  <a:lnTo>
                    <a:pt x="366548" y="4950510"/>
                  </a:lnTo>
                  <a:lnTo>
                    <a:pt x="326513" y="4927659"/>
                  </a:lnTo>
                  <a:lnTo>
                    <a:pt x="288220" y="4902254"/>
                  </a:lnTo>
                  <a:lnTo>
                    <a:pt x="251785" y="4874411"/>
                  </a:lnTo>
                  <a:lnTo>
                    <a:pt x="217324" y="4844246"/>
                  </a:lnTo>
                  <a:lnTo>
                    <a:pt x="184953" y="4811875"/>
                  </a:lnTo>
                  <a:lnTo>
                    <a:pt x="154788" y="4777414"/>
                  </a:lnTo>
                  <a:lnTo>
                    <a:pt x="126944" y="4740979"/>
                  </a:lnTo>
                  <a:lnTo>
                    <a:pt x="101540" y="4702686"/>
                  </a:lnTo>
                  <a:lnTo>
                    <a:pt x="78689" y="4662651"/>
                  </a:lnTo>
                  <a:lnTo>
                    <a:pt x="58508" y="4620991"/>
                  </a:lnTo>
                  <a:lnTo>
                    <a:pt x="41114" y="4577821"/>
                  </a:lnTo>
                  <a:lnTo>
                    <a:pt x="26622" y="4533257"/>
                  </a:lnTo>
                  <a:lnTo>
                    <a:pt x="15149" y="4487415"/>
                  </a:lnTo>
                  <a:lnTo>
                    <a:pt x="6810" y="4440412"/>
                  </a:lnTo>
                  <a:lnTo>
                    <a:pt x="1721" y="4392364"/>
                  </a:lnTo>
                  <a:lnTo>
                    <a:pt x="0" y="4343386"/>
                  </a:lnTo>
                  <a:lnTo>
                    <a:pt x="0" y="685813"/>
                  </a:lnTo>
                  <a:lnTo>
                    <a:pt x="1721" y="636835"/>
                  </a:lnTo>
                  <a:lnTo>
                    <a:pt x="6810" y="588787"/>
                  </a:lnTo>
                  <a:lnTo>
                    <a:pt x="15149" y="541784"/>
                  </a:lnTo>
                  <a:lnTo>
                    <a:pt x="26622" y="495942"/>
                  </a:lnTo>
                  <a:lnTo>
                    <a:pt x="41114" y="451378"/>
                  </a:lnTo>
                  <a:lnTo>
                    <a:pt x="58508" y="408208"/>
                  </a:lnTo>
                  <a:lnTo>
                    <a:pt x="78689" y="366548"/>
                  </a:lnTo>
                  <a:lnTo>
                    <a:pt x="101540" y="326513"/>
                  </a:lnTo>
                  <a:lnTo>
                    <a:pt x="126944" y="288220"/>
                  </a:lnTo>
                  <a:lnTo>
                    <a:pt x="154788" y="251785"/>
                  </a:lnTo>
                  <a:lnTo>
                    <a:pt x="184953" y="217324"/>
                  </a:lnTo>
                  <a:lnTo>
                    <a:pt x="217324" y="184953"/>
                  </a:lnTo>
                  <a:lnTo>
                    <a:pt x="251785" y="154788"/>
                  </a:lnTo>
                  <a:lnTo>
                    <a:pt x="288220" y="126944"/>
                  </a:lnTo>
                  <a:lnTo>
                    <a:pt x="326513" y="101540"/>
                  </a:lnTo>
                  <a:lnTo>
                    <a:pt x="366548" y="78689"/>
                  </a:lnTo>
                  <a:lnTo>
                    <a:pt x="408208" y="58508"/>
                  </a:lnTo>
                  <a:lnTo>
                    <a:pt x="451378" y="41114"/>
                  </a:lnTo>
                  <a:lnTo>
                    <a:pt x="495942" y="26622"/>
                  </a:lnTo>
                  <a:lnTo>
                    <a:pt x="541784" y="15149"/>
                  </a:lnTo>
                  <a:lnTo>
                    <a:pt x="588787" y="6810"/>
                  </a:lnTo>
                  <a:lnTo>
                    <a:pt x="636835" y="1721"/>
                  </a:lnTo>
                  <a:lnTo>
                    <a:pt x="685813" y="0"/>
                  </a:lnTo>
                  <a:lnTo>
                    <a:pt x="3428986" y="0"/>
                  </a:lnTo>
                  <a:lnTo>
                    <a:pt x="3478378" y="1779"/>
                  </a:lnTo>
                  <a:lnTo>
                    <a:pt x="3527229" y="7070"/>
                  </a:lnTo>
                  <a:lnTo>
                    <a:pt x="3575363" y="15800"/>
                  </a:lnTo>
                  <a:lnTo>
                    <a:pt x="3622610" y="27898"/>
                  </a:lnTo>
                  <a:lnTo>
                    <a:pt x="3668795" y="43293"/>
                  </a:lnTo>
                  <a:lnTo>
                    <a:pt x="3713746" y="61912"/>
                  </a:lnTo>
                  <a:lnTo>
                    <a:pt x="3757289" y="83684"/>
                  </a:lnTo>
                  <a:lnTo>
                    <a:pt x="3799252" y="108538"/>
                  </a:lnTo>
                  <a:lnTo>
                    <a:pt x="3839462" y="136401"/>
                  </a:lnTo>
                  <a:lnTo>
                    <a:pt x="3877745" y="167202"/>
                  </a:lnTo>
                  <a:lnTo>
                    <a:pt x="3913929" y="200870"/>
                  </a:lnTo>
                  <a:lnTo>
                    <a:pt x="3947597" y="237054"/>
                  </a:lnTo>
                  <a:lnTo>
                    <a:pt x="3978398" y="275337"/>
                  </a:lnTo>
                  <a:lnTo>
                    <a:pt x="4006261" y="315547"/>
                  </a:lnTo>
                  <a:lnTo>
                    <a:pt x="4031115" y="357510"/>
                  </a:lnTo>
                  <a:lnTo>
                    <a:pt x="4052887" y="401053"/>
                  </a:lnTo>
                  <a:lnTo>
                    <a:pt x="4071506" y="446004"/>
                  </a:lnTo>
                  <a:lnTo>
                    <a:pt x="4086901" y="492189"/>
                  </a:lnTo>
                  <a:lnTo>
                    <a:pt x="4098999" y="539436"/>
                  </a:lnTo>
                  <a:lnTo>
                    <a:pt x="4107729" y="587570"/>
                  </a:lnTo>
                  <a:lnTo>
                    <a:pt x="4113020" y="636421"/>
                  </a:lnTo>
                  <a:lnTo>
                    <a:pt x="4114799" y="685813"/>
                  </a:lnTo>
                  <a:lnTo>
                    <a:pt x="4114799" y="4343386"/>
                  </a:lnTo>
                  <a:lnTo>
                    <a:pt x="4113078" y="4392364"/>
                  </a:lnTo>
                  <a:lnTo>
                    <a:pt x="4107989" y="4440412"/>
                  </a:lnTo>
                  <a:lnTo>
                    <a:pt x="4099650" y="4487415"/>
                  </a:lnTo>
                  <a:lnTo>
                    <a:pt x="4088177" y="4533257"/>
                  </a:lnTo>
                  <a:lnTo>
                    <a:pt x="4073685" y="4577821"/>
                  </a:lnTo>
                  <a:lnTo>
                    <a:pt x="4056291" y="4620991"/>
                  </a:lnTo>
                  <a:lnTo>
                    <a:pt x="4036110" y="4662651"/>
                  </a:lnTo>
                  <a:lnTo>
                    <a:pt x="4013259" y="4702686"/>
                  </a:lnTo>
                  <a:lnTo>
                    <a:pt x="3987854" y="4740979"/>
                  </a:lnTo>
                  <a:lnTo>
                    <a:pt x="3960011" y="4777414"/>
                  </a:lnTo>
                  <a:lnTo>
                    <a:pt x="3929846" y="4811875"/>
                  </a:lnTo>
                  <a:lnTo>
                    <a:pt x="3897475" y="4844246"/>
                  </a:lnTo>
                  <a:lnTo>
                    <a:pt x="3863014" y="4874411"/>
                  </a:lnTo>
                  <a:lnTo>
                    <a:pt x="3826579" y="4902254"/>
                  </a:lnTo>
                  <a:lnTo>
                    <a:pt x="3788286" y="4927659"/>
                  </a:lnTo>
                  <a:lnTo>
                    <a:pt x="3748251" y="4950510"/>
                  </a:lnTo>
                  <a:lnTo>
                    <a:pt x="3706591" y="4970691"/>
                  </a:lnTo>
                  <a:lnTo>
                    <a:pt x="3663421" y="4988085"/>
                  </a:lnTo>
                  <a:lnTo>
                    <a:pt x="3618857" y="5002577"/>
                  </a:lnTo>
                  <a:lnTo>
                    <a:pt x="3573015" y="5014050"/>
                  </a:lnTo>
                  <a:lnTo>
                    <a:pt x="3526012" y="5022389"/>
                  </a:lnTo>
                  <a:lnTo>
                    <a:pt x="3477964" y="5027478"/>
                  </a:lnTo>
                  <a:lnTo>
                    <a:pt x="3428986" y="502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371600"/>
              <a:ext cx="4114800" cy="5029200"/>
            </a:xfrm>
            <a:custGeom>
              <a:avLst/>
              <a:gdLst/>
              <a:ahLst/>
              <a:cxnLst/>
              <a:rect l="l" t="t" r="r" b="b"/>
              <a:pathLst>
                <a:path w="4114800" h="5029200">
                  <a:moveTo>
                    <a:pt x="0" y="685813"/>
                  </a:moveTo>
                  <a:lnTo>
                    <a:pt x="1721" y="636835"/>
                  </a:lnTo>
                  <a:lnTo>
                    <a:pt x="6810" y="588787"/>
                  </a:lnTo>
                  <a:lnTo>
                    <a:pt x="15149" y="541784"/>
                  </a:lnTo>
                  <a:lnTo>
                    <a:pt x="26622" y="495942"/>
                  </a:lnTo>
                  <a:lnTo>
                    <a:pt x="41114" y="451378"/>
                  </a:lnTo>
                  <a:lnTo>
                    <a:pt x="58508" y="408208"/>
                  </a:lnTo>
                  <a:lnTo>
                    <a:pt x="78689" y="366548"/>
                  </a:lnTo>
                  <a:lnTo>
                    <a:pt x="101540" y="326513"/>
                  </a:lnTo>
                  <a:lnTo>
                    <a:pt x="126944" y="288220"/>
                  </a:lnTo>
                  <a:lnTo>
                    <a:pt x="154788" y="251785"/>
                  </a:lnTo>
                  <a:lnTo>
                    <a:pt x="184953" y="217324"/>
                  </a:lnTo>
                  <a:lnTo>
                    <a:pt x="217324" y="184953"/>
                  </a:lnTo>
                  <a:lnTo>
                    <a:pt x="251785" y="154788"/>
                  </a:lnTo>
                  <a:lnTo>
                    <a:pt x="288220" y="126944"/>
                  </a:lnTo>
                  <a:lnTo>
                    <a:pt x="326513" y="101540"/>
                  </a:lnTo>
                  <a:lnTo>
                    <a:pt x="366548" y="78689"/>
                  </a:lnTo>
                  <a:lnTo>
                    <a:pt x="408208" y="58508"/>
                  </a:lnTo>
                  <a:lnTo>
                    <a:pt x="451378" y="41114"/>
                  </a:lnTo>
                  <a:lnTo>
                    <a:pt x="495942" y="26622"/>
                  </a:lnTo>
                  <a:lnTo>
                    <a:pt x="541784" y="15149"/>
                  </a:lnTo>
                  <a:lnTo>
                    <a:pt x="588787" y="6810"/>
                  </a:lnTo>
                  <a:lnTo>
                    <a:pt x="636835" y="1721"/>
                  </a:lnTo>
                  <a:lnTo>
                    <a:pt x="685813" y="0"/>
                  </a:lnTo>
                  <a:lnTo>
                    <a:pt x="3428986" y="0"/>
                  </a:lnTo>
                  <a:lnTo>
                    <a:pt x="3478378" y="1779"/>
                  </a:lnTo>
                  <a:lnTo>
                    <a:pt x="3527229" y="7070"/>
                  </a:lnTo>
                  <a:lnTo>
                    <a:pt x="3575363" y="15800"/>
                  </a:lnTo>
                  <a:lnTo>
                    <a:pt x="3622610" y="27898"/>
                  </a:lnTo>
                  <a:lnTo>
                    <a:pt x="3668795" y="43293"/>
                  </a:lnTo>
                  <a:lnTo>
                    <a:pt x="3713746" y="61912"/>
                  </a:lnTo>
                  <a:lnTo>
                    <a:pt x="3757289" y="83684"/>
                  </a:lnTo>
                  <a:lnTo>
                    <a:pt x="3799252" y="108538"/>
                  </a:lnTo>
                  <a:lnTo>
                    <a:pt x="3839462" y="136401"/>
                  </a:lnTo>
                  <a:lnTo>
                    <a:pt x="3877745" y="167202"/>
                  </a:lnTo>
                  <a:lnTo>
                    <a:pt x="3913929" y="200870"/>
                  </a:lnTo>
                  <a:lnTo>
                    <a:pt x="3947597" y="237054"/>
                  </a:lnTo>
                  <a:lnTo>
                    <a:pt x="3978398" y="275337"/>
                  </a:lnTo>
                  <a:lnTo>
                    <a:pt x="4006261" y="315547"/>
                  </a:lnTo>
                  <a:lnTo>
                    <a:pt x="4031115" y="357510"/>
                  </a:lnTo>
                  <a:lnTo>
                    <a:pt x="4052887" y="401053"/>
                  </a:lnTo>
                  <a:lnTo>
                    <a:pt x="4071506" y="446004"/>
                  </a:lnTo>
                  <a:lnTo>
                    <a:pt x="4086901" y="492189"/>
                  </a:lnTo>
                  <a:lnTo>
                    <a:pt x="4098999" y="539436"/>
                  </a:lnTo>
                  <a:lnTo>
                    <a:pt x="4107729" y="587570"/>
                  </a:lnTo>
                  <a:lnTo>
                    <a:pt x="4113020" y="636421"/>
                  </a:lnTo>
                  <a:lnTo>
                    <a:pt x="4114799" y="685813"/>
                  </a:lnTo>
                  <a:lnTo>
                    <a:pt x="4114799" y="4343386"/>
                  </a:lnTo>
                  <a:lnTo>
                    <a:pt x="4113078" y="4392364"/>
                  </a:lnTo>
                  <a:lnTo>
                    <a:pt x="4107989" y="4440412"/>
                  </a:lnTo>
                  <a:lnTo>
                    <a:pt x="4099650" y="4487415"/>
                  </a:lnTo>
                  <a:lnTo>
                    <a:pt x="4088177" y="4533257"/>
                  </a:lnTo>
                  <a:lnTo>
                    <a:pt x="4073685" y="4577821"/>
                  </a:lnTo>
                  <a:lnTo>
                    <a:pt x="4056291" y="4620991"/>
                  </a:lnTo>
                  <a:lnTo>
                    <a:pt x="4036110" y="4662651"/>
                  </a:lnTo>
                  <a:lnTo>
                    <a:pt x="4013259" y="4702686"/>
                  </a:lnTo>
                  <a:lnTo>
                    <a:pt x="3987854" y="4740979"/>
                  </a:lnTo>
                  <a:lnTo>
                    <a:pt x="3960011" y="4777414"/>
                  </a:lnTo>
                  <a:lnTo>
                    <a:pt x="3929846" y="4811875"/>
                  </a:lnTo>
                  <a:lnTo>
                    <a:pt x="3897475" y="4844246"/>
                  </a:lnTo>
                  <a:lnTo>
                    <a:pt x="3863014" y="4874411"/>
                  </a:lnTo>
                  <a:lnTo>
                    <a:pt x="3826579" y="4902254"/>
                  </a:lnTo>
                  <a:lnTo>
                    <a:pt x="3788286" y="4927659"/>
                  </a:lnTo>
                  <a:lnTo>
                    <a:pt x="3748251" y="4950510"/>
                  </a:lnTo>
                  <a:lnTo>
                    <a:pt x="3706591" y="4970691"/>
                  </a:lnTo>
                  <a:lnTo>
                    <a:pt x="3663421" y="4988085"/>
                  </a:lnTo>
                  <a:lnTo>
                    <a:pt x="3618857" y="5002577"/>
                  </a:lnTo>
                  <a:lnTo>
                    <a:pt x="3573015" y="5014050"/>
                  </a:lnTo>
                  <a:lnTo>
                    <a:pt x="3526012" y="5022389"/>
                  </a:lnTo>
                  <a:lnTo>
                    <a:pt x="3477964" y="5027478"/>
                  </a:lnTo>
                  <a:lnTo>
                    <a:pt x="3428986" y="5029199"/>
                  </a:lnTo>
                  <a:lnTo>
                    <a:pt x="685813" y="5029199"/>
                  </a:lnTo>
                  <a:lnTo>
                    <a:pt x="636835" y="5027478"/>
                  </a:lnTo>
                  <a:lnTo>
                    <a:pt x="588787" y="5022389"/>
                  </a:lnTo>
                  <a:lnTo>
                    <a:pt x="541784" y="5014050"/>
                  </a:lnTo>
                  <a:lnTo>
                    <a:pt x="495942" y="5002577"/>
                  </a:lnTo>
                  <a:lnTo>
                    <a:pt x="451378" y="4988085"/>
                  </a:lnTo>
                  <a:lnTo>
                    <a:pt x="408208" y="4970691"/>
                  </a:lnTo>
                  <a:lnTo>
                    <a:pt x="366548" y="4950510"/>
                  </a:lnTo>
                  <a:lnTo>
                    <a:pt x="326513" y="4927659"/>
                  </a:lnTo>
                  <a:lnTo>
                    <a:pt x="288220" y="4902254"/>
                  </a:lnTo>
                  <a:lnTo>
                    <a:pt x="251785" y="4874411"/>
                  </a:lnTo>
                  <a:lnTo>
                    <a:pt x="217324" y="4844246"/>
                  </a:lnTo>
                  <a:lnTo>
                    <a:pt x="184953" y="4811875"/>
                  </a:lnTo>
                  <a:lnTo>
                    <a:pt x="154788" y="4777414"/>
                  </a:lnTo>
                  <a:lnTo>
                    <a:pt x="126944" y="4740979"/>
                  </a:lnTo>
                  <a:lnTo>
                    <a:pt x="101540" y="4702686"/>
                  </a:lnTo>
                  <a:lnTo>
                    <a:pt x="78689" y="4662651"/>
                  </a:lnTo>
                  <a:lnTo>
                    <a:pt x="58508" y="4620991"/>
                  </a:lnTo>
                  <a:lnTo>
                    <a:pt x="41114" y="4577821"/>
                  </a:lnTo>
                  <a:lnTo>
                    <a:pt x="26622" y="4533257"/>
                  </a:lnTo>
                  <a:lnTo>
                    <a:pt x="15149" y="4487415"/>
                  </a:lnTo>
                  <a:lnTo>
                    <a:pt x="6810" y="4440412"/>
                  </a:lnTo>
                  <a:lnTo>
                    <a:pt x="1721" y="4392364"/>
                  </a:lnTo>
                  <a:lnTo>
                    <a:pt x="0" y="4343386"/>
                  </a:lnTo>
                  <a:lnTo>
                    <a:pt x="0" y="685813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1660" y="1461516"/>
            <a:ext cx="2769235" cy="1812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Dataset</a:t>
            </a:r>
            <a:r>
              <a:rPr sz="14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Features</a:t>
            </a:r>
            <a:r>
              <a:rPr sz="14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&amp;</a:t>
            </a:r>
            <a:r>
              <a:rPr sz="14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4233C"/>
                </a:solidFill>
                <a:latin typeface="Trebuchet MS"/>
                <a:cs typeface="Trebuchet MS"/>
              </a:rPr>
              <a:t>Targets</a:t>
            </a:r>
            <a:endParaRPr sz="1400">
              <a:latin typeface="Trebuchet MS"/>
              <a:cs typeface="Trebuchet MS"/>
            </a:endParaRPr>
          </a:p>
          <a:p>
            <a:pPr marL="40005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22783E"/>
                </a:solidFill>
                <a:latin typeface="Trebuchet MS"/>
                <a:cs typeface="Trebuchet MS"/>
              </a:rPr>
              <a:t>[Input</a:t>
            </a:r>
            <a:r>
              <a:rPr sz="1100" b="1" spc="-15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2783E"/>
                </a:solidFill>
                <a:latin typeface="Trebuchet MS"/>
                <a:cs typeface="Trebuchet MS"/>
              </a:rPr>
              <a:t>Features] Agricultural</a:t>
            </a:r>
            <a:r>
              <a:rPr sz="1100" b="1" spc="-15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2783E"/>
                </a:solidFill>
                <a:latin typeface="Trebuchet MS"/>
                <a:cs typeface="Trebuchet MS"/>
              </a:rPr>
              <a:t>Parameters:</a:t>
            </a:r>
            <a:endParaRPr sz="1100">
              <a:latin typeface="Trebuchet MS"/>
              <a:cs typeface="Trebuchet MS"/>
            </a:endParaRPr>
          </a:p>
          <a:p>
            <a:pPr marL="187960" indent="-90805">
              <a:lnSpc>
                <a:spcPct val="100000"/>
              </a:lnSpc>
              <a:spcBef>
                <a:spcPts val="405"/>
              </a:spcBef>
              <a:buChar char="•"/>
              <a:tabLst>
                <a:tab pos="187960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pH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(Acidity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/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Alkalinity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level)</a:t>
            </a:r>
            <a:endParaRPr sz="1000">
              <a:latin typeface="Calibri"/>
              <a:cs typeface="Calibri"/>
            </a:endParaRPr>
          </a:p>
          <a:p>
            <a:pPr marL="187960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87960" algn="l"/>
              </a:tabLst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Nitrogen</a:t>
            </a:r>
            <a:r>
              <a:rPr sz="1000" spc="-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(N)</a:t>
            </a:r>
            <a:r>
              <a:rPr sz="1000" spc="-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Content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(kg/ha)</a:t>
            </a:r>
            <a:endParaRPr sz="1000">
              <a:latin typeface="Calibri"/>
              <a:cs typeface="Calibri"/>
            </a:endParaRPr>
          </a:p>
          <a:p>
            <a:pPr marL="187960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87960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Phosphorus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(P)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Content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(kg/ha)</a:t>
            </a:r>
            <a:endParaRPr sz="1000">
              <a:latin typeface="Calibri"/>
              <a:cs typeface="Calibri"/>
            </a:endParaRPr>
          </a:p>
          <a:p>
            <a:pPr marL="187960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87960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Potassium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(K)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Content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(kg/ha)</a:t>
            </a:r>
            <a:endParaRPr sz="1000">
              <a:latin typeface="Calibri"/>
              <a:cs typeface="Calibri"/>
            </a:endParaRPr>
          </a:p>
          <a:p>
            <a:pPr marL="187960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87960" algn="l"/>
              </a:tabLst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Temperature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(°C)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Humidity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(%)</a:t>
            </a:r>
            <a:endParaRPr sz="1000">
              <a:latin typeface="Calibri"/>
              <a:cs typeface="Calibri"/>
            </a:endParaRPr>
          </a:p>
          <a:p>
            <a:pPr marL="187960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87960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Rainfall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(mm)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Irrigation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Details</a:t>
            </a:r>
            <a:endParaRPr sz="1000">
              <a:latin typeface="Calibri"/>
              <a:cs typeface="Calibri"/>
            </a:endParaRPr>
          </a:p>
          <a:p>
            <a:pPr marL="187960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87960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Crop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Age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(months)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Type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(optional)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092" y="3384753"/>
            <a:ext cx="2152015" cy="63119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100" b="1" spc="-10" dirty="0">
                <a:solidFill>
                  <a:srgbClr val="D75F2D"/>
                </a:solidFill>
                <a:latin typeface="Trebuchet MS"/>
                <a:cs typeface="Trebuchet MS"/>
              </a:rPr>
              <a:t>[Targets]</a:t>
            </a:r>
            <a:r>
              <a:rPr sz="1100" b="1" spc="-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75F2D"/>
                </a:solidFill>
                <a:latin typeface="Trebuchet MS"/>
                <a:cs typeface="Trebuchet MS"/>
              </a:rPr>
              <a:t>Prediction</a:t>
            </a:r>
            <a:r>
              <a:rPr sz="1100" b="1" spc="-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75F2D"/>
                </a:solidFill>
                <a:latin typeface="Trebuchet MS"/>
                <a:cs typeface="Trebuchet MS"/>
              </a:rPr>
              <a:t>Variables:</a:t>
            </a:r>
            <a:endParaRPr sz="1100">
              <a:latin typeface="Trebuchet MS"/>
              <a:cs typeface="Trebuchet MS"/>
            </a:endParaRPr>
          </a:p>
          <a:p>
            <a:pPr marL="160655" indent="-90805">
              <a:lnSpc>
                <a:spcPct val="100000"/>
              </a:lnSpc>
              <a:spcBef>
                <a:spcPts val="400"/>
              </a:spcBef>
              <a:buChar char="•"/>
              <a:tabLst>
                <a:tab pos="160655" algn="l"/>
              </a:tabLst>
            </a:pP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Sugarcane</a:t>
            </a:r>
            <a:r>
              <a:rPr sz="1000" b="1" spc="-3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4233C"/>
                </a:solidFill>
                <a:latin typeface="Calibri"/>
                <a:cs typeface="Calibri"/>
              </a:rPr>
              <a:t>Growth</a:t>
            </a:r>
            <a:r>
              <a:rPr sz="1000" b="1" spc="-30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Percentage</a:t>
            </a:r>
            <a:r>
              <a:rPr sz="1000" b="1" spc="-3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(%)</a:t>
            </a:r>
            <a:endParaRPr sz="1000">
              <a:latin typeface="Calibri"/>
              <a:cs typeface="Calibri"/>
            </a:endParaRPr>
          </a:p>
          <a:p>
            <a:pPr marL="160655" indent="-90805">
              <a:lnSpc>
                <a:spcPct val="100000"/>
              </a:lnSpc>
              <a:spcBef>
                <a:spcPts val="200"/>
              </a:spcBef>
              <a:buChar char="•"/>
              <a:tabLst>
                <a:tab pos="160655" algn="l"/>
              </a:tabLst>
            </a:pPr>
            <a:r>
              <a:rPr sz="1000" b="1" spc="-10" dirty="0">
                <a:solidFill>
                  <a:srgbClr val="14233C"/>
                </a:solidFill>
                <a:latin typeface="Calibri"/>
                <a:cs typeface="Calibri"/>
              </a:rPr>
              <a:t>Estimated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Crop</a:t>
            </a:r>
            <a:r>
              <a:rPr sz="1000" b="1" spc="-20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Yield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(Tons</a:t>
            </a:r>
            <a:r>
              <a:rPr sz="1000" b="1" spc="-20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/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4233C"/>
                </a:solidFill>
                <a:latin typeface="Calibri"/>
                <a:cs typeface="Calibri"/>
              </a:rPr>
              <a:t>Hectare)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08530" y="1348250"/>
            <a:ext cx="7072630" cy="5121910"/>
            <a:chOff x="4708530" y="1348250"/>
            <a:chExt cx="7072630" cy="512191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8530" y="1348250"/>
              <a:ext cx="7072315" cy="51219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54879" y="1371600"/>
              <a:ext cx="6979920" cy="5029200"/>
            </a:xfrm>
            <a:custGeom>
              <a:avLst/>
              <a:gdLst/>
              <a:ahLst/>
              <a:cxnLst/>
              <a:rect l="l" t="t" r="r" b="b"/>
              <a:pathLst>
                <a:path w="6979920" h="5029200">
                  <a:moveTo>
                    <a:pt x="6141397" y="5029199"/>
                  </a:moveTo>
                  <a:lnTo>
                    <a:pt x="838216" y="5029199"/>
                  </a:lnTo>
                  <a:lnTo>
                    <a:pt x="790651" y="5027873"/>
                  </a:lnTo>
                  <a:lnTo>
                    <a:pt x="743782" y="5023939"/>
                  </a:lnTo>
                  <a:lnTo>
                    <a:pt x="697680" y="5017470"/>
                  </a:lnTo>
                  <a:lnTo>
                    <a:pt x="652415" y="5008535"/>
                  </a:lnTo>
                  <a:lnTo>
                    <a:pt x="608059" y="4997206"/>
                  </a:lnTo>
                  <a:lnTo>
                    <a:pt x="564681" y="4983554"/>
                  </a:lnTo>
                  <a:lnTo>
                    <a:pt x="522354" y="4967648"/>
                  </a:lnTo>
                  <a:lnTo>
                    <a:pt x="481147" y="4949561"/>
                  </a:lnTo>
                  <a:lnTo>
                    <a:pt x="441132" y="4929362"/>
                  </a:lnTo>
                  <a:lnTo>
                    <a:pt x="402379" y="4907123"/>
                  </a:lnTo>
                  <a:lnTo>
                    <a:pt x="364959" y="4882914"/>
                  </a:lnTo>
                  <a:lnTo>
                    <a:pt x="328943" y="4856806"/>
                  </a:lnTo>
                  <a:lnTo>
                    <a:pt x="294401" y="4828869"/>
                  </a:lnTo>
                  <a:lnTo>
                    <a:pt x="261404" y="4799175"/>
                  </a:lnTo>
                  <a:lnTo>
                    <a:pt x="230024" y="4767795"/>
                  </a:lnTo>
                  <a:lnTo>
                    <a:pt x="200330" y="4734798"/>
                  </a:lnTo>
                  <a:lnTo>
                    <a:pt x="172393" y="4700256"/>
                  </a:lnTo>
                  <a:lnTo>
                    <a:pt x="146285" y="4664240"/>
                  </a:lnTo>
                  <a:lnTo>
                    <a:pt x="122076" y="4626820"/>
                  </a:lnTo>
                  <a:lnTo>
                    <a:pt x="99837" y="4588067"/>
                  </a:lnTo>
                  <a:lnTo>
                    <a:pt x="79638" y="4548052"/>
                  </a:lnTo>
                  <a:lnTo>
                    <a:pt x="61551" y="4506845"/>
                  </a:lnTo>
                  <a:lnTo>
                    <a:pt x="45645" y="4464518"/>
                  </a:lnTo>
                  <a:lnTo>
                    <a:pt x="31993" y="4421141"/>
                  </a:lnTo>
                  <a:lnTo>
                    <a:pt x="20664" y="4376784"/>
                  </a:lnTo>
                  <a:lnTo>
                    <a:pt x="11729" y="4331520"/>
                  </a:lnTo>
                  <a:lnTo>
                    <a:pt x="5260" y="4285417"/>
                  </a:lnTo>
                  <a:lnTo>
                    <a:pt x="1326" y="4238548"/>
                  </a:lnTo>
                  <a:lnTo>
                    <a:pt x="0" y="4190983"/>
                  </a:lnTo>
                  <a:lnTo>
                    <a:pt x="0" y="838216"/>
                  </a:lnTo>
                  <a:lnTo>
                    <a:pt x="1326" y="790651"/>
                  </a:lnTo>
                  <a:lnTo>
                    <a:pt x="5260" y="743782"/>
                  </a:lnTo>
                  <a:lnTo>
                    <a:pt x="11729" y="697679"/>
                  </a:lnTo>
                  <a:lnTo>
                    <a:pt x="20664" y="652415"/>
                  </a:lnTo>
                  <a:lnTo>
                    <a:pt x="31993" y="608058"/>
                  </a:lnTo>
                  <a:lnTo>
                    <a:pt x="45645" y="564681"/>
                  </a:lnTo>
                  <a:lnTo>
                    <a:pt x="61551" y="522354"/>
                  </a:lnTo>
                  <a:lnTo>
                    <a:pt x="79638" y="481147"/>
                  </a:lnTo>
                  <a:lnTo>
                    <a:pt x="99837" y="441132"/>
                  </a:lnTo>
                  <a:lnTo>
                    <a:pt x="122076" y="402379"/>
                  </a:lnTo>
                  <a:lnTo>
                    <a:pt x="146285" y="364959"/>
                  </a:lnTo>
                  <a:lnTo>
                    <a:pt x="172393" y="328943"/>
                  </a:lnTo>
                  <a:lnTo>
                    <a:pt x="200330" y="294401"/>
                  </a:lnTo>
                  <a:lnTo>
                    <a:pt x="230024" y="261404"/>
                  </a:lnTo>
                  <a:lnTo>
                    <a:pt x="261404" y="230024"/>
                  </a:lnTo>
                  <a:lnTo>
                    <a:pt x="294401" y="200330"/>
                  </a:lnTo>
                  <a:lnTo>
                    <a:pt x="328943" y="172393"/>
                  </a:lnTo>
                  <a:lnTo>
                    <a:pt x="364959" y="146285"/>
                  </a:lnTo>
                  <a:lnTo>
                    <a:pt x="402379" y="122076"/>
                  </a:lnTo>
                  <a:lnTo>
                    <a:pt x="441132" y="99837"/>
                  </a:lnTo>
                  <a:lnTo>
                    <a:pt x="481147" y="79638"/>
                  </a:lnTo>
                  <a:lnTo>
                    <a:pt x="522354" y="61551"/>
                  </a:lnTo>
                  <a:lnTo>
                    <a:pt x="564681" y="45645"/>
                  </a:lnTo>
                  <a:lnTo>
                    <a:pt x="608059" y="31993"/>
                  </a:lnTo>
                  <a:lnTo>
                    <a:pt x="652415" y="20664"/>
                  </a:lnTo>
                  <a:lnTo>
                    <a:pt x="697680" y="11729"/>
                  </a:lnTo>
                  <a:lnTo>
                    <a:pt x="743782" y="5260"/>
                  </a:lnTo>
                  <a:lnTo>
                    <a:pt x="790651" y="1326"/>
                  </a:lnTo>
                  <a:lnTo>
                    <a:pt x="838216" y="0"/>
                  </a:lnTo>
                  <a:lnTo>
                    <a:pt x="6141397" y="0"/>
                  </a:lnTo>
                  <a:lnTo>
                    <a:pt x="6192517" y="1558"/>
                  </a:lnTo>
                  <a:lnTo>
                    <a:pt x="6243184" y="6199"/>
                  </a:lnTo>
                  <a:lnTo>
                    <a:pt x="6293273" y="13870"/>
                  </a:lnTo>
                  <a:lnTo>
                    <a:pt x="6342654" y="24516"/>
                  </a:lnTo>
                  <a:lnTo>
                    <a:pt x="6391199" y="38086"/>
                  </a:lnTo>
                  <a:lnTo>
                    <a:pt x="6438780" y="54525"/>
                  </a:lnTo>
                  <a:lnTo>
                    <a:pt x="6485270" y="73782"/>
                  </a:lnTo>
                  <a:lnTo>
                    <a:pt x="6530539" y="95803"/>
                  </a:lnTo>
                  <a:lnTo>
                    <a:pt x="6574461" y="120534"/>
                  </a:lnTo>
                  <a:lnTo>
                    <a:pt x="6616907" y="147923"/>
                  </a:lnTo>
                  <a:lnTo>
                    <a:pt x="6657748" y="177917"/>
                  </a:lnTo>
                  <a:lnTo>
                    <a:pt x="6696857" y="210463"/>
                  </a:lnTo>
                  <a:lnTo>
                    <a:pt x="6734106" y="245507"/>
                  </a:lnTo>
                  <a:lnTo>
                    <a:pt x="6769151" y="282756"/>
                  </a:lnTo>
                  <a:lnTo>
                    <a:pt x="6801696" y="321866"/>
                  </a:lnTo>
                  <a:lnTo>
                    <a:pt x="6831690" y="362707"/>
                  </a:lnTo>
                  <a:lnTo>
                    <a:pt x="6859080" y="405153"/>
                  </a:lnTo>
                  <a:lnTo>
                    <a:pt x="6883811" y="449074"/>
                  </a:lnTo>
                  <a:lnTo>
                    <a:pt x="6905832" y="494344"/>
                  </a:lnTo>
                  <a:lnTo>
                    <a:pt x="6925088" y="540834"/>
                  </a:lnTo>
                  <a:lnTo>
                    <a:pt x="6941528" y="588415"/>
                  </a:lnTo>
                  <a:lnTo>
                    <a:pt x="6955098" y="636960"/>
                  </a:lnTo>
                  <a:lnTo>
                    <a:pt x="6965744" y="686341"/>
                  </a:lnTo>
                  <a:lnTo>
                    <a:pt x="6973415" y="736429"/>
                  </a:lnTo>
                  <a:lnTo>
                    <a:pt x="6978056" y="787097"/>
                  </a:lnTo>
                  <a:lnTo>
                    <a:pt x="6979614" y="838216"/>
                  </a:lnTo>
                  <a:lnTo>
                    <a:pt x="6979614" y="4190983"/>
                  </a:lnTo>
                  <a:lnTo>
                    <a:pt x="6978288" y="4238548"/>
                  </a:lnTo>
                  <a:lnTo>
                    <a:pt x="6974354" y="4285417"/>
                  </a:lnTo>
                  <a:lnTo>
                    <a:pt x="6967885" y="4331520"/>
                  </a:lnTo>
                  <a:lnTo>
                    <a:pt x="6958950" y="4376784"/>
                  </a:lnTo>
                  <a:lnTo>
                    <a:pt x="6947621" y="4421141"/>
                  </a:lnTo>
                  <a:lnTo>
                    <a:pt x="6933969" y="4464518"/>
                  </a:lnTo>
                  <a:lnTo>
                    <a:pt x="6918063" y="4506845"/>
                  </a:lnTo>
                  <a:lnTo>
                    <a:pt x="6899976" y="4548052"/>
                  </a:lnTo>
                  <a:lnTo>
                    <a:pt x="6879777" y="4588067"/>
                  </a:lnTo>
                  <a:lnTo>
                    <a:pt x="6857538" y="4626820"/>
                  </a:lnTo>
                  <a:lnTo>
                    <a:pt x="6833329" y="4664240"/>
                  </a:lnTo>
                  <a:lnTo>
                    <a:pt x="6807221" y="4700256"/>
                  </a:lnTo>
                  <a:lnTo>
                    <a:pt x="6779284" y="4734798"/>
                  </a:lnTo>
                  <a:lnTo>
                    <a:pt x="6749590" y="4767795"/>
                  </a:lnTo>
                  <a:lnTo>
                    <a:pt x="6718210" y="4799175"/>
                  </a:lnTo>
                  <a:lnTo>
                    <a:pt x="6685213" y="4828869"/>
                  </a:lnTo>
                  <a:lnTo>
                    <a:pt x="6650671" y="4856806"/>
                  </a:lnTo>
                  <a:lnTo>
                    <a:pt x="6614655" y="4882914"/>
                  </a:lnTo>
                  <a:lnTo>
                    <a:pt x="6577235" y="4907123"/>
                  </a:lnTo>
                  <a:lnTo>
                    <a:pt x="6538482" y="4929362"/>
                  </a:lnTo>
                  <a:lnTo>
                    <a:pt x="6498467" y="4949561"/>
                  </a:lnTo>
                  <a:lnTo>
                    <a:pt x="6457260" y="4967648"/>
                  </a:lnTo>
                  <a:lnTo>
                    <a:pt x="6414933" y="4983554"/>
                  </a:lnTo>
                  <a:lnTo>
                    <a:pt x="6371555" y="4997206"/>
                  </a:lnTo>
                  <a:lnTo>
                    <a:pt x="6327199" y="5008535"/>
                  </a:lnTo>
                  <a:lnTo>
                    <a:pt x="6281934" y="5017470"/>
                  </a:lnTo>
                  <a:lnTo>
                    <a:pt x="6235832" y="5023939"/>
                  </a:lnTo>
                  <a:lnTo>
                    <a:pt x="6188963" y="5027873"/>
                  </a:lnTo>
                  <a:lnTo>
                    <a:pt x="6141397" y="502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54879" y="1371600"/>
              <a:ext cx="6979920" cy="5029200"/>
            </a:xfrm>
            <a:custGeom>
              <a:avLst/>
              <a:gdLst/>
              <a:ahLst/>
              <a:cxnLst/>
              <a:rect l="l" t="t" r="r" b="b"/>
              <a:pathLst>
                <a:path w="6979920" h="5029200">
                  <a:moveTo>
                    <a:pt x="0" y="838216"/>
                  </a:moveTo>
                  <a:lnTo>
                    <a:pt x="1326" y="790651"/>
                  </a:lnTo>
                  <a:lnTo>
                    <a:pt x="5260" y="743782"/>
                  </a:lnTo>
                  <a:lnTo>
                    <a:pt x="11729" y="697679"/>
                  </a:lnTo>
                  <a:lnTo>
                    <a:pt x="20664" y="652415"/>
                  </a:lnTo>
                  <a:lnTo>
                    <a:pt x="31993" y="608058"/>
                  </a:lnTo>
                  <a:lnTo>
                    <a:pt x="45645" y="564681"/>
                  </a:lnTo>
                  <a:lnTo>
                    <a:pt x="61551" y="522354"/>
                  </a:lnTo>
                  <a:lnTo>
                    <a:pt x="79638" y="481147"/>
                  </a:lnTo>
                  <a:lnTo>
                    <a:pt x="99837" y="441132"/>
                  </a:lnTo>
                  <a:lnTo>
                    <a:pt x="122076" y="402379"/>
                  </a:lnTo>
                  <a:lnTo>
                    <a:pt x="146285" y="364959"/>
                  </a:lnTo>
                  <a:lnTo>
                    <a:pt x="172393" y="328943"/>
                  </a:lnTo>
                  <a:lnTo>
                    <a:pt x="200330" y="294401"/>
                  </a:lnTo>
                  <a:lnTo>
                    <a:pt x="230024" y="261404"/>
                  </a:lnTo>
                  <a:lnTo>
                    <a:pt x="261404" y="230024"/>
                  </a:lnTo>
                  <a:lnTo>
                    <a:pt x="294401" y="200330"/>
                  </a:lnTo>
                  <a:lnTo>
                    <a:pt x="328943" y="172393"/>
                  </a:lnTo>
                  <a:lnTo>
                    <a:pt x="364959" y="146285"/>
                  </a:lnTo>
                  <a:lnTo>
                    <a:pt x="402379" y="122076"/>
                  </a:lnTo>
                  <a:lnTo>
                    <a:pt x="441132" y="99837"/>
                  </a:lnTo>
                  <a:lnTo>
                    <a:pt x="481147" y="79638"/>
                  </a:lnTo>
                  <a:lnTo>
                    <a:pt x="522354" y="61551"/>
                  </a:lnTo>
                  <a:lnTo>
                    <a:pt x="564681" y="45645"/>
                  </a:lnTo>
                  <a:lnTo>
                    <a:pt x="608059" y="31993"/>
                  </a:lnTo>
                  <a:lnTo>
                    <a:pt x="652415" y="20664"/>
                  </a:lnTo>
                  <a:lnTo>
                    <a:pt x="697680" y="11729"/>
                  </a:lnTo>
                  <a:lnTo>
                    <a:pt x="743782" y="5260"/>
                  </a:lnTo>
                  <a:lnTo>
                    <a:pt x="790651" y="1326"/>
                  </a:lnTo>
                  <a:lnTo>
                    <a:pt x="838216" y="0"/>
                  </a:lnTo>
                  <a:lnTo>
                    <a:pt x="6141397" y="0"/>
                  </a:lnTo>
                  <a:lnTo>
                    <a:pt x="6192517" y="1558"/>
                  </a:lnTo>
                  <a:lnTo>
                    <a:pt x="6243184" y="6199"/>
                  </a:lnTo>
                  <a:lnTo>
                    <a:pt x="6293273" y="13870"/>
                  </a:lnTo>
                  <a:lnTo>
                    <a:pt x="6342654" y="24516"/>
                  </a:lnTo>
                  <a:lnTo>
                    <a:pt x="6391199" y="38086"/>
                  </a:lnTo>
                  <a:lnTo>
                    <a:pt x="6438780" y="54525"/>
                  </a:lnTo>
                  <a:lnTo>
                    <a:pt x="6485270" y="73782"/>
                  </a:lnTo>
                  <a:lnTo>
                    <a:pt x="6530539" y="95803"/>
                  </a:lnTo>
                  <a:lnTo>
                    <a:pt x="6574461" y="120534"/>
                  </a:lnTo>
                  <a:lnTo>
                    <a:pt x="6616907" y="147923"/>
                  </a:lnTo>
                  <a:lnTo>
                    <a:pt x="6657748" y="177917"/>
                  </a:lnTo>
                  <a:lnTo>
                    <a:pt x="6696857" y="210463"/>
                  </a:lnTo>
                  <a:lnTo>
                    <a:pt x="6734106" y="245507"/>
                  </a:lnTo>
                  <a:lnTo>
                    <a:pt x="6769151" y="282756"/>
                  </a:lnTo>
                  <a:lnTo>
                    <a:pt x="6801696" y="321866"/>
                  </a:lnTo>
                  <a:lnTo>
                    <a:pt x="6831690" y="362707"/>
                  </a:lnTo>
                  <a:lnTo>
                    <a:pt x="6859080" y="405153"/>
                  </a:lnTo>
                  <a:lnTo>
                    <a:pt x="6883811" y="449074"/>
                  </a:lnTo>
                  <a:lnTo>
                    <a:pt x="6905832" y="494344"/>
                  </a:lnTo>
                  <a:lnTo>
                    <a:pt x="6925088" y="540834"/>
                  </a:lnTo>
                  <a:lnTo>
                    <a:pt x="6941528" y="588415"/>
                  </a:lnTo>
                  <a:lnTo>
                    <a:pt x="6955098" y="636960"/>
                  </a:lnTo>
                  <a:lnTo>
                    <a:pt x="6965744" y="686341"/>
                  </a:lnTo>
                  <a:lnTo>
                    <a:pt x="6973415" y="736429"/>
                  </a:lnTo>
                  <a:lnTo>
                    <a:pt x="6978056" y="787097"/>
                  </a:lnTo>
                  <a:lnTo>
                    <a:pt x="6979614" y="838216"/>
                  </a:lnTo>
                  <a:lnTo>
                    <a:pt x="6979614" y="4190983"/>
                  </a:lnTo>
                  <a:lnTo>
                    <a:pt x="6978288" y="4238548"/>
                  </a:lnTo>
                  <a:lnTo>
                    <a:pt x="6974354" y="4285417"/>
                  </a:lnTo>
                  <a:lnTo>
                    <a:pt x="6967885" y="4331520"/>
                  </a:lnTo>
                  <a:lnTo>
                    <a:pt x="6958950" y="4376784"/>
                  </a:lnTo>
                  <a:lnTo>
                    <a:pt x="6947621" y="4421141"/>
                  </a:lnTo>
                  <a:lnTo>
                    <a:pt x="6933969" y="4464518"/>
                  </a:lnTo>
                  <a:lnTo>
                    <a:pt x="6918063" y="4506845"/>
                  </a:lnTo>
                  <a:lnTo>
                    <a:pt x="6899976" y="4548052"/>
                  </a:lnTo>
                  <a:lnTo>
                    <a:pt x="6879777" y="4588067"/>
                  </a:lnTo>
                  <a:lnTo>
                    <a:pt x="6857538" y="4626820"/>
                  </a:lnTo>
                  <a:lnTo>
                    <a:pt x="6833329" y="4664240"/>
                  </a:lnTo>
                  <a:lnTo>
                    <a:pt x="6807221" y="4700256"/>
                  </a:lnTo>
                  <a:lnTo>
                    <a:pt x="6779284" y="4734798"/>
                  </a:lnTo>
                  <a:lnTo>
                    <a:pt x="6749590" y="4767795"/>
                  </a:lnTo>
                  <a:lnTo>
                    <a:pt x="6718210" y="4799175"/>
                  </a:lnTo>
                  <a:lnTo>
                    <a:pt x="6685213" y="4828869"/>
                  </a:lnTo>
                  <a:lnTo>
                    <a:pt x="6650671" y="4856806"/>
                  </a:lnTo>
                  <a:lnTo>
                    <a:pt x="6614655" y="4882914"/>
                  </a:lnTo>
                  <a:lnTo>
                    <a:pt x="6577235" y="4907123"/>
                  </a:lnTo>
                  <a:lnTo>
                    <a:pt x="6538482" y="4929362"/>
                  </a:lnTo>
                  <a:lnTo>
                    <a:pt x="6498467" y="4949561"/>
                  </a:lnTo>
                  <a:lnTo>
                    <a:pt x="6457260" y="4967648"/>
                  </a:lnTo>
                  <a:lnTo>
                    <a:pt x="6414933" y="4983554"/>
                  </a:lnTo>
                  <a:lnTo>
                    <a:pt x="6371555" y="4997206"/>
                  </a:lnTo>
                  <a:lnTo>
                    <a:pt x="6327199" y="5008535"/>
                  </a:lnTo>
                  <a:lnTo>
                    <a:pt x="6281934" y="5017470"/>
                  </a:lnTo>
                  <a:lnTo>
                    <a:pt x="6235832" y="5023939"/>
                  </a:lnTo>
                  <a:lnTo>
                    <a:pt x="6188963" y="5027873"/>
                  </a:lnTo>
                  <a:lnTo>
                    <a:pt x="6141397" y="5029199"/>
                  </a:lnTo>
                  <a:lnTo>
                    <a:pt x="838216" y="5029199"/>
                  </a:lnTo>
                  <a:lnTo>
                    <a:pt x="790651" y="5027873"/>
                  </a:lnTo>
                  <a:lnTo>
                    <a:pt x="743782" y="5023939"/>
                  </a:lnTo>
                  <a:lnTo>
                    <a:pt x="697680" y="5017470"/>
                  </a:lnTo>
                  <a:lnTo>
                    <a:pt x="652415" y="5008535"/>
                  </a:lnTo>
                  <a:lnTo>
                    <a:pt x="608059" y="4997206"/>
                  </a:lnTo>
                  <a:lnTo>
                    <a:pt x="564681" y="4983554"/>
                  </a:lnTo>
                  <a:lnTo>
                    <a:pt x="522354" y="4967648"/>
                  </a:lnTo>
                  <a:lnTo>
                    <a:pt x="481147" y="4949561"/>
                  </a:lnTo>
                  <a:lnTo>
                    <a:pt x="441132" y="4929362"/>
                  </a:lnTo>
                  <a:lnTo>
                    <a:pt x="402379" y="4907123"/>
                  </a:lnTo>
                  <a:lnTo>
                    <a:pt x="364959" y="4882914"/>
                  </a:lnTo>
                  <a:lnTo>
                    <a:pt x="328943" y="4856806"/>
                  </a:lnTo>
                  <a:lnTo>
                    <a:pt x="294401" y="4828869"/>
                  </a:lnTo>
                  <a:lnTo>
                    <a:pt x="261404" y="4799175"/>
                  </a:lnTo>
                  <a:lnTo>
                    <a:pt x="230024" y="4767795"/>
                  </a:lnTo>
                  <a:lnTo>
                    <a:pt x="200330" y="4734798"/>
                  </a:lnTo>
                  <a:lnTo>
                    <a:pt x="172393" y="4700256"/>
                  </a:lnTo>
                  <a:lnTo>
                    <a:pt x="146285" y="4664240"/>
                  </a:lnTo>
                  <a:lnTo>
                    <a:pt x="122076" y="4626820"/>
                  </a:lnTo>
                  <a:lnTo>
                    <a:pt x="99837" y="4588067"/>
                  </a:lnTo>
                  <a:lnTo>
                    <a:pt x="79638" y="4548052"/>
                  </a:lnTo>
                  <a:lnTo>
                    <a:pt x="61551" y="4506845"/>
                  </a:lnTo>
                  <a:lnTo>
                    <a:pt x="45645" y="4464518"/>
                  </a:lnTo>
                  <a:lnTo>
                    <a:pt x="31993" y="4421141"/>
                  </a:lnTo>
                  <a:lnTo>
                    <a:pt x="20664" y="4376784"/>
                  </a:lnTo>
                  <a:lnTo>
                    <a:pt x="11729" y="4331520"/>
                  </a:lnTo>
                  <a:lnTo>
                    <a:pt x="5260" y="4285417"/>
                  </a:lnTo>
                  <a:lnTo>
                    <a:pt x="1326" y="4238548"/>
                  </a:lnTo>
                  <a:lnTo>
                    <a:pt x="0" y="4190983"/>
                  </a:lnTo>
                  <a:lnTo>
                    <a:pt x="0" y="838216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79340" y="1461516"/>
            <a:ext cx="32054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Machine</a:t>
            </a:r>
            <a:r>
              <a:rPr sz="1400" b="1" spc="-4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Learning</a:t>
            </a:r>
            <a:r>
              <a:rPr sz="1400" b="1" spc="-4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Execution</a:t>
            </a:r>
            <a:r>
              <a:rPr sz="1400" b="1" spc="-4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22783E"/>
                </a:solidFill>
                <a:latin typeface="Trebuchet MS"/>
                <a:cs typeface="Trebuchet MS"/>
              </a:rPr>
              <a:t>Workflow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91410" y="1851168"/>
            <a:ext cx="6706870" cy="549910"/>
            <a:chOff x="4891410" y="1851168"/>
            <a:chExt cx="6706870" cy="54991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1410" y="1851168"/>
              <a:ext cx="6706555" cy="5499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937760" y="1874518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6537653" y="457199"/>
                  </a:move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close/>
                </a:path>
              </a:pathLst>
            </a:custGeom>
            <a:solidFill>
              <a:srgbClr val="EB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37760" y="1874518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16500" y="1911094"/>
            <a:ext cx="51295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Step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1:</a:t>
            </a:r>
            <a:r>
              <a:rPr sz="11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Data</a:t>
            </a:r>
            <a:r>
              <a:rPr sz="11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Collection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—</a:t>
            </a:r>
            <a:r>
              <a:rPr sz="1100" b="1" spc="-1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Ingest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historical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sugarcane,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nutrient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meteorological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dataset.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91410" y="2381521"/>
            <a:ext cx="6706870" cy="549910"/>
            <a:chOff x="4891410" y="2381521"/>
            <a:chExt cx="6706870" cy="54991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1410" y="2381521"/>
              <a:ext cx="6706555" cy="5499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937760" y="2404871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6537653" y="457199"/>
                  </a:move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37760" y="2404871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016500" y="2441447"/>
            <a:ext cx="51403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Step</a:t>
            </a:r>
            <a:r>
              <a:rPr sz="1100" b="1" spc="-4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2:</a:t>
            </a:r>
            <a:r>
              <a:rPr sz="1100" b="1" spc="-4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Data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Cleaning</a:t>
            </a:r>
            <a:r>
              <a:rPr sz="1100" b="1" spc="-4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—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Remove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duplicate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records,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fix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anomalies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detect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statistical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outliers.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891410" y="2911873"/>
            <a:ext cx="6706870" cy="549910"/>
            <a:chOff x="4891410" y="2911873"/>
            <a:chExt cx="6706870" cy="54991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1410" y="2911873"/>
              <a:ext cx="6706555" cy="5499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937760" y="2935222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6537653" y="457199"/>
                  </a:move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close/>
                </a:path>
              </a:pathLst>
            </a:custGeom>
            <a:solidFill>
              <a:srgbClr val="EB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37760" y="2935222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016500" y="2971799"/>
            <a:ext cx="58699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Step</a:t>
            </a:r>
            <a:r>
              <a:rPr sz="11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3:</a:t>
            </a:r>
            <a:r>
              <a:rPr sz="11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Missing</a:t>
            </a:r>
            <a:r>
              <a:rPr sz="11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Value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Handling</a:t>
            </a:r>
            <a:r>
              <a:rPr sz="11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—</a:t>
            </a:r>
            <a:r>
              <a:rPr sz="11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Impute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null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fields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using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mean/median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strategy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per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feature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distribution.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891410" y="3442225"/>
            <a:ext cx="6706870" cy="549910"/>
            <a:chOff x="4891410" y="3442225"/>
            <a:chExt cx="6706870" cy="549910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1410" y="3442225"/>
              <a:ext cx="6706555" cy="5499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37760" y="3465575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6537653" y="457199"/>
                  </a:move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37760" y="3465575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016500" y="3502150"/>
            <a:ext cx="57785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Step</a:t>
            </a:r>
            <a:r>
              <a:rPr sz="1100" b="1" spc="-1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4:</a:t>
            </a:r>
            <a:r>
              <a:rPr sz="1100" b="1" spc="-1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Feature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Scaling</a:t>
            </a:r>
            <a:r>
              <a:rPr sz="1100" b="1" spc="-1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—</a:t>
            </a:r>
            <a:r>
              <a:rPr sz="1100" b="1" spc="-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Apply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 StandardScaler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/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 MinMaxScaler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to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normalize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numeric parameter ranges.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891410" y="3972577"/>
            <a:ext cx="6706870" cy="2141220"/>
            <a:chOff x="4891410" y="3972577"/>
            <a:chExt cx="6706870" cy="2141220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1410" y="3972577"/>
              <a:ext cx="6706555" cy="5499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937760" y="3995927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6537653" y="457199"/>
                  </a:move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close/>
                </a:path>
              </a:pathLst>
            </a:custGeom>
            <a:solidFill>
              <a:srgbClr val="EB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37760" y="3995927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1410" y="4502929"/>
              <a:ext cx="6706555" cy="5499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937760" y="4526279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6537653" y="457199"/>
                  </a:move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937760" y="4526279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1410" y="5033281"/>
              <a:ext cx="6706555" cy="5499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937760" y="5056630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6537653" y="457199"/>
                  </a:move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3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close/>
                </a:path>
              </a:pathLst>
            </a:custGeom>
            <a:solidFill>
              <a:srgbClr val="EB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37760" y="5056630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3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1410" y="5563633"/>
              <a:ext cx="6706555" cy="5499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937760" y="5586982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6537653" y="457199"/>
                  </a:move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37760" y="5586982"/>
              <a:ext cx="6614159" cy="457200"/>
            </a:xfrm>
            <a:custGeom>
              <a:avLst/>
              <a:gdLst/>
              <a:ahLst/>
              <a:cxnLst/>
              <a:rect l="l" t="t" r="r" b="b"/>
              <a:pathLst>
                <a:path w="6614159" h="4572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6537653" y="0"/>
                  </a:lnTo>
                  <a:lnTo>
                    <a:pt x="6579930" y="12802"/>
                  </a:lnTo>
                  <a:lnTo>
                    <a:pt x="6608054" y="47040"/>
                  </a:lnTo>
                  <a:lnTo>
                    <a:pt x="6613854" y="76201"/>
                  </a:lnTo>
                  <a:lnTo>
                    <a:pt x="6613854" y="380998"/>
                  </a:lnTo>
                  <a:lnTo>
                    <a:pt x="6607866" y="410659"/>
                  </a:lnTo>
                  <a:lnTo>
                    <a:pt x="6591536" y="434881"/>
                  </a:lnTo>
                  <a:lnTo>
                    <a:pt x="6567314" y="451211"/>
                  </a:lnTo>
                  <a:lnTo>
                    <a:pt x="6537653" y="457199"/>
                  </a:lnTo>
                  <a:lnTo>
                    <a:pt x="76201" y="457199"/>
                  </a:lnTo>
                  <a:lnTo>
                    <a:pt x="46540" y="451211"/>
                  </a:lnTo>
                  <a:lnTo>
                    <a:pt x="22318" y="434881"/>
                  </a:lnTo>
                  <a:lnTo>
                    <a:pt x="5988" y="410659"/>
                  </a:lnTo>
                  <a:lnTo>
                    <a:pt x="0" y="380998"/>
                  </a:lnTo>
                  <a:lnTo>
                    <a:pt x="0" y="76201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016500" y="4032503"/>
            <a:ext cx="6128385" cy="178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Step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5: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Train</a:t>
            </a:r>
            <a:r>
              <a:rPr sz="11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/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Test</a:t>
            </a:r>
            <a:r>
              <a:rPr sz="11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Split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—</a:t>
            </a:r>
            <a:r>
              <a:rPr sz="11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Partition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dataset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into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80%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training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set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20%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validation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test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set.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316400"/>
              </a:lnSpc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Step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6: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Multi-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Model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Training</a:t>
            </a:r>
            <a:r>
              <a:rPr sz="11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—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Train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Decision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Tree,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Random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Forest,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Gradient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Boosting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XGBoost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regressors.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Step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7: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Evaluation</a:t>
            </a:r>
            <a:r>
              <a:rPr sz="11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&amp;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Selection</a:t>
            </a:r>
            <a:r>
              <a:rPr sz="11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—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Benchmark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models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via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MAE,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RMSE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R²;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select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top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performer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automatically.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Step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8: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Prediction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&amp;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Advisory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—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Generate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growth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%,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yield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estimate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actionable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farming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recommendations.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366267"/>
            <a:ext cx="7759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SLIDE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5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OF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spc="-50" dirty="0">
                <a:solidFill>
                  <a:srgbClr val="22783E"/>
                </a:solidFill>
                <a:latin typeface="Trebuchet MS"/>
                <a:cs typeface="Trebuchet MS"/>
              </a:rPr>
              <a:t>7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100" y="484493"/>
            <a:ext cx="4839970" cy="5829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Slide</a:t>
            </a:r>
            <a:r>
              <a:rPr spc="-45" dirty="0"/>
              <a:t> </a:t>
            </a:r>
            <a:r>
              <a:rPr dirty="0"/>
              <a:t>5</a:t>
            </a:r>
            <a:r>
              <a:rPr spc="-4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Core</a:t>
            </a:r>
            <a:r>
              <a:rPr spc="-45" dirty="0"/>
              <a:t> </a:t>
            </a:r>
            <a:r>
              <a:rPr dirty="0"/>
              <a:t>Technical</a:t>
            </a:r>
            <a:r>
              <a:rPr spc="-40" dirty="0"/>
              <a:t> </a:t>
            </a:r>
            <a:r>
              <a:rPr spc="-10" dirty="0"/>
              <a:t>Design</a:t>
            </a: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ML</a:t>
            </a:r>
            <a:r>
              <a:rPr sz="1100" b="0" spc="-3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Regression</a:t>
            </a:r>
            <a:r>
              <a:rPr sz="1100" b="0" spc="-2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Algorithms,</a:t>
            </a:r>
            <a:r>
              <a:rPr sz="1100" b="0" spc="-2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Empirical</a:t>
            </a:r>
            <a:r>
              <a:rPr sz="1100" b="0" spc="-2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Evaluation</a:t>
            </a:r>
            <a:r>
              <a:rPr sz="1100" b="0" spc="-2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Metrics,</a:t>
            </a:r>
            <a:r>
              <a:rPr sz="1100" b="0" spc="-2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and</a:t>
            </a:r>
            <a:r>
              <a:rPr sz="1100" b="0" spc="-2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Recommendation</a:t>
            </a:r>
            <a:r>
              <a:rPr sz="1100" b="0" spc="-2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Rules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0850" y="1348250"/>
            <a:ext cx="3604260" cy="5121910"/>
            <a:chOff x="410850" y="1348250"/>
            <a:chExt cx="3604260" cy="5121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850" y="1348250"/>
              <a:ext cx="3603996" cy="51219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2926068" y="5029199"/>
                  </a:moveTo>
                  <a:lnTo>
                    <a:pt x="585227" y="5029199"/>
                  </a:lnTo>
                  <a:lnTo>
                    <a:pt x="537229" y="5027259"/>
                  </a:lnTo>
                  <a:lnTo>
                    <a:pt x="490300" y="5021540"/>
                  </a:lnTo>
                  <a:lnTo>
                    <a:pt x="444590" y="5012191"/>
                  </a:lnTo>
                  <a:lnTo>
                    <a:pt x="400250" y="4999364"/>
                  </a:lnTo>
                  <a:lnTo>
                    <a:pt x="357430" y="4983209"/>
                  </a:lnTo>
                  <a:lnTo>
                    <a:pt x="316281" y="4963877"/>
                  </a:lnTo>
                  <a:lnTo>
                    <a:pt x="276954" y="4941519"/>
                  </a:lnTo>
                  <a:lnTo>
                    <a:pt x="239599" y="4916285"/>
                  </a:lnTo>
                  <a:lnTo>
                    <a:pt x="204367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4"/>
                  </a:lnTo>
                  <a:lnTo>
                    <a:pt x="276954" y="87680"/>
                  </a:lnTo>
                  <a:lnTo>
                    <a:pt x="316281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29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1" y="8985"/>
                  </a:lnTo>
                  <a:lnTo>
                    <a:pt x="3077948" y="20050"/>
                  </a:lnTo>
                  <a:lnTo>
                    <a:pt x="3126375" y="35347"/>
                  </a:lnTo>
                  <a:lnTo>
                    <a:pt x="3173253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4443972"/>
                  </a:lnTo>
                  <a:lnTo>
                    <a:pt x="3509355" y="4491970"/>
                  </a:lnTo>
                  <a:lnTo>
                    <a:pt x="3503636" y="4538899"/>
                  </a:lnTo>
                  <a:lnTo>
                    <a:pt x="3494287" y="4584609"/>
                  </a:lnTo>
                  <a:lnTo>
                    <a:pt x="3481460" y="4628949"/>
                  </a:lnTo>
                  <a:lnTo>
                    <a:pt x="3465305" y="4671769"/>
                  </a:lnTo>
                  <a:lnTo>
                    <a:pt x="3445973" y="4712918"/>
                  </a:lnTo>
                  <a:lnTo>
                    <a:pt x="3423615" y="4752245"/>
                  </a:lnTo>
                  <a:lnTo>
                    <a:pt x="3398380" y="4789600"/>
                  </a:lnTo>
                  <a:lnTo>
                    <a:pt x="3370421" y="4824832"/>
                  </a:lnTo>
                  <a:lnTo>
                    <a:pt x="3339886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5" y="5027259"/>
                  </a:lnTo>
                  <a:lnTo>
                    <a:pt x="2926068" y="502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0" y="585227"/>
                  </a:move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4"/>
                  </a:lnTo>
                  <a:lnTo>
                    <a:pt x="276954" y="87680"/>
                  </a:lnTo>
                  <a:lnTo>
                    <a:pt x="316281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29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1" y="8985"/>
                  </a:lnTo>
                  <a:lnTo>
                    <a:pt x="3077948" y="20050"/>
                  </a:lnTo>
                  <a:lnTo>
                    <a:pt x="3126375" y="35347"/>
                  </a:lnTo>
                  <a:lnTo>
                    <a:pt x="3173253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4443972"/>
                  </a:lnTo>
                  <a:lnTo>
                    <a:pt x="3509355" y="4491970"/>
                  </a:lnTo>
                  <a:lnTo>
                    <a:pt x="3503636" y="4538899"/>
                  </a:lnTo>
                  <a:lnTo>
                    <a:pt x="3494287" y="4584609"/>
                  </a:lnTo>
                  <a:lnTo>
                    <a:pt x="3481460" y="4628949"/>
                  </a:lnTo>
                  <a:lnTo>
                    <a:pt x="3465305" y="4671769"/>
                  </a:lnTo>
                  <a:lnTo>
                    <a:pt x="3445973" y="4712918"/>
                  </a:lnTo>
                  <a:lnTo>
                    <a:pt x="3423615" y="4752245"/>
                  </a:lnTo>
                  <a:lnTo>
                    <a:pt x="3398380" y="4789600"/>
                  </a:lnTo>
                  <a:lnTo>
                    <a:pt x="3370421" y="4824832"/>
                  </a:lnTo>
                  <a:lnTo>
                    <a:pt x="3339886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5" y="5027259"/>
                  </a:lnTo>
                  <a:lnTo>
                    <a:pt x="2926068" y="5029199"/>
                  </a:lnTo>
                  <a:lnTo>
                    <a:pt x="585227" y="5029199"/>
                  </a:lnTo>
                  <a:lnTo>
                    <a:pt x="537229" y="5027259"/>
                  </a:lnTo>
                  <a:lnTo>
                    <a:pt x="490300" y="5021540"/>
                  </a:lnTo>
                  <a:lnTo>
                    <a:pt x="444590" y="5012191"/>
                  </a:lnTo>
                  <a:lnTo>
                    <a:pt x="400250" y="4999364"/>
                  </a:lnTo>
                  <a:lnTo>
                    <a:pt x="357430" y="4983209"/>
                  </a:lnTo>
                  <a:lnTo>
                    <a:pt x="316281" y="4963877"/>
                  </a:lnTo>
                  <a:lnTo>
                    <a:pt x="276954" y="4941519"/>
                  </a:lnTo>
                  <a:lnTo>
                    <a:pt x="239599" y="4916285"/>
                  </a:lnTo>
                  <a:lnTo>
                    <a:pt x="204367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1660" y="1461516"/>
            <a:ext cx="2995295" cy="2620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Machine</a:t>
            </a:r>
            <a:r>
              <a:rPr sz="1400" b="1" spc="-4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Learning</a:t>
            </a:r>
            <a:r>
              <a:rPr sz="1400" b="1" spc="-35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22783E"/>
                </a:solidFill>
                <a:latin typeface="Trebuchet MS"/>
                <a:cs typeface="Trebuchet MS"/>
              </a:rPr>
              <a:t>Models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[Model]</a:t>
            </a:r>
            <a:r>
              <a:rPr sz="1100" b="1" spc="-7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Decision</a:t>
            </a:r>
            <a:r>
              <a:rPr sz="1100" b="1" spc="-6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Tree</a:t>
            </a:r>
            <a:r>
              <a:rPr sz="1100" b="1" spc="-7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Regressor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Non-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parametric</a:t>
            </a:r>
            <a:r>
              <a:rPr sz="1000" spc="-4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baseline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mapping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feature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splits;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captures non-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linear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decision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rules.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[Model]</a:t>
            </a:r>
            <a:r>
              <a:rPr sz="1100" b="1" spc="-7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Random</a:t>
            </a:r>
            <a:r>
              <a:rPr sz="1100" b="1" spc="-7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Forest</a:t>
            </a:r>
            <a:r>
              <a:rPr sz="1100" b="1" spc="-7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Regressor</a:t>
            </a:r>
            <a:endParaRPr sz="1100">
              <a:latin typeface="Trebuchet MS"/>
              <a:cs typeface="Trebuchet MS"/>
            </a:endParaRPr>
          </a:p>
          <a:p>
            <a:pPr marL="12700" marR="36195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Ensemble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of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decision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trees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using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bagging;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reduces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model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variance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prevents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overfitting.</a:t>
            </a:r>
            <a:endParaRPr sz="1000">
              <a:latin typeface="Calibri"/>
              <a:cs typeface="Calibri"/>
            </a:endParaRPr>
          </a:p>
          <a:p>
            <a:pPr marL="12700" marR="80645">
              <a:lnSpc>
                <a:spcPct val="103899"/>
              </a:lnSpc>
              <a:spcBef>
                <a:spcPts val="74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[Model]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Gradient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Boosting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Regressor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Sequential</a:t>
            </a:r>
            <a:r>
              <a:rPr sz="1000" spc="-4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boosting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framework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minimizing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loss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function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residual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errors.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[Model]</a:t>
            </a:r>
            <a:r>
              <a:rPr sz="1100" b="1" spc="-8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XGBoost</a:t>
            </a:r>
            <a:r>
              <a:rPr sz="1100" b="1" spc="-7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Regressor</a:t>
            </a:r>
            <a:endParaRPr sz="1100">
              <a:latin typeface="Trebuchet MS"/>
              <a:cs typeface="Trebuchet MS"/>
            </a:endParaRPr>
          </a:p>
          <a:p>
            <a:pPr marL="12700" marR="220979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Optimized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gradient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boosting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library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designed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for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high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performance</a:t>
            </a:r>
            <a:r>
              <a:rPr sz="1000" spc="-4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regularization.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87905" y="1348250"/>
            <a:ext cx="3604260" cy="5121910"/>
            <a:chOff x="4287905" y="1348250"/>
            <a:chExt cx="3604260" cy="512191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7905" y="1348250"/>
              <a:ext cx="3603996" cy="51219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34255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2926068" y="5029199"/>
                  </a:moveTo>
                  <a:lnTo>
                    <a:pt x="585227" y="5029199"/>
                  </a:lnTo>
                  <a:lnTo>
                    <a:pt x="537230" y="5027259"/>
                  </a:lnTo>
                  <a:lnTo>
                    <a:pt x="490300" y="5021540"/>
                  </a:lnTo>
                  <a:lnTo>
                    <a:pt x="444590" y="5012191"/>
                  </a:lnTo>
                  <a:lnTo>
                    <a:pt x="400250" y="4999364"/>
                  </a:lnTo>
                  <a:lnTo>
                    <a:pt x="357430" y="4983209"/>
                  </a:lnTo>
                  <a:lnTo>
                    <a:pt x="316282" y="4963877"/>
                  </a:lnTo>
                  <a:lnTo>
                    <a:pt x="276954" y="4941519"/>
                  </a:lnTo>
                  <a:lnTo>
                    <a:pt x="239599" y="4916285"/>
                  </a:lnTo>
                  <a:lnTo>
                    <a:pt x="204367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4"/>
                  </a:lnTo>
                  <a:lnTo>
                    <a:pt x="276954" y="87680"/>
                  </a:lnTo>
                  <a:lnTo>
                    <a:pt x="316282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30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4" y="78191"/>
                  </a:lnTo>
                  <a:lnTo>
                    <a:pt x="3261285" y="105515"/>
                  </a:lnTo>
                  <a:lnTo>
                    <a:pt x="3301900" y="136625"/>
                  </a:lnTo>
                  <a:lnTo>
                    <a:pt x="3339887" y="171409"/>
                  </a:lnTo>
                  <a:lnTo>
                    <a:pt x="3374671" y="209396"/>
                  </a:lnTo>
                  <a:lnTo>
                    <a:pt x="3405781" y="250010"/>
                  </a:lnTo>
                  <a:lnTo>
                    <a:pt x="3433105" y="292982"/>
                  </a:lnTo>
                  <a:lnTo>
                    <a:pt x="3456531" y="338042"/>
                  </a:lnTo>
                  <a:lnTo>
                    <a:pt x="3475949" y="384920"/>
                  </a:lnTo>
                  <a:lnTo>
                    <a:pt x="3491246" y="433347"/>
                  </a:lnTo>
                  <a:lnTo>
                    <a:pt x="3502311" y="483054"/>
                  </a:lnTo>
                  <a:lnTo>
                    <a:pt x="3509031" y="533770"/>
                  </a:lnTo>
                  <a:lnTo>
                    <a:pt x="3511296" y="585227"/>
                  </a:lnTo>
                  <a:lnTo>
                    <a:pt x="3511296" y="4443972"/>
                  </a:lnTo>
                  <a:lnTo>
                    <a:pt x="3509356" y="4491970"/>
                  </a:lnTo>
                  <a:lnTo>
                    <a:pt x="3503637" y="4538899"/>
                  </a:lnTo>
                  <a:lnTo>
                    <a:pt x="3494288" y="4584609"/>
                  </a:lnTo>
                  <a:lnTo>
                    <a:pt x="3481461" y="4628949"/>
                  </a:lnTo>
                  <a:lnTo>
                    <a:pt x="3465306" y="4671769"/>
                  </a:lnTo>
                  <a:lnTo>
                    <a:pt x="3445974" y="4712918"/>
                  </a:lnTo>
                  <a:lnTo>
                    <a:pt x="3423616" y="4752245"/>
                  </a:lnTo>
                  <a:lnTo>
                    <a:pt x="3398381" y="4789600"/>
                  </a:lnTo>
                  <a:lnTo>
                    <a:pt x="3370421" y="4824832"/>
                  </a:lnTo>
                  <a:lnTo>
                    <a:pt x="3339887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6" y="5027259"/>
                  </a:lnTo>
                  <a:lnTo>
                    <a:pt x="2926068" y="502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34255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0" y="585227"/>
                  </a:move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4"/>
                  </a:lnTo>
                  <a:lnTo>
                    <a:pt x="276954" y="87680"/>
                  </a:lnTo>
                  <a:lnTo>
                    <a:pt x="316282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30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4" y="78191"/>
                  </a:lnTo>
                  <a:lnTo>
                    <a:pt x="3261285" y="105515"/>
                  </a:lnTo>
                  <a:lnTo>
                    <a:pt x="3301900" y="136625"/>
                  </a:lnTo>
                  <a:lnTo>
                    <a:pt x="3339887" y="171409"/>
                  </a:lnTo>
                  <a:lnTo>
                    <a:pt x="3374671" y="209396"/>
                  </a:lnTo>
                  <a:lnTo>
                    <a:pt x="3405781" y="250010"/>
                  </a:lnTo>
                  <a:lnTo>
                    <a:pt x="3433105" y="292982"/>
                  </a:lnTo>
                  <a:lnTo>
                    <a:pt x="3456531" y="338042"/>
                  </a:lnTo>
                  <a:lnTo>
                    <a:pt x="3475949" y="384920"/>
                  </a:lnTo>
                  <a:lnTo>
                    <a:pt x="3491246" y="433347"/>
                  </a:lnTo>
                  <a:lnTo>
                    <a:pt x="3502311" y="483054"/>
                  </a:lnTo>
                  <a:lnTo>
                    <a:pt x="3509031" y="533770"/>
                  </a:lnTo>
                  <a:lnTo>
                    <a:pt x="3511296" y="585227"/>
                  </a:lnTo>
                  <a:lnTo>
                    <a:pt x="3511296" y="4443972"/>
                  </a:lnTo>
                  <a:lnTo>
                    <a:pt x="3509356" y="4491970"/>
                  </a:lnTo>
                  <a:lnTo>
                    <a:pt x="3503637" y="4538899"/>
                  </a:lnTo>
                  <a:lnTo>
                    <a:pt x="3494288" y="4584609"/>
                  </a:lnTo>
                  <a:lnTo>
                    <a:pt x="3481461" y="4628949"/>
                  </a:lnTo>
                  <a:lnTo>
                    <a:pt x="3465306" y="4671769"/>
                  </a:lnTo>
                  <a:lnTo>
                    <a:pt x="3445974" y="4712918"/>
                  </a:lnTo>
                  <a:lnTo>
                    <a:pt x="3423616" y="4752245"/>
                  </a:lnTo>
                  <a:lnTo>
                    <a:pt x="3398381" y="4789600"/>
                  </a:lnTo>
                  <a:lnTo>
                    <a:pt x="3370421" y="4824832"/>
                  </a:lnTo>
                  <a:lnTo>
                    <a:pt x="3339887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6" y="5027259"/>
                  </a:lnTo>
                  <a:lnTo>
                    <a:pt x="2926068" y="5029199"/>
                  </a:lnTo>
                  <a:lnTo>
                    <a:pt x="585227" y="5029199"/>
                  </a:lnTo>
                  <a:lnTo>
                    <a:pt x="537230" y="5027259"/>
                  </a:lnTo>
                  <a:lnTo>
                    <a:pt x="490300" y="5021540"/>
                  </a:lnTo>
                  <a:lnTo>
                    <a:pt x="444590" y="5012191"/>
                  </a:lnTo>
                  <a:lnTo>
                    <a:pt x="400250" y="4999364"/>
                  </a:lnTo>
                  <a:lnTo>
                    <a:pt x="357430" y="4983209"/>
                  </a:lnTo>
                  <a:lnTo>
                    <a:pt x="316282" y="4963877"/>
                  </a:lnTo>
                  <a:lnTo>
                    <a:pt x="276954" y="4941519"/>
                  </a:lnTo>
                  <a:lnTo>
                    <a:pt x="239599" y="4916285"/>
                  </a:lnTo>
                  <a:lnTo>
                    <a:pt x="204367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58716" y="1461516"/>
            <a:ext cx="3261360" cy="2620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Model</a:t>
            </a:r>
            <a:r>
              <a:rPr sz="1400" b="1" spc="-4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Evaluation</a:t>
            </a:r>
            <a:r>
              <a:rPr sz="1400" b="1" spc="-3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F6EA5"/>
                </a:solidFill>
                <a:latin typeface="Trebuchet MS"/>
                <a:cs typeface="Trebuchet MS"/>
              </a:rPr>
              <a:t>Metrics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[Metric]</a:t>
            </a:r>
            <a:r>
              <a:rPr sz="1100" b="1" spc="-4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MAE</a:t>
            </a:r>
            <a:r>
              <a:rPr sz="1100" b="1" spc="-4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(Mean</a:t>
            </a:r>
            <a:r>
              <a:rPr sz="1100" b="1" spc="-4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Absolute</a:t>
            </a:r>
            <a:r>
              <a:rPr sz="1100" b="1" spc="-4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Error)</a:t>
            </a:r>
            <a:endParaRPr sz="1100">
              <a:latin typeface="Trebuchet MS"/>
              <a:cs typeface="Trebuchet MS"/>
            </a:endParaRPr>
          </a:p>
          <a:p>
            <a:pPr marL="12700" marR="8001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Measures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average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magnitude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of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absolute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prediction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errors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in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 target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units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(tons/ha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%).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[Metric]</a:t>
            </a:r>
            <a:r>
              <a:rPr sz="1100" b="1" spc="-6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RMSE</a:t>
            </a:r>
            <a:r>
              <a:rPr sz="1100" b="1" spc="-6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(Root</a:t>
            </a:r>
            <a:r>
              <a:rPr sz="1100" b="1" spc="-6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Mean</a:t>
            </a:r>
            <a:r>
              <a:rPr sz="1100" b="1" spc="-5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Square</a:t>
            </a:r>
            <a:r>
              <a:rPr sz="1100" b="1" spc="-6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Error)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Square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root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of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mean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squared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errors;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penalizes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large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prediction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outliers</a:t>
            </a:r>
            <a:r>
              <a:rPr sz="1000" spc="-4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more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heavily.</a:t>
            </a:r>
            <a:endParaRPr sz="1000">
              <a:latin typeface="Calibri"/>
              <a:cs typeface="Calibri"/>
            </a:endParaRPr>
          </a:p>
          <a:p>
            <a:pPr marL="12700" marR="45720">
              <a:lnSpc>
                <a:spcPct val="103899"/>
              </a:lnSpc>
              <a:spcBef>
                <a:spcPts val="74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[Metric]</a:t>
            </a:r>
            <a:r>
              <a:rPr sz="1100" b="1" spc="-5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R²</a:t>
            </a:r>
            <a:r>
              <a:rPr sz="1100" b="1" spc="-5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Score</a:t>
            </a:r>
            <a:r>
              <a:rPr sz="1100" b="1" spc="-5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(Coeff.</a:t>
            </a:r>
            <a:r>
              <a:rPr sz="1100" b="1" spc="-5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of</a:t>
            </a:r>
            <a:r>
              <a:rPr sz="1100" b="1" spc="-5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Determination)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Measures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proportion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of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variance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in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growth/yield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explained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by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 model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features.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[Metric]</a:t>
            </a:r>
            <a:r>
              <a:rPr sz="1100" b="1" spc="-5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Empirical</a:t>
            </a:r>
            <a:r>
              <a:rPr sz="1100" b="1" spc="-4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Model</a:t>
            </a:r>
            <a:r>
              <a:rPr sz="1100" b="1" spc="-4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Selection</a:t>
            </a:r>
            <a:endParaRPr sz="1100">
              <a:latin typeface="Trebuchet MS"/>
              <a:cs typeface="Trebuchet MS"/>
            </a:endParaRPr>
          </a:p>
          <a:p>
            <a:pPr marL="12700" marR="2667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Selects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the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model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with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lowest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MAE/RMSE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highest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R²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on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test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data;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no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model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claimed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best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automatically.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64962" y="1348250"/>
            <a:ext cx="3604260" cy="5121910"/>
            <a:chOff x="8164962" y="1348250"/>
            <a:chExt cx="3604260" cy="512191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4962" y="1348250"/>
              <a:ext cx="3603996" cy="51219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211311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2926068" y="5029199"/>
                  </a:moveTo>
                  <a:lnTo>
                    <a:pt x="585228" y="5029199"/>
                  </a:lnTo>
                  <a:lnTo>
                    <a:pt x="537230" y="5027259"/>
                  </a:lnTo>
                  <a:lnTo>
                    <a:pt x="490301" y="5021540"/>
                  </a:lnTo>
                  <a:lnTo>
                    <a:pt x="444591" y="5012191"/>
                  </a:lnTo>
                  <a:lnTo>
                    <a:pt x="400250" y="4999364"/>
                  </a:lnTo>
                  <a:lnTo>
                    <a:pt x="357431" y="4983209"/>
                  </a:lnTo>
                  <a:lnTo>
                    <a:pt x="316282" y="4963877"/>
                  </a:lnTo>
                  <a:lnTo>
                    <a:pt x="276955" y="4941519"/>
                  </a:lnTo>
                  <a:lnTo>
                    <a:pt x="239600" y="4916285"/>
                  </a:lnTo>
                  <a:lnTo>
                    <a:pt x="204368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8" y="140874"/>
                  </a:lnTo>
                  <a:lnTo>
                    <a:pt x="239600" y="112914"/>
                  </a:lnTo>
                  <a:lnTo>
                    <a:pt x="276955" y="87680"/>
                  </a:lnTo>
                  <a:lnTo>
                    <a:pt x="316282" y="65322"/>
                  </a:lnTo>
                  <a:lnTo>
                    <a:pt x="357431" y="45990"/>
                  </a:lnTo>
                  <a:lnTo>
                    <a:pt x="400250" y="29835"/>
                  </a:lnTo>
                  <a:lnTo>
                    <a:pt x="444591" y="17008"/>
                  </a:lnTo>
                  <a:lnTo>
                    <a:pt x="490301" y="7659"/>
                  </a:lnTo>
                  <a:lnTo>
                    <a:pt x="537230" y="1940"/>
                  </a:lnTo>
                  <a:lnTo>
                    <a:pt x="585228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4443972"/>
                  </a:lnTo>
                  <a:lnTo>
                    <a:pt x="3509355" y="4491970"/>
                  </a:lnTo>
                  <a:lnTo>
                    <a:pt x="3503636" y="4538899"/>
                  </a:lnTo>
                  <a:lnTo>
                    <a:pt x="3494287" y="4584609"/>
                  </a:lnTo>
                  <a:lnTo>
                    <a:pt x="3481460" y="4628949"/>
                  </a:lnTo>
                  <a:lnTo>
                    <a:pt x="3465305" y="4671769"/>
                  </a:lnTo>
                  <a:lnTo>
                    <a:pt x="3445973" y="4712918"/>
                  </a:lnTo>
                  <a:lnTo>
                    <a:pt x="3423615" y="4752245"/>
                  </a:lnTo>
                  <a:lnTo>
                    <a:pt x="3398381" y="4789600"/>
                  </a:lnTo>
                  <a:lnTo>
                    <a:pt x="3370421" y="4824832"/>
                  </a:lnTo>
                  <a:lnTo>
                    <a:pt x="3339886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6" y="5027259"/>
                  </a:lnTo>
                  <a:lnTo>
                    <a:pt x="2926068" y="502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11311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0" y="585227"/>
                  </a:move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8" y="140874"/>
                  </a:lnTo>
                  <a:lnTo>
                    <a:pt x="239600" y="112914"/>
                  </a:lnTo>
                  <a:lnTo>
                    <a:pt x="276955" y="87680"/>
                  </a:lnTo>
                  <a:lnTo>
                    <a:pt x="316282" y="65322"/>
                  </a:lnTo>
                  <a:lnTo>
                    <a:pt x="357431" y="45990"/>
                  </a:lnTo>
                  <a:lnTo>
                    <a:pt x="400250" y="29835"/>
                  </a:lnTo>
                  <a:lnTo>
                    <a:pt x="444591" y="17008"/>
                  </a:lnTo>
                  <a:lnTo>
                    <a:pt x="490301" y="7659"/>
                  </a:lnTo>
                  <a:lnTo>
                    <a:pt x="537230" y="1940"/>
                  </a:lnTo>
                  <a:lnTo>
                    <a:pt x="585228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4443972"/>
                  </a:lnTo>
                  <a:lnTo>
                    <a:pt x="3509355" y="4491970"/>
                  </a:lnTo>
                  <a:lnTo>
                    <a:pt x="3503636" y="4538899"/>
                  </a:lnTo>
                  <a:lnTo>
                    <a:pt x="3494287" y="4584609"/>
                  </a:lnTo>
                  <a:lnTo>
                    <a:pt x="3481460" y="4628949"/>
                  </a:lnTo>
                  <a:lnTo>
                    <a:pt x="3465305" y="4671769"/>
                  </a:lnTo>
                  <a:lnTo>
                    <a:pt x="3445973" y="4712918"/>
                  </a:lnTo>
                  <a:lnTo>
                    <a:pt x="3423615" y="4752245"/>
                  </a:lnTo>
                  <a:lnTo>
                    <a:pt x="3398381" y="4789600"/>
                  </a:lnTo>
                  <a:lnTo>
                    <a:pt x="3370421" y="4824832"/>
                  </a:lnTo>
                  <a:lnTo>
                    <a:pt x="3339886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6" y="5027259"/>
                  </a:lnTo>
                  <a:lnTo>
                    <a:pt x="2926068" y="5029199"/>
                  </a:lnTo>
                  <a:lnTo>
                    <a:pt x="585228" y="5029199"/>
                  </a:lnTo>
                  <a:lnTo>
                    <a:pt x="537230" y="5027259"/>
                  </a:lnTo>
                  <a:lnTo>
                    <a:pt x="490301" y="5021540"/>
                  </a:lnTo>
                  <a:lnTo>
                    <a:pt x="444591" y="5012191"/>
                  </a:lnTo>
                  <a:lnTo>
                    <a:pt x="400250" y="4999364"/>
                  </a:lnTo>
                  <a:lnTo>
                    <a:pt x="357431" y="4983209"/>
                  </a:lnTo>
                  <a:lnTo>
                    <a:pt x="316282" y="4963877"/>
                  </a:lnTo>
                  <a:lnTo>
                    <a:pt x="276955" y="4941519"/>
                  </a:lnTo>
                  <a:lnTo>
                    <a:pt x="239600" y="4916285"/>
                  </a:lnTo>
                  <a:lnTo>
                    <a:pt x="204368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335772" y="1461516"/>
            <a:ext cx="3336290" cy="2620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75F2D"/>
                </a:solidFill>
                <a:latin typeface="Trebuchet MS"/>
                <a:cs typeface="Trebuchet MS"/>
              </a:rPr>
              <a:t>Recommendation</a:t>
            </a:r>
            <a:r>
              <a:rPr sz="1400" b="1" spc="-70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75F2D"/>
                </a:solidFill>
                <a:latin typeface="Trebuchet MS"/>
                <a:cs typeface="Trebuchet MS"/>
              </a:rPr>
              <a:t>Engine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[Advisory]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Fertilizer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Dosage</a:t>
            </a:r>
            <a:r>
              <a:rPr sz="11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Advisory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Calculates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required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Urea,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DAP,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or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MOP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amounts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based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on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N-P-</a:t>
            </a:r>
            <a:r>
              <a:rPr sz="1000" spc="-60" dirty="0">
                <a:solidFill>
                  <a:srgbClr val="212529"/>
                </a:solidFill>
                <a:latin typeface="Calibri"/>
                <a:cs typeface="Calibri"/>
              </a:rPr>
              <a:t>K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 soil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 deficiencies.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[Advisory]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Irrigation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Scheduling</a:t>
            </a:r>
            <a:endParaRPr sz="1100">
              <a:latin typeface="Trebuchet MS"/>
              <a:cs typeface="Trebuchet MS"/>
            </a:endParaRPr>
          </a:p>
          <a:p>
            <a:pPr marL="12700" marR="11557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Determines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optimal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watering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frequency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by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combining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rainfall, temperature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crop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age.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[Advisory]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Crop</a:t>
            </a:r>
            <a:r>
              <a:rPr sz="11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Management</a:t>
            </a:r>
            <a:r>
              <a:rPr sz="11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Guidance</a:t>
            </a:r>
            <a:endParaRPr sz="1100">
              <a:latin typeface="Trebuchet MS"/>
              <a:cs typeface="Trebuchet MS"/>
            </a:endParaRPr>
          </a:p>
          <a:p>
            <a:pPr marL="12700" marR="24765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Provides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growth-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stage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specific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cultivation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practices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to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maximize yield.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[Advisory]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Soil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Care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&amp;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Amendments</a:t>
            </a:r>
            <a:endParaRPr sz="1100">
              <a:latin typeface="Trebuchet MS"/>
              <a:cs typeface="Trebuchet MS"/>
            </a:endParaRPr>
          </a:p>
          <a:p>
            <a:pPr marL="12700" marR="175895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Recommends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lime/gypsum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application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for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pH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correction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 organic</a:t>
            </a:r>
            <a:r>
              <a:rPr sz="1000" spc="-4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compost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additions.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366267"/>
            <a:ext cx="7759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SLIDE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6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OF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spc="-50" dirty="0">
                <a:solidFill>
                  <a:srgbClr val="22783E"/>
                </a:solidFill>
                <a:latin typeface="Trebuchet MS"/>
                <a:cs typeface="Trebuchet MS"/>
              </a:rPr>
              <a:t>7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100" y="484493"/>
            <a:ext cx="5042535" cy="5829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Slide</a:t>
            </a:r>
            <a:r>
              <a:rPr spc="-30" dirty="0"/>
              <a:t> </a:t>
            </a:r>
            <a:r>
              <a:rPr dirty="0"/>
              <a:t>6</a:t>
            </a:r>
            <a:r>
              <a:rPr spc="-25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UI</a:t>
            </a:r>
            <a:r>
              <a:rPr spc="-2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spc="-10" dirty="0"/>
              <a:t>Wireframes</a:t>
            </a: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Simple,</a:t>
            </a:r>
            <a:r>
              <a:rPr sz="1100" b="0" spc="-3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Farmer-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Friendly</a:t>
            </a:r>
            <a:r>
              <a:rPr sz="1100" b="0" spc="-3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Interface</a:t>
            </a:r>
            <a:r>
              <a:rPr sz="1100" b="0" spc="-3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Screen</a:t>
            </a:r>
            <a:r>
              <a:rPr sz="1100" b="0" spc="-3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Layouts</a:t>
            </a:r>
            <a:r>
              <a:rPr sz="1100" b="0" spc="-3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Focusing</a:t>
            </a:r>
            <a:r>
              <a:rPr sz="1100" b="0" spc="-3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on</a:t>
            </a:r>
            <a:r>
              <a:rPr sz="1100" b="0" spc="-3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Clear</a:t>
            </a:r>
            <a:r>
              <a:rPr sz="1100" b="0" spc="-3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Actionable</a:t>
            </a:r>
            <a:r>
              <a:rPr sz="1100" b="0" spc="-3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Guidance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850" y="1329962"/>
            <a:ext cx="11369995" cy="5956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7200" y="1353311"/>
            <a:ext cx="11277600" cy="502920"/>
          </a:xfrm>
          <a:prstGeom prst="rect">
            <a:avLst/>
          </a:prstGeom>
          <a:solidFill>
            <a:srgbClr val="E7F4E9"/>
          </a:solidFill>
          <a:ln w="12699">
            <a:solidFill>
              <a:srgbClr val="22783E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5158740" marR="276225" indent="-4792345">
              <a:lnSpc>
                <a:spcPct val="100000"/>
              </a:lnSpc>
              <a:spcBef>
                <a:spcPts val="790"/>
              </a:spcBef>
            </a:pP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UI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22783E"/>
                </a:solidFill>
                <a:latin typeface="Calibri"/>
                <a:cs typeface="Calibri"/>
              </a:rPr>
              <a:t>Philosophy: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22783E"/>
                </a:solidFill>
                <a:latin typeface="Calibri"/>
                <a:cs typeface="Calibri"/>
              </a:rPr>
              <a:t>Simple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&amp;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22783E"/>
                </a:solidFill>
                <a:latin typeface="Calibri"/>
                <a:cs typeface="Calibri"/>
              </a:rPr>
              <a:t>Farmer-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Centric.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Complex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ML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22783E"/>
                </a:solidFill>
                <a:latin typeface="Calibri"/>
                <a:cs typeface="Calibri"/>
              </a:rPr>
              <a:t>metrics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(MAE,</a:t>
            </a:r>
            <a:r>
              <a:rPr sz="1050" b="1" spc="-1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RMSE,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R²)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and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technical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model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22783E"/>
                </a:solidFill>
                <a:latin typeface="Calibri"/>
                <a:cs typeface="Calibri"/>
              </a:rPr>
              <a:t>comparisons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are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hidden</a:t>
            </a:r>
            <a:r>
              <a:rPr sz="1050" b="1" spc="-1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from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farmers.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Only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farm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22783E"/>
                </a:solidFill>
                <a:latin typeface="Calibri"/>
                <a:cs typeface="Calibri"/>
              </a:rPr>
              <a:t>status,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22783E"/>
                </a:solidFill>
                <a:latin typeface="Calibri"/>
                <a:cs typeface="Calibri"/>
              </a:rPr>
              <a:t>growth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%,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yield</a:t>
            </a:r>
            <a:r>
              <a:rPr sz="1050" b="1" spc="-1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&amp;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'What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should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I</a:t>
            </a:r>
            <a:r>
              <a:rPr sz="105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spc="-25" dirty="0">
                <a:solidFill>
                  <a:srgbClr val="22783E"/>
                </a:solidFill>
                <a:latin typeface="Calibri"/>
                <a:cs typeface="Calibri"/>
              </a:rPr>
              <a:t>do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today?'</a:t>
            </a:r>
            <a:r>
              <a:rPr sz="1050" b="1" spc="-3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2783E"/>
                </a:solidFill>
                <a:latin typeface="Calibri"/>
                <a:cs typeface="Calibri"/>
              </a:rPr>
              <a:t>are</a:t>
            </a:r>
            <a:r>
              <a:rPr sz="1050" b="1" spc="-2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22783E"/>
                </a:solidFill>
                <a:latin typeface="Calibri"/>
                <a:cs typeface="Calibri"/>
              </a:rPr>
              <a:t>shown.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0850" y="1942610"/>
            <a:ext cx="3604260" cy="4481830"/>
            <a:chOff x="410850" y="1942610"/>
            <a:chExt cx="3604260" cy="44818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850" y="1942610"/>
              <a:ext cx="3603996" cy="44818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7200" y="1965960"/>
              <a:ext cx="3511550" cy="4389120"/>
            </a:xfrm>
            <a:custGeom>
              <a:avLst/>
              <a:gdLst/>
              <a:ahLst/>
              <a:cxnLst/>
              <a:rect l="l" t="t" r="r" b="b"/>
              <a:pathLst>
                <a:path w="3511550" h="4389120">
                  <a:moveTo>
                    <a:pt x="2926068" y="4389119"/>
                  </a:moveTo>
                  <a:lnTo>
                    <a:pt x="585227" y="4389119"/>
                  </a:lnTo>
                  <a:lnTo>
                    <a:pt x="537229" y="4387179"/>
                  </a:lnTo>
                  <a:lnTo>
                    <a:pt x="490300" y="4381460"/>
                  </a:lnTo>
                  <a:lnTo>
                    <a:pt x="444590" y="4372111"/>
                  </a:lnTo>
                  <a:lnTo>
                    <a:pt x="400250" y="4359284"/>
                  </a:lnTo>
                  <a:lnTo>
                    <a:pt x="357430" y="4343129"/>
                  </a:lnTo>
                  <a:lnTo>
                    <a:pt x="316281" y="4323797"/>
                  </a:lnTo>
                  <a:lnTo>
                    <a:pt x="276954" y="4301439"/>
                  </a:lnTo>
                  <a:lnTo>
                    <a:pt x="239599" y="4276204"/>
                  </a:lnTo>
                  <a:lnTo>
                    <a:pt x="204367" y="4248245"/>
                  </a:lnTo>
                  <a:lnTo>
                    <a:pt x="171409" y="4217710"/>
                  </a:lnTo>
                  <a:lnTo>
                    <a:pt x="140874" y="4184752"/>
                  </a:lnTo>
                  <a:lnTo>
                    <a:pt x="112915" y="4149520"/>
                  </a:lnTo>
                  <a:lnTo>
                    <a:pt x="87680" y="4112165"/>
                  </a:lnTo>
                  <a:lnTo>
                    <a:pt x="65322" y="4072838"/>
                  </a:lnTo>
                  <a:lnTo>
                    <a:pt x="45990" y="4031689"/>
                  </a:lnTo>
                  <a:lnTo>
                    <a:pt x="29835" y="3988869"/>
                  </a:lnTo>
                  <a:lnTo>
                    <a:pt x="17008" y="3944529"/>
                  </a:lnTo>
                  <a:lnTo>
                    <a:pt x="7659" y="3898819"/>
                  </a:lnTo>
                  <a:lnTo>
                    <a:pt x="1940" y="3851890"/>
                  </a:lnTo>
                  <a:lnTo>
                    <a:pt x="0" y="3803892"/>
                  </a:lnTo>
                  <a:lnTo>
                    <a:pt x="0" y="585227"/>
                  </a:ln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5"/>
                  </a:lnTo>
                  <a:lnTo>
                    <a:pt x="276954" y="87680"/>
                  </a:lnTo>
                  <a:lnTo>
                    <a:pt x="316281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29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1" y="8985"/>
                  </a:lnTo>
                  <a:lnTo>
                    <a:pt x="3077948" y="20050"/>
                  </a:lnTo>
                  <a:lnTo>
                    <a:pt x="3126375" y="35347"/>
                  </a:lnTo>
                  <a:lnTo>
                    <a:pt x="3173253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3803892"/>
                  </a:lnTo>
                  <a:lnTo>
                    <a:pt x="3509355" y="3851890"/>
                  </a:lnTo>
                  <a:lnTo>
                    <a:pt x="3503636" y="3898819"/>
                  </a:lnTo>
                  <a:lnTo>
                    <a:pt x="3494287" y="3944529"/>
                  </a:lnTo>
                  <a:lnTo>
                    <a:pt x="3481460" y="3988869"/>
                  </a:lnTo>
                  <a:lnTo>
                    <a:pt x="3465305" y="4031689"/>
                  </a:lnTo>
                  <a:lnTo>
                    <a:pt x="3445973" y="4072838"/>
                  </a:lnTo>
                  <a:lnTo>
                    <a:pt x="3423615" y="4112165"/>
                  </a:lnTo>
                  <a:lnTo>
                    <a:pt x="3398380" y="4149520"/>
                  </a:lnTo>
                  <a:lnTo>
                    <a:pt x="3370421" y="4184752"/>
                  </a:lnTo>
                  <a:lnTo>
                    <a:pt x="3339886" y="4217710"/>
                  </a:lnTo>
                  <a:lnTo>
                    <a:pt x="3306928" y="4248245"/>
                  </a:lnTo>
                  <a:lnTo>
                    <a:pt x="3271696" y="4276204"/>
                  </a:lnTo>
                  <a:lnTo>
                    <a:pt x="3234341" y="4301439"/>
                  </a:lnTo>
                  <a:lnTo>
                    <a:pt x="3195014" y="4323797"/>
                  </a:lnTo>
                  <a:lnTo>
                    <a:pt x="3153865" y="4343129"/>
                  </a:lnTo>
                  <a:lnTo>
                    <a:pt x="3111045" y="4359284"/>
                  </a:lnTo>
                  <a:lnTo>
                    <a:pt x="3066705" y="4372111"/>
                  </a:lnTo>
                  <a:lnTo>
                    <a:pt x="3020995" y="4381460"/>
                  </a:lnTo>
                  <a:lnTo>
                    <a:pt x="2974065" y="4387179"/>
                  </a:lnTo>
                  <a:lnTo>
                    <a:pt x="2926068" y="43891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1965960"/>
              <a:ext cx="3511550" cy="4389120"/>
            </a:xfrm>
            <a:custGeom>
              <a:avLst/>
              <a:gdLst/>
              <a:ahLst/>
              <a:cxnLst/>
              <a:rect l="l" t="t" r="r" b="b"/>
              <a:pathLst>
                <a:path w="3511550" h="4389120">
                  <a:moveTo>
                    <a:pt x="0" y="585227"/>
                  </a:move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5"/>
                  </a:lnTo>
                  <a:lnTo>
                    <a:pt x="276954" y="87680"/>
                  </a:lnTo>
                  <a:lnTo>
                    <a:pt x="316281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29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1" y="8985"/>
                  </a:lnTo>
                  <a:lnTo>
                    <a:pt x="3077948" y="20050"/>
                  </a:lnTo>
                  <a:lnTo>
                    <a:pt x="3126375" y="35347"/>
                  </a:lnTo>
                  <a:lnTo>
                    <a:pt x="3173253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3803892"/>
                  </a:lnTo>
                  <a:lnTo>
                    <a:pt x="3509355" y="3851890"/>
                  </a:lnTo>
                  <a:lnTo>
                    <a:pt x="3503636" y="3898819"/>
                  </a:lnTo>
                  <a:lnTo>
                    <a:pt x="3494287" y="3944529"/>
                  </a:lnTo>
                  <a:lnTo>
                    <a:pt x="3481460" y="3988869"/>
                  </a:lnTo>
                  <a:lnTo>
                    <a:pt x="3465305" y="4031689"/>
                  </a:lnTo>
                  <a:lnTo>
                    <a:pt x="3445973" y="4072838"/>
                  </a:lnTo>
                  <a:lnTo>
                    <a:pt x="3423615" y="4112165"/>
                  </a:lnTo>
                  <a:lnTo>
                    <a:pt x="3398380" y="4149520"/>
                  </a:lnTo>
                  <a:lnTo>
                    <a:pt x="3370421" y="4184752"/>
                  </a:lnTo>
                  <a:lnTo>
                    <a:pt x="3339886" y="4217710"/>
                  </a:lnTo>
                  <a:lnTo>
                    <a:pt x="3306928" y="4248245"/>
                  </a:lnTo>
                  <a:lnTo>
                    <a:pt x="3271696" y="4276204"/>
                  </a:lnTo>
                  <a:lnTo>
                    <a:pt x="3234341" y="4301439"/>
                  </a:lnTo>
                  <a:lnTo>
                    <a:pt x="3195014" y="4323797"/>
                  </a:lnTo>
                  <a:lnTo>
                    <a:pt x="3153865" y="4343129"/>
                  </a:lnTo>
                  <a:lnTo>
                    <a:pt x="3111045" y="4359284"/>
                  </a:lnTo>
                  <a:lnTo>
                    <a:pt x="3066705" y="4372111"/>
                  </a:lnTo>
                  <a:lnTo>
                    <a:pt x="3020995" y="4381460"/>
                  </a:lnTo>
                  <a:lnTo>
                    <a:pt x="2974065" y="4387179"/>
                  </a:lnTo>
                  <a:lnTo>
                    <a:pt x="2926068" y="4389119"/>
                  </a:lnTo>
                  <a:lnTo>
                    <a:pt x="585227" y="4389119"/>
                  </a:lnTo>
                  <a:lnTo>
                    <a:pt x="537229" y="4387179"/>
                  </a:lnTo>
                  <a:lnTo>
                    <a:pt x="490300" y="4381460"/>
                  </a:lnTo>
                  <a:lnTo>
                    <a:pt x="444590" y="4372111"/>
                  </a:lnTo>
                  <a:lnTo>
                    <a:pt x="400250" y="4359284"/>
                  </a:lnTo>
                  <a:lnTo>
                    <a:pt x="357430" y="4343129"/>
                  </a:lnTo>
                  <a:lnTo>
                    <a:pt x="316281" y="4323797"/>
                  </a:lnTo>
                  <a:lnTo>
                    <a:pt x="276954" y="4301439"/>
                  </a:lnTo>
                  <a:lnTo>
                    <a:pt x="239599" y="4276204"/>
                  </a:lnTo>
                  <a:lnTo>
                    <a:pt x="204367" y="4248245"/>
                  </a:lnTo>
                  <a:lnTo>
                    <a:pt x="171409" y="4217710"/>
                  </a:lnTo>
                  <a:lnTo>
                    <a:pt x="140874" y="4184752"/>
                  </a:lnTo>
                  <a:lnTo>
                    <a:pt x="112915" y="4149520"/>
                  </a:lnTo>
                  <a:lnTo>
                    <a:pt x="87680" y="4112165"/>
                  </a:lnTo>
                  <a:lnTo>
                    <a:pt x="65322" y="4072838"/>
                  </a:lnTo>
                  <a:lnTo>
                    <a:pt x="45990" y="4031689"/>
                  </a:lnTo>
                  <a:lnTo>
                    <a:pt x="29835" y="3988869"/>
                  </a:lnTo>
                  <a:lnTo>
                    <a:pt x="17008" y="3944529"/>
                  </a:lnTo>
                  <a:lnTo>
                    <a:pt x="7659" y="3898819"/>
                  </a:lnTo>
                  <a:lnTo>
                    <a:pt x="1940" y="3851890"/>
                  </a:lnTo>
                  <a:lnTo>
                    <a:pt x="0" y="3803892"/>
                  </a:lnTo>
                  <a:lnTo>
                    <a:pt x="0" y="585227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1660" y="2055876"/>
            <a:ext cx="2197100" cy="1931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34315" algn="l"/>
              </a:tabLst>
            </a:pP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Field</a:t>
            </a:r>
            <a:r>
              <a:rPr sz="14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Data</a:t>
            </a:r>
            <a:r>
              <a:rPr sz="1400" b="1" spc="-3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Input</a:t>
            </a:r>
            <a:r>
              <a:rPr sz="14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4233C"/>
                </a:solidFill>
                <a:latin typeface="Trebuchet MS"/>
                <a:cs typeface="Trebuchet MS"/>
              </a:rPr>
              <a:t>Screen</a:t>
            </a:r>
            <a:endParaRPr sz="1400">
              <a:latin typeface="Trebuchet MS"/>
              <a:cs typeface="Trebuchet MS"/>
            </a:endParaRPr>
          </a:p>
          <a:p>
            <a:pPr marL="103505" lvl="1" indent="-90805">
              <a:lnSpc>
                <a:spcPct val="100000"/>
              </a:lnSpc>
              <a:spcBef>
                <a:spcPts val="925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pH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Input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(e.g.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6.5)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[Slider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/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Box]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400"/>
              </a:spcBef>
              <a:buChar char="•"/>
              <a:tabLst>
                <a:tab pos="103505" algn="l"/>
              </a:tabLst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Nitrogen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(N):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120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kg/ha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4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Phosphorus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(P):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45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kg/ha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4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Potassium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(K):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150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kg/ha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400"/>
              </a:spcBef>
              <a:buChar char="•"/>
              <a:tabLst>
                <a:tab pos="103505" algn="l"/>
              </a:tabLst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Temperature: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30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°C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|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Humidity: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65%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4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Rainfall: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110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mm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|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Irrigation: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Drip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4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Crop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Age: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6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Months</a:t>
            </a:r>
            <a:endParaRPr sz="1000">
              <a:latin typeface="Calibri"/>
              <a:cs typeface="Calibri"/>
            </a:endParaRPr>
          </a:p>
          <a:p>
            <a:pPr marL="103505" lvl="1" indent="-90805">
              <a:lnSpc>
                <a:spcPct val="100000"/>
              </a:lnSpc>
              <a:spcBef>
                <a:spcPts val="400"/>
              </a:spcBef>
              <a:buChar char="•"/>
              <a:tabLst>
                <a:tab pos="103505" algn="l"/>
              </a:tabLst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Type: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Black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/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Clay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(Optional)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1660" y="4165091"/>
            <a:ext cx="23710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2783E"/>
                </a:solidFill>
                <a:latin typeface="Calibri"/>
                <a:cs typeface="Calibri"/>
              </a:rPr>
              <a:t>Action</a:t>
            </a:r>
            <a:r>
              <a:rPr sz="100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22783E"/>
                </a:solidFill>
                <a:latin typeface="Calibri"/>
                <a:cs typeface="Calibri"/>
              </a:rPr>
              <a:t>Button:</a:t>
            </a:r>
            <a:r>
              <a:rPr sz="1000" b="1" spc="-1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22783E"/>
                </a:solidFill>
                <a:latin typeface="Calibri"/>
                <a:cs typeface="Calibri"/>
              </a:rPr>
              <a:t>[</a:t>
            </a:r>
            <a:r>
              <a:rPr sz="1000" b="1" spc="-1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22783E"/>
                </a:solidFill>
                <a:latin typeface="Calibri"/>
                <a:cs typeface="Calibri"/>
              </a:rPr>
              <a:t>Predict</a:t>
            </a:r>
            <a:r>
              <a:rPr sz="100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22783E"/>
                </a:solidFill>
                <a:latin typeface="Calibri"/>
                <a:cs typeface="Calibri"/>
              </a:rPr>
              <a:t>Growth</a:t>
            </a:r>
            <a:r>
              <a:rPr sz="1000" b="1" spc="-1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22783E"/>
                </a:solidFill>
                <a:latin typeface="Calibri"/>
                <a:cs typeface="Calibri"/>
              </a:rPr>
              <a:t>&amp;</a:t>
            </a:r>
            <a:r>
              <a:rPr sz="1000" b="1" spc="-15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22783E"/>
                </a:solidFill>
                <a:latin typeface="Calibri"/>
                <a:cs typeface="Calibri"/>
              </a:rPr>
              <a:t>Advisory</a:t>
            </a:r>
            <a:r>
              <a:rPr sz="1000" b="1" spc="-20" dirty="0">
                <a:solidFill>
                  <a:srgbClr val="22783E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22783E"/>
                </a:solidFill>
                <a:latin typeface="Calibri"/>
                <a:cs typeface="Calibri"/>
              </a:rPr>
              <a:t>]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87905" y="1942610"/>
            <a:ext cx="3604260" cy="4481830"/>
            <a:chOff x="4287905" y="1942610"/>
            <a:chExt cx="3604260" cy="448183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7905" y="1942610"/>
              <a:ext cx="3603996" cy="448182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334255" y="1965960"/>
              <a:ext cx="3511550" cy="4389120"/>
            </a:xfrm>
            <a:custGeom>
              <a:avLst/>
              <a:gdLst/>
              <a:ahLst/>
              <a:cxnLst/>
              <a:rect l="l" t="t" r="r" b="b"/>
              <a:pathLst>
                <a:path w="3511550" h="4389120">
                  <a:moveTo>
                    <a:pt x="2926068" y="4389119"/>
                  </a:moveTo>
                  <a:lnTo>
                    <a:pt x="585227" y="4389119"/>
                  </a:lnTo>
                  <a:lnTo>
                    <a:pt x="537230" y="4387179"/>
                  </a:lnTo>
                  <a:lnTo>
                    <a:pt x="490300" y="4381460"/>
                  </a:lnTo>
                  <a:lnTo>
                    <a:pt x="444590" y="4372111"/>
                  </a:lnTo>
                  <a:lnTo>
                    <a:pt x="400250" y="4359284"/>
                  </a:lnTo>
                  <a:lnTo>
                    <a:pt x="357430" y="4343129"/>
                  </a:lnTo>
                  <a:lnTo>
                    <a:pt x="316282" y="4323797"/>
                  </a:lnTo>
                  <a:lnTo>
                    <a:pt x="276954" y="4301439"/>
                  </a:lnTo>
                  <a:lnTo>
                    <a:pt x="239599" y="4276204"/>
                  </a:lnTo>
                  <a:lnTo>
                    <a:pt x="204367" y="4248245"/>
                  </a:lnTo>
                  <a:lnTo>
                    <a:pt x="171409" y="4217710"/>
                  </a:lnTo>
                  <a:lnTo>
                    <a:pt x="140874" y="4184752"/>
                  </a:lnTo>
                  <a:lnTo>
                    <a:pt x="112915" y="4149520"/>
                  </a:lnTo>
                  <a:lnTo>
                    <a:pt x="87680" y="4112165"/>
                  </a:lnTo>
                  <a:lnTo>
                    <a:pt x="65322" y="4072838"/>
                  </a:lnTo>
                  <a:lnTo>
                    <a:pt x="45990" y="4031689"/>
                  </a:lnTo>
                  <a:lnTo>
                    <a:pt x="29835" y="3988869"/>
                  </a:lnTo>
                  <a:lnTo>
                    <a:pt x="17008" y="3944529"/>
                  </a:lnTo>
                  <a:lnTo>
                    <a:pt x="7659" y="3898819"/>
                  </a:lnTo>
                  <a:lnTo>
                    <a:pt x="1940" y="3851890"/>
                  </a:lnTo>
                  <a:lnTo>
                    <a:pt x="0" y="3803892"/>
                  </a:lnTo>
                  <a:lnTo>
                    <a:pt x="0" y="585227"/>
                  </a:ln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5"/>
                  </a:lnTo>
                  <a:lnTo>
                    <a:pt x="276954" y="87680"/>
                  </a:lnTo>
                  <a:lnTo>
                    <a:pt x="316282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30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4" y="78191"/>
                  </a:lnTo>
                  <a:lnTo>
                    <a:pt x="3261285" y="105515"/>
                  </a:lnTo>
                  <a:lnTo>
                    <a:pt x="3301900" y="136625"/>
                  </a:lnTo>
                  <a:lnTo>
                    <a:pt x="3339887" y="171409"/>
                  </a:lnTo>
                  <a:lnTo>
                    <a:pt x="3374671" y="209396"/>
                  </a:lnTo>
                  <a:lnTo>
                    <a:pt x="3405781" y="250010"/>
                  </a:lnTo>
                  <a:lnTo>
                    <a:pt x="3433105" y="292982"/>
                  </a:lnTo>
                  <a:lnTo>
                    <a:pt x="3456531" y="338042"/>
                  </a:lnTo>
                  <a:lnTo>
                    <a:pt x="3475949" y="384920"/>
                  </a:lnTo>
                  <a:lnTo>
                    <a:pt x="3491246" y="433347"/>
                  </a:lnTo>
                  <a:lnTo>
                    <a:pt x="3502311" y="483054"/>
                  </a:lnTo>
                  <a:lnTo>
                    <a:pt x="3509031" y="533770"/>
                  </a:lnTo>
                  <a:lnTo>
                    <a:pt x="3511296" y="585227"/>
                  </a:lnTo>
                  <a:lnTo>
                    <a:pt x="3511296" y="3803892"/>
                  </a:lnTo>
                  <a:lnTo>
                    <a:pt x="3509356" y="3851890"/>
                  </a:lnTo>
                  <a:lnTo>
                    <a:pt x="3503637" y="3898819"/>
                  </a:lnTo>
                  <a:lnTo>
                    <a:pt x="3494288" y="3944529"/>
                  </a:lnTo>
                  <a:lnTo>
                    <a:pt x="3481461" y="3988869"/>
                  </a:lnTo>
                  <a:lnTo>
                    <a:pt x="3465306" y="4031689"/>
                  </a:lnTo>
                  <a:lnTo>
                    <a:pt x="3445974" y="4072838"/>
                  </a:lnTo>
                  <a:lnTo>
                    <a:pt x="3423616" y="4112165"/>
                  </a:lnTo>
                  <a:lnTo>
                    <a:pt x="3398381" y="4149520"/>
                  </a:lnTo>
                  <a:lnTo>
                    <a:pt x="3370421" y="4184752"/>
                  </a:lnTo>
                  <a:lnTo>
                    <a:pt x="3339887" y="4217710"/>
                  </a:lnTo>
                  <a:lnTo>
                    <a:pt x="3306928" y="4248245"/>
                  </a:lnTo>
                  <a:lnTo>
                    <a:pt x="3271696" y="4276204"/>
                  </a:lnTo>
                  <a:lnTo>
                    <a:pt x="3234341" y="4301439"/>
                  </a:lnTo>
                  <a:lnTo>
                    <a:pt x="3195014" y="4323797"/>
                  </a:lnTo>
                  <a:lnTo>
                    <a:pt x="3153865" y="4343129"/>
                  </a:lnTo>
                  <a:lnTo>
                    <a:pt x="3111045" y="4359284"/>
                  </a:lnTo>
                  <a:lnTo>
                    <a:pt x="3066705" y="4372111"/>
                  </a:lnTo>
                  <a:lnTo>
                    <a:pt x="3020995" y="4381460"/>
                  </a:lnTo>
                  <a:lnTo>
                    <a:pt x="2974066" y="4387179"/>
                  </a:lnTo>
                  <a:lnTo>
                    <a:pt x="2926068" y="43891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34255" y="1965960"/>
              <a:ext cx="3511550" cy="4389120"/>
            </a:xfrm>
            <a:custGeom>
              <a:avLst/>
              <a:gdLst/>
              <a:ahLst/>
              <a:cxnLst/>
              <a:rect l="l" t="t" r="r" b="b"/>
              <a:pathLst>
                <a:path w="3511550" h="4389120">
                  <a:moveTo>
                    <a:pt x="0" y="585227"/>
                  </a:move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5"/>
                  </a:lnTo>
                  <a:lnTo>
                    <a:pt x="276954" y="87680"/>
                  </a:lnTo>
                  <a:lnTo>
                    <a:pt x="316282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30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4" y="78191"/>
                  </a:lnTo>
                  <a:lnTo>
                    <a:pt x="3261285" y="105515"/>
                  </a:lnTo>
                  <a:lnTo>
                    <a:pt x="3301900" y="136625"/>
                  </a:lnTo>
                  <a:lnTo>
                    <a:pt x="3339887" y="171409"/>
                  </a:lnTo>
                  <a:lnTo>
                    <a:pt x="3374671" y="209396"/>
                  </a:lnTo>
                  <a:lnTo>
                    <a:pt x="3405781" y="250010"/>
                  </a:lnTo>
                  <a:lnTo>
                    <a:pt x="3433105" y="292982"/>
                  </a:lnTo>
                  <a:lnTo>
                    <a:pt x="3456531" y="338042"/>
                  </a:lnTo>
                  <a:lnTo>
                    <a:pt x="3475949" y="384920"/>
                  </a:lnTo>
                  <a:lnTo>
                    <a:pt x="3491246" y="433347"/>
                  </a:lnTo>
                  <a:lnTo>
                    <a:pt x="3502311" y="483054"/>
                  </a:lnTo>
                  <a:lnTo>
                    <a:pt x="3509031" y="533770"/>
                  </a:lnTo>
                  <a:lnTo>
                    <a:pt x="3511296" y="585227"/>
                  </a:lnTo>
                  <a:lnTo>
                    <a:pt x="3511296" y="3803892"/>
                  </a:lnTo>
                  <a:lnTo>
                    <a:pt x="3509356" y="3851890"/>
                  </a:lnTo>
                  <a:lnTo>
                    <a:pt x="3503637" y="3898819"/>
                  </a:lnTo>
                  <a:lnTo>
                    <a:pt x="3494288" y="3944529"/>
                  </a:lnTo>
                  <a:lnTo>
                    <a:pt x="3481461" y="3988869"/>
                  </a:lnTo>
                  <a:lnTo>
                    <a:pt x="3465306" y="4031689"/>
                  </a:lnTo>
                  <a:lnTo>
                    <a:pt x="3445974" y="4072838"/>
                  </a:lnTo>
                  <a:lnTo>
                    <a:pt x="3423616" y="4112165"/>
                  </a:lnTo>
                  <a:lnTo>
                    <a:pt x="3398381" y="4149520"/>
                  </a:lnTo>
                  <a:lnTo>
                    <a:pt x="3370421" y="4184752"/>
                  </a:lnTo>
                  <a:lnTo>
                    <a:pt x="3339887" y="4217710"/>
                  </a:lnTo>
                  <a:lnTo>
                    <a:pt x="3306928" y="4248245"/>
                  </a:lnTo>
                  <a:lnTo>
                    <a:pt x="3271696" y="4276204"/>
                  </a:lnTo>
                  <a:lnTo>
                    <a:pt x="3234341" y="4301439"/>
                  </a:lnTo>
                  <a:lnTo>
                    <a:pt x="3195014" y="4323797"/>
                  </a:lnTo>
                  <a:lnTo>
                    <a:pt x="3153865" y="4343129"/>
                  </a:lnTo>
                  <a:lnTo>
                    <a:pt x="3111045" y="4359284"/>
                  </a:lnTo>
                  <a:lnTo>
                    <a:pt x="3066705" y="4372111"/>
                  </a:lnTo>
                  <a:lnTo>
                    <a:pt x="3020995" y="4381460"/>
                  </a:lnTo>
                  <a:lnTo>
                    <a:pt x="2974066" y="4387179"/>
                  </a:lnTo>
                  <a:lnTo>
                    <a:pt x="2926068" y="4389119"/>
                  </a:lnTo>
                  <a:lnTo>
                    <a:pt x="585227" y="4389119"/>
                  </a:lnTo>
                  <a:lnTo>
                    <a:pt x="537230" y="4387179"/>
                  </a:lnTo>
                  <a:lnTo>
                    <a:pt x="490300" y="4381460"/>
                  </a:lnTo>
                  <a:lnTo>
                    <a:pt x="444590" y="4372111"/>
                  </a:lnTo>
                  <a:lnTo>
                    <a:pt x="400250" y="4359284"/>
                  </a:lnTo>
                  <a:lnTo>
                    <a:pt x="357430" y="4343129"/>
                  </a:lnTo>
                  <a:lnTo>
                    <a:pt x="316282" y="4323797"/>
                  </a:lnTo>
                  <a:lnTo>
                    <a:pt x="276954" y="4301439"/>
                  </a:lnTo>
                  <a:lnTo>
                    <a:pt x="239599" y="4276204"/>
                  </a:lnTo>
                  <a:lnTo>
                    <a:pt x="204367" y="4248245"/>
                  </a:lnTo>
                  <a:lnTo>
                    <a:pt x="171409" y="4217710"/>
                  </a:lnTo>
                  <a:lnTo>
                    <a:pt x="140874" y="4184752"/>
                  </a:lnTo>
                  <a:lnTo>
                    <a:pt x="112915" y="4149520"/>
                  </a:lnTo>
                  <a:lnTo>
                    <a:pt x="87680" y="4112165"/>
                  </a:lnTo>
                  <a:lnTo>
                    <a:pt x="65322" y="4072838"/>
                  </a:lnTo>
                  <a:lnTo>
                    <a:pt x="45990" y="4031689"/>
                  </a:lnTo>
                  <a:lnTo>
                    <a:pt x="29835" y="3988869"/>
                  </a:lnTo>
                  <a:lnTo>
                    <a:pt x="17008" y="3944529"/>
                  </a:lnTo>
                  <a:lnTo>
                    <a:pt x="7659" y="3898819"/>
                  </a:lnTo>
                  <a:lnTo>
                    <a:pt x="1940" y="3851890"/>
                  </a:lnTo>
                  <a:lnTo>
                    <a:pt x="0" y="3803892"/>
                  </a:lnTo>
                  <a:lnTo>
                    <a:pt x="0" y="585227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458716" y="2055876"/>
            <a:ext cx="2547620" cy="864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2.</a:t>
            </a:r>
            <a:r>
              <a:rPr sz="1400" b="1" spc="-2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Farm</a:t>
            </a:r>
            <a:r>
              <a:rPr sz="1400" b="1" spc="-2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Health</a:t>
            </a:r>
            <a:r>
              <a:rPr sz="1400" b="1" spc="-2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&amp;</a:t>
            </a:r>
            <a:r>
              <a:rPr sz="1400" b="1" spc="-2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Yield</a:t>
            </a:r>
            <a:r>
              <a:rPr sz="1400" b="1" spc="-2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F6EA5"/>
                </a:solidFill>
                <a:latin typeface="Trebuchet MS"/>
                <a:cs typeface="Trebuchet MS"/>
              </a:rPr>
              <a:t>Screen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000" b="1" dirty="0">
                <a:solidFill>
                  <a:srgbClr val="212529"/>
                </a:solidFill>
                <a:latin typeface="Calibri"/>
                <a:cs typeface="Calibri"/>
              </a:rPr>
              <a:t>Sugarcane</a:t>
            </a:r>
            <a:r>
              <a:rPr sz="1000" b="1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212529"/>
                </a:solidFill>
                <a:latin typeface="Calibri"/>
                <a:cs typeface="Calibri"/>
              </a:rPr>
              <a:t>Growth</a:t>
            </a:r>
            <a:r>
              <a:rPr sz="1000" b="1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212529"/>
                </a:solidFill>
                <a:latin typeface="Calibri"/>
                <a:cs typeface="Calibri"/>
              </a:rPr>
              <a:t>Status:</a:t>
            </a:r>
            <a:endParaRPr sz="1000">
              <a:latin typeface="Calibri"/>
              <a:cs typeface="Calibri"/>
            </a:endParaRPr>
          </a:p>
          <a:p>
            <a:pPr marL="127000" marR="622935">
              <a:lnSpc>
                <a:spcPct val="116700"/>
              </a:lnSpc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Growth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Percentage: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78%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(Healthy)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Estimated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Yield: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85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Tons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/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Hectare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58716" y="3072891"/>
            <a:ext cx="1906905" cy="7366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dirty="0">
                <a:solidFill>
                  <a:srgbClr val="212529"/>
                </a:solidFill>
                <a:latin typeface="Calibri"/>
                <a:cs typeface="Calibri"/>
              </a:rPr>
              <a:t>Status</a:t>
            </a:r>
            <a:r>
              <a:rPr sz="1000" b="1" spc="-6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212529"/>
                </a:solidFill>
                <a:latin typeface="Calibri"/>
                <a:cs typeface="Calibri"/>
              </a:rPr>
              <a:t>Badges:</a:t>
            </a:r>
            <a:endParaRPr sz="100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[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Overall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Health: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GOOD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14233C"/>
                </a:solidFill>
                <a:latin typeface="Calibri"/>
                <a:cs typeface="Calibri"/>
              </a:rPr>
              <a:t>]</a:t>
            </a:r>
            <a:endParaRPr sz="1000">
              <a:latin typeface="Calibri"/>
              <a:cs typeface="Calibri"/>
            </a:endParaRPr>
          </a:p>
          <a:p>
            <a:pPr marL="127000" marR="5080">
              <a:lnSpc>
                <a:spcPct val="116700"/>
              </a:lnSpc>
            </a:pP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[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4233C"/>
                </a:solidFill>
                <a:latin typeface="Calibri"/>
                <a:cs typeface="Calibri"/>
              </a:rPr>
              <a:t>Nitrogen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Level: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SLIGHT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DEFICIT</a:t>
            </a:r>
            <a:r>
              <a:rPr sz="1000" b="1" spc="-2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14233C"/>
                </a:solidFill>
                <a:latin typeface="Calibri"/>
                <a:cs typeface="Calibri"/>
              </a:rPr>
              <a:t>]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 [</a:t>
            </a:r>
            <a:r>
              <a:rPr sz="1000" b="1" spc="-5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4233C"/>
                </a:solidFill>
                <a:latin typeface="Calibri"/>
                <a:cs typeface="Calibri"/>
              </a:rPr>
              <a:t>Moisture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4233C"/>
                </a:solidFill>
                <a:latin typeface="Calibri"/>
                <a:cs typeface="Calibri"/>
              </a:rPr>
              <a:t>Status: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4233C"/>
                </a:solidFill>
                <a:latin typeface="Calibri"/>
                <a:cs typeface="Calibri"/>
              </a:rPr>
              <a:t>OPTIMAL</a:t>
            </a:r>
            <a:r>
              <a:rPr sz="1000" b="1" dirty="0">
                <a:solidFill>
                  <a:srgbClr val="14233C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14233C"/>
                </a:solidFill>
                <a:latin typeface="Calibri"/>
                <a:cs typeface="Calibri"/>
              </a:rPr>
              <a:t>]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8716" y="3987291"/>
            <a:ext cx="28721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Note: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Simple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visual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progress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bars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status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badges</a:t>
            </a:r>
            <a:r>
              <a:rPr sz="100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for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 effortless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farmer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understanding.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64962" y="1942610"/>
            <a:ext cx="3604260" cy="4481830"/>
            <a:chOff x="8164962" y="1942610"/>
            <a:chExt cx="3604260" cy="448183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4962" y="1942610"/>
              <a:ext cx="3603996" cy="44818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211311" y="1965960"/>
              <a:ext cx="3511550" cy="4389120"/>
            </a:xfrm>
            <a:custGeom>
              <a:avLst/>
              <a:gdLst/>
              <a:ahLst/>
              <a:cxnLst/>
              <a:rect l="l" t="t" r="r" b="b"/>
              <a:pathLst>
                <a:path w="3511550" h="4389120">
                  <a:moveTo>
                    <a:pt x="2926068" y="4389119"/>
                  </a:moveTo>
                  <a:lnTo>
                    <a:pt x="585228" y="4389119"/>
                  </a:lnTo>
                  <a:lnTo>
                    <a:pt x="537230" y="4387179"/>
                  </a:lnTo>
                  <a:lnTo>
                    <a:pt x="490301" y="4381460"/>
                  </a:lnTo>
                  <a:lnTo>
                    <a:pt x="444591" y="4372111"/>
                  </a:lnTo>
                  <a:lnTo>
                    <a:pt x="400250" y="4359284"/>
                  </a:lnTo>
                  <a:lnTo>
                    <a:pt x="357431" y="4343129"/>
                  </a:lnTo>
                  <a:lnTo>
                    <a:pt x="316282" y="4323797"/>
                  </a:lnTo>
                  <a:lnTo>
                    <a:pt x="276955" y="4301439"/>
                  </a:lnTo>
                  <a:lnTo>
                    <a:pt x="239600" y="4276204"/>
                  </a:lnTo>
                  <a:lnTo>
                    <a:pt x="204368" y="4248245"/>
                  </a:lnTo>
                  <a:lnTo>
                    <a:pt x="171409" y="4217710"/>
                  </a:lnTo>
                  <a:lnTo>
                    <a:pt x="140874" y="4184752"/>
                  </a:lnTo>
                  <a:lnTo>
                    <a:pt x="112915" y="4149520"/>
                  </a:lnTo>
                  <a:lnTo>
                    <a:pt x="87680" y="4112165"/>
                  </a:lnTo>
                  <a:lnTo>
                    <a:pt x="65322" y="4072838"/>
                  </a:lnTo>
                  <a:lnTo>
                    <a:pt x="45990" y="4031689"/>
                  </a:lnTo>
                  <a:lnTo>
                    <a:pt x="29835" y="3988869"/>
                  </a:lnTo>
                  <a:lnTo>
                    <a:pt x="17008" y="3944529"/>
                  </a:lnTo>
                  <a:lnTo>
                    <a:pt x="7659" y="3898819"/>
                  </a:lnTo>
                  <a:lnTo>
                    <a:pt x="1940" y="3851890"/>
                  </a:lnTo>
                  <a:lnTo>
                    <a:pt x="0" y="3803892"/>
                  </a:lnTo>
                  <a:lnTo>
                    <a:pt x="0" y="585227"/>
                  </a:ln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8" y="140874"/>
                  </a:lnTo>
                  <a:lnTo>
                    <a:pt x="239600" y="112915"/>
                  </a:lnTo>
                  <a:lnTo>
                    <a:pt x="276955" y="87680"/>
                  </a:lnTo>
                  <a:lnTo>
                    <a:pt x="316282" y="65322"/>
                  </a:lnTo>
                  <a:lnTo>
                    <a:pt x="357431" y="45990"/>
                  </a:lnTo>
                  <a:lnTo>
                    <a:pt x="400250" y="29835"/>
                  </a:lnTo>
                  <a:lnTo>
                    <a:pt x="444591" y="17008"/>
                  </a:lnTo>
                  <a:lnTo>
                    <a:pt x="490301" y="7659"/>
                  </a:lnTo>
                  <a:lnTo>
                    <a:pt x="537230" y="1940"/>
                  </a:lnTo>
                  <a:lnTo>
                    <a:pt x="585228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3803892"/>
                  </a:lnTo>
                  <a:lnTo>
                    <a:pt x="3509355" y="3851890"/>
                  </a:lnTo>
                  <a:lnTo>
                    <a:pt x="3503636" y="3898819"/>
                  </a:lnTo>
                  <a:lnTo>
                    <a:pt x="3494287" y="3944529"/>
                  </a:lnTo>
                  <a:lnTo>
                    <a:pt x="3481460" y="3988869"/>
                  </a:lnTo>
                  <a:lnTo>
                    <a:pt x="3465305" y="4031689"/>
                  </a:lnTo>
                  <a:lnTo>
                    <a:pt x="3445973" y="4072838"/>
                  </a:lnTo>
                  <a:lnTo>
                    <a:pt x="3423615" y="4112165"/>
                  </a:lnTo>
                  <a:lnTo>
                    <a:pt x="3398381" y="4149520"/>
                  </a:lnTo>
                  <a:lnTo>
                    <a:pt x="3370421" y="4184752"/>
                  </a:lnTo>
                  <a:lnTo>
                    <a:pt x="3339886" y="4217710"/>
                  </a:lnTo>
                  <a:lnTo>
                    <a:pt x="3306928" y="4248245"/>
                  </a:lnTo>
                  <a:lnTo>
                    <a:pt x="3271696" y="4276204"/>
                  </a:lnTo>
                  <a:lnTo>
                    <a:pt x="3234341" y="4301439"/>
                  </a:lnTo>
                  <a:lnTo>
                    <a:pt x="3195014" y="4323797"/>
                  </a:lnTo>
                  <a:lnTo>
                    <a:pt x="3153865" y="4343129"/>
                  </a:lnTo>
                  <a:lnTo>
                    <a:pt x="3111045" y="4359284"/>
                  </a:lnTo>
                  <a:lnTo>
                    <a:pt x="3066705" y="4372111"/>
                  </a:lnTo>
                  <a:lnTo>
                    <a:pt x="3020995" y="4381460"/>
                  </a:lnTo>
                  <a:lnTo>
                    <a:pt x="2974066" y="4387179"/>
                  </a:lnTo>
                  <a:lnTo>
                    <a:pt x="2926068" y="43891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211311" y="1965960"/>
              <a:ext cx="3511550" cy="4389120"/>
            </a:xfrm>
            <a:custGeom>
              <a:avLst/>
              <a:gdLst/>
              <a:ahLst/>
              <a:cxnLst/>
              <a:rect l="l" t="t" r="r" b="b"/>
              <a:pathLst>
                <a:path w="3511550" h="4389120">
                  <a:moveTo>
                    <a:pt x="0" y="585227"/>
                  </a:move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8" y="140874"/>
                  </a:lnTo>
                  <a:lnTo>
                    <a:pt x="239600" y="112915"/>
                  </a:lnTo>
                  <a:lnTo>
                    <a:pt x="276955" y="87680"/>
                  </a:lnTo>
                  <a:lnTo>
                    <a:pt x="316282" y="65322"/>
                  </a:lnTo>
                  <a:lnTo>
                    <a:pt x="357431" y="45990"/>
                  </a:lnTo>
                  <a:lnTo>
                    <a:pt x="400250" y="29835"/>
                  </a:lnTo>
                  <a:lnTo>
                    <a:pt x="444591" y="17008"/>
                  </a:lnTo>
                  <a:lnTo>
                    <a:pt x="490301" y="7659"/>
                  </a:lnTo>
                  <a:lnTo>
                    <a:pt x="537230" y="1940"/>
                  </a:lnTo>
                  <a:lnTo>
                    <a:pt x="585228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3803892"/>
                  </a:lnTo>
                  <a:lnTo>
                    <a:pt x="3509355" y="3851890"/>
                  </a:lnTo>
                  <a:lnTo>
                    <a:pt x="3503636" y="3898819"/>
                  </a:lnTo>
                  <a:lnTo>
                    <a:pt x="3494287" y="3944529"/>
                  </a:lnTo>
                  <a:lnTo>
                    <a:pt x="3481460" y="3988869"/>
                  </a:lnTo>
                  <a:lnTo>
                    <a:pt x="3465305" y="4031689"/>
                  </a:lnTo>
                  <a:lnTo>
                    <a:pt x="3445973" y="4072838"/>
                  </a:lnTo>
                  <a:lnTo>
                    <a:pt x="3423615" y="4112165"/>
                  </a:lnTo>
                  <a:lnTo>
                    <a:pt x="3398381" y="4149520"/>
                  </a:lnTo>
                  <a:lnTo>
                    <a:pt x="3370421" y="4184752"/>
                  </a:lnTo>
                  <a:lnTo>
                    <a:pt x="3339886" y="4217710"/>
                  </a:lnTo>
                  <a:lnTo>
                    <a:pt x="3306928" y="4248245"/>
                  </a:lnTo>
                  <a:lnTo>
                    <a:pt x="3271696" y="4276204"/>
                  </a:lnTo>
                  <a:lnTo>
                    <a:pt x="3234341" y="4301439"/>
                  </a:lnTo>
                  <a:lnTo>
                    <a:pt x="3195014" y="4323797"/>
                  </a:lnTo>
                  <a:lnTo>
                    <a:pt x="3153865" y="4343129"/>
                  </a:lnTo>
                  <a:lnTo>
                    <a:pt x="3111045" y="4359284"/>
                  </a:lnTo>
                  <a:lnTo>
                    <a:pt x="3066705" y="4372111"/>
                  </a:lnTo>
                  <a:lnTo>
                    <a:pt x="3020995" y="4381460"/>
                  </a:lnTo>
                  <a:lnTo>
                    <a:pt x="2974066" y="4387179"/>
                  </a:lnTo>
                  <a:lnTo>
                    <a:pt x="2926068" y="4389119"/>
                  </a:lnTo>
                  <a:lnTo>
                    <a:pt x="585228" y="4389119"/>
                  </a:lnTo>
                  <a:lnTo>
                    <a:pt x="537230" y="4387179"/>
                  </a:lnTo>
                  <a:lnTo>
                    <a:pt x="490301" y="4381460"/>
                  </a:lnTo>
                  <a:lnTo>
                    <a:pt x="444591" y="4372111"/>
                  </a:lnTo>
                  <a:lnTo>
                    <a:pt x="400250" y="4359284"/>
                  </a:lnTo>
                  <a:lnTo>
                    <a:pt x="357431" y="4343129"/>
                  </a:lnTo>
                  <a:lnTo>
                    <a:pt x="316282" y="4323797"/>
                  </a:lnTo>
                  <a:lnTo>
                    <a:pt x="276955" y="4301439"/>
                  </a:lnTo>
                  <a:lnTo>
                    <a:pt x="239600" y="4276204"/>
                  </a:lnTo>
                  <a:lnTo>
                    <a:pt x="204368" y="4248245"/>
                  </a:lnTo>
                  <a:lnTo>
                    <a:pt x="171409" y="4217710"/>
                  </a:lnTo>
                  <a:lnTo>
                    <a:pt x="140874" y="4184752"/>
                  </a:lnTo>
                  <a:lnTo>
                    <a:pt x="112915" y="4149520"/>
                  </a:lnTo>
                  <a:lnTo>
                    <a:pt x="87680" y="4112165"/>
                  </a:lnTo>
                  <a:lnTo>
                    <a:pt x="65322" y="4072838"/>
                  </a:lnTo>
                  <a:lnTo>
                    <a:pt x="45990" y="4031689"/>
                  </a:lnTo>
                  <a:lnTo>
                    <a:pt x="29835" y="3988869"/>
                  </a:lnTo>
                  <a:lnTo>
                    <a:pt x="17008" y="3944529"/>
                  </a:lnTo>
                  <a:lnTo>
                    <a:pt x="7659" y="3898819"/>
                  </a:lnTo>
                  <a:lnTo>
                    <a:pt x="1940" y="3851890"/>
                  </a:lnTo>
                  <a:lnTo>
                    <a:pt x="0" y="3803892"/>
                  </a:lnTo>
                  <a:lnTo>
                    <a:pt x="0" y="585227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335772" y="2055876"/>
            <a:ext cx="2372360" cy="50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75F2D"/>
                </a:solidFill>
                <a:latin typeface="Trebuchet MS"/>
                <a:cs typeface="Trebuchet MS"/>
              </a:rPr>
              <a:t>3.</a:t>
            </a:r>
            <a:r>
              <a:rPr sz="1400" b="1" spc="-20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75F2D"/>
                </a:solidFill>
                <a:latin typeface="Trebuchet MS"/>
                <a:cs typeface="Trebuchet MS"/>
              </a:rPr>
              <a:t>'What</a:t>
            </a:r>
            <a:r>
              <a:rPr sz="1400" b="1" spc="-20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75F2D"/>
                </a:solidFill>
                <a:latin typeface="Trebuchet MS"/>
                <a:cs typeface="Trebuchet MS"/>
              </a:rPr>
              <a:t>Should</a:t>
            </a:r>
            <a:r>
              <a:rPr sz="1400" b="1" spc="-20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75F2D"/>
                </a:solidFill>
                <a:latin typeface="Trebuchet MS"/>
                <a:cs typeface="Trebuchet MS"/>
              </a:rPr>
              <a:t>I</a:t>
            </a:r>
            <a:r>
              <a:rPr sz="1400" b="1" spc="-1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75F2D"/>
                </a:solidFill>
                <a:latin typeface="Trebuchet MS"/>
                <a:cs typeface="Trebuchet MS"/>
              </a:rPr>
              <a:t>Do</a:t>
            </a:r>
            <a:r>
              <a:rPr sz="1400" b="1" spc="-20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75F2D"/>
                </a:solidFill>
                <a:latin typeface="Trebuchet MS"/>
                <a:cs typeface="Trebuchet MS"/>
              </a:rPr>
              <a:t>Today?'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000" b="1" dirty="0">
                <a:solidFill>
                  <a:srgbClr val="D75F2D"/>
                </a:solidFill>
                <a:latin typeface="Calibri"/>
                <a:cs typeface="Calibri"/>
              </a:rPr>
              <a:t>Headline:</a:t>
            </a:r>
            <a:r>
              <a:rPr sz="1000" b="1" spc="-25" dirty="0">
                <a:solidFill>
                  <a:srgbClr val="D75F2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D75F2D"/>
                </a:solidFill>
                <a:latin typeface="Calibri"/>
                <a:cs typeface="Calibri"/>
              </a:rPr>
              <a:t>'What</a:t>
            </a:r>
            <a:r>
              <a:rPr sz="1000" b="1" spc="-25" dirty="0">
                <a:solidFill>
                  <a:srgbClr val="D75F2D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D75F2D"/>
                </a:solidFill>
                <a:latin typeface="Calibri"/>
                <a:cs typeface="Calibri"/>
              </a:rPr>
              <a:t>should</a:t>
            </a:r>
            <a:r>
              <a:rPr sz="1000" b="1" spc="-20" dirty="0">
                <a:solidFill>
                  <a:srgbClr val="D75F2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D75F2D"/>
                </a:solidFill>
                <a:latin typeface="Calibri"/>
                <a:cs typeface="Calibri"/>
              </a:rPr>
              <a:t>I</a:t>
            </a:r>
            <a:r>
              <a:rPr sz="1000" b="1" spc="-25" dirty="0">
                <a:solidFill>
                  <a:srgbClr val="D75F2D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D75F2D"/>
                </a:solidFill>
                <a:latin typeface="Calibri"/>
                <a:cs typeface="Calibri"/>
              </a:rPr>
              <a:t>do</a:t>
            </a:r>
            <a:r>
              <a:rPr sz="1000" b="1" spc="-25" dirty="0">
                <a:solidFill>
                  <a:srgbClr val="D75F2D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D75F2D"/>
                </a:solidFill>
                <a:latin typeface="Calibri"/>
                <a:cs typeface="Calibri"/>
              </a:rPr>
              <a:t>today?'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35772" y="2717291"/>
            <a:ext cx="2002789" cy="3810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dirty="0">
                <a:solidFill>
                  <a:srgbClr val="212529"/>
                </a:solidFill>
                <a:latin typeface="Calibri"/>
                <a:cs typeface="Calibri"/>
              </a:rPr>
              <a:t>Irrigation</a:t>
            </a:r>
            <a:r>
              <a:rPr sz="1000" b="1" spc="-5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212529"/>
                </a:solidFill>
                <a:latin typeface="Calibri"/>
                <a:cs typeface="Calibri"/>
              </a:rPr>
              <a:t>Advisory:</a:t>
            </a:r>
            <a:endParaRPr sz="100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  <a:spcBef>
                <a:spcPts val="200"/>
              </a:spcBef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Irrigate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25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mm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water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in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next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2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days.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35772" y="3250691"/>
            <a:ext cx="2165985" cy="3810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spc="-10" dirty="0">
                <a:solidFill>
                  <a:srgbClr val="212529"/>
                </a:solidFill>
                <a:latin typeface="Calibri"/>
                <a:cs typeface="Calibri"/>
              </a:rPr>
              <a:t>Fertilizer</a:t>
            </a:r>
            <a:r>
              <a:rPr sz="1000" b="1" spc="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212529"/>
                </a:solidFill>
                <a:latin typeface="Calibri"/>
                <a:cs typeface="Calibri"/>
              </a:rPr>
              <a:t>Dosage:</a:t>
            </a:r>
            <a:endParaRPr sz="100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  <a:spcBef>
                <a:spcPts val="200"/>
              </a:spcBef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Apply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45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kg/ha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Urea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to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boost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Nitrogen.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35772" y="3784092"/>
            <a:ext cx="3141980" cy="5334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000" b="1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1000" b="1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212529"/>
                </a:solidFill>
                <a:latin typeface="Calibri"/>
                <a:cs typeface="Calibri"/>
              </a:rPr>
              <a:t>Crop</a:t>
            </a:r>
            <a:r>
              <a:rPr sz="1000" b="1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212529"/>
                </a:solidFill>
                <a:latin typeface="Calibri"/>
                <a:cs typeface="Calibri"/>
              </a:rPr>
              <a:t>Care:</a:t>
            </a:r>
            <a:endParaRPr sz="1000">
              <a:latin typeface="Calibri"/>
              <a:cs typeface="Calibri"/>
            </a:endParaRPr>
          </a:p>
          <a:p>
            <a:pPr marL="12700" marR="5080" indent="114300">
              <a:lnSpc>
                <a:spcPct val="100000"/>
              </a:lnSpc>
              <a:spcBef>
                <a:spcPts val="200"/>
              </a:spcBef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Soil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pH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is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optimal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(6.5).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Maintain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current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organic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mulching practices.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366267"/>
            <a:ext cx="7759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SLIDE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7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22783E"/>
                </a:solidFill>
                <a:latin typeface="Trebuchet MS"/>
                <a:cs typeface="Trebuchet MS"/>
              </a:rPr>
              <a:t>OF</a:t>
            </a:r>
            <a:r>
              <a:rPr sz="1000" b="1" spc="-2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00" b="1" spc="-50" dirty="0">
                <a:solidFill>
                  <a:srgbClr val="22783E"/>
                </a:solidFill>
                <a:latin typeface="Trebuchet MS"/>
                <a:cs typeface="Trebuchet MS"/>
              </a:rPr>
              <a:t>7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100" y="484493"/>
            <a:ext cx="6146800" cy="5829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Slide</a:t>
            </a:r>
            <a:r>
              <a:rPr spc="-40" dirty="0"/>
              <a:t> </a:t>
            </a:r>
            <a:r>
              <a:rPr dirty="0"/>
              <a:t>7</a:t>
            </a:r>
            <a:r>
              <a:rPr spc="-4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Technology</a:t>
            </a:r>
            <a:r>
              <a:rPr spc="-40" dirty="0"/>
              <a:t> </a:t>
            </a:r>
            <a:r>
              <a:rPr dirty="0"/>
              <a:t>Stack</a:t>
            </a:r>
            <a:r>
              <a:rPr spc="-3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dirty="0"/>
              <a:t>Implementation</a:t>
            </a:r>
            <a:r>
              <a:rPr spc="-35" dirty="0"/>
              <a:t> </a:t>
            </a:r>
            <a:r>
              <a:rPr spc="-10" dirty="0"/>
              <a:t>Status</a:t>
            </a: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Technology</a:t>
            </a:r>
            <a:r>
              <a:rPr sz="1100" b="0" spc="-55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Selection,</a:t>
            </a:r>
            <a:r>
              <a:rPr sz="1100" b="0" spc="-4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Actual</a:t>
            </a:r>
            <a:r>
              <a:rPr sz="1100" b="0" spc="-4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Project</a:t>
            </a:r>
            <a:r>
              <a:rPr sz="1100" b="0" spc="-4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Development</a:t>
            </a:r>
            <a:r>
              <a:rPr sz="1100" b="0" spc="-4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Progress,</a:t>
            </a:r>
            <a:r>
              <a:rPr sz="1100" b="0" spc="-4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and</a:t>
            </a:r>
            <a:r>
              <a:rPr sz="1100" b="0" spc="-4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5A6473"/>
                </a:solidFill>
                <a:latin typeface="Calibri"/>
                <a:cs typeface="Calibri"/>
              </a:rPr>
              <a:t>Immediate</a:t>
            </a:r>
            <a:r>
              <a:rPr sz="1100" b="0" spc="-40" dirty="0">
                <a:solidFill>
                  <a:srgbClr val="5A6473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5A6473"/>
                </a:solidFill>
                <a:latin typeface="Calibri"/>
                <a:cs typeface="Calibri"/>
              </a:rPr>
              <a:t>Milestones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0850" y="1348250"/>
            <a:ext cx="3604260" cy="5121910"/>
            <a:chOff x="410850" y="1348250"/>
            <a:chExt cx="3604260" cy="5121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850" y="1348250"/>
              <a:ext cx="3603996" cy="51219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2926068" y="5029199"/>
                  </a:moveTo>
                  <a:lnTo>
                    <a:pt x="585227" y="5029199"/>
                  </a:lnTo>
                  <a:lnTo>
                    <a:pt x="537229" y="5027259"/>
                  </a:lnTo>
                  <a:lnTo>
                    <a:pt x="490300" y="5021540"/>
                  </a:lnTo>
                  <a:lnTo>
                    <a:pt x="444590" y="5012191"/>
                  </a:lnTo>
                  <a:lnTo>
                    <a:pt x="400250" y="4999364"/>
                  </a:lnTo>
                  <a:lnTo>
                    <a:pt x="357430" y="4983209"/>
                  </a:lnTo>
                  <a:lnTo>
                    <a:pt x="316281" y="4963877"/>
                  </a:lnTo>
                  <a:lnTo>
                    <a:pt x="276954" y="4941519"/>
                  </a:lnTo>
                  <a:lnTo>
                    <a:pt x="239599" y="4916285"/>
                  </a:lnTo>
                  <a:lnTo>
                    <a:pt x="204367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4"/>
                  </a:lnTo>
                  <a:lnTo>
                    <a:pt x="276954" y="87680"/>
                  </a:lnTo>
                  <a:lnTo>
                    <a:pt x="316281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29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1" y="8985"/>
                  </a:lnTo>
                  <a:lnTo>
                    <a:pt x="3077948" y="20050"/>
                  </a:lnTo>
                  <a:lnTo>
                    <a:pt x="3126375" y="35347"/>
                  </a:lnTo>
                  <a:lnTo>
                    <a:pt x="3173253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4443972"/>
                  </a:lnTo>
                  <a:lnTo>
                    <a:pt x="3509355" y="4491970"/>
                  </a:lnTo>
                  <a:lnTo>
                    <a:pt x="3503636" y="4538899"/>
                  </a:lnTo>
                  <a:lnTo>
                    <a:pt x="3494287" y="4584609"/>
                  </a:lnTo>
                  <a:lnTo>
                    <a:pt x="3481460" y="4628949"/>
                  </a:lnTo>
                  <a:lnTo>
                    <a:pt x="3465305" y="4671769"/>
                  </a:lnTo>
                  <a:lnTo>
                    <a:pt x="3445973" y="4712918"/>
                  </a:lnTo>
                  <a:lnTo>
                    <a:pt x="3423615" y="4752245"/>
                  </a:lnTo>
                  <a:lnTo>
                    <a:pt x="3398380" y="4789600"/>
                  </a:lnTo>
                  <a:lnTo>
                    <a:pt x="3370421" y="4824832"/>
                  </a:lnTo>
                  <a:lnTo>
                    <a:pt x="3339886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5" y="5027259"/>
                  </a:lnTo>
                  <a:lnTo>
                    <a:pt x="2926068" y="502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0" y="585227"/>
                  </a:move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4"/>
                  </a:lnTo>
                  <a:lnTo>
                    <a:pt x="276954" y="87680"/>
                  </a:lnTo>
                  <a:lnTo>
                    <a:pt x="316281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29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1" y="8985"/>
                  </a:lnTo>
                  <a:lnTo>
                    <a:pt x="3077948" y="20050"/>
                  </a:lnTo>
                  <a:lnTo>
                    <a:pt x="3126375" y="35347"/>
                  </a:lnTo>
                  <a:lnTo>
                    <a:pt x="3173253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4443972"/>
                  </a:lnTo>
                  <a:lnTo>
                    <a:pt x="3509355" y="4491970"/>
                  </a:lnTo>
                  <a:lnTo>
                    <a:pt x="3503636" y="4538899"/>
                  </a:lnTo>
                  <a:lnTo>
                    <a:pt x="3494287" y="4584609"/>
                  </a:lnTo>
                  <a:lnTo>
                    <a:pt x="3481460" y="4628949"/>
                  </a:lnTo>
                  <a:lnTo>
                    <a:pt x="3465305" y="4671769"/>
                  </a:lnTo>
                  <a:lnTo>
                    <a:pt x="3445973" y="4712918"/>
                  </a:lnTo>
                  <a:lnTo>
                    <a:pt x="3423615" y="4752245"/>
                  </a:lnTo>
                  <a:lnTo>
                    <a:pt x="3398380" y="4789600"/>
                  </a:lnTo>
                  <a:lnTo>
                    <a:pt x="3370421" y="4824832"/>
                  </a:lnTo>
                  <a:lnTo>
                    <a:pt x="3339886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5" y="5027259"/>
                  </a:lnTo>
                  <a:lnTo>
                    <a:pt x="2926068" y="5029199"/>
                  </a:lnTo>
                  <a:lnTo>
                    <a:pt x="585227" y="5029199"/>
                  </a:lnTo>
                  <a:lnTo>
                    <a:pt x="537229" y="5027259"/>
                  </a:lnTo>
                  <a:lnTo>
                    <a:pt x="490300" y="5021540"/>
                  </a:lnTo>
                  <a:lnTo>
                    <a:pt x="444590" y="5012191"/>
                  </a:lnTo>
                  <a:lnTo>
                    <a:pt x="400250" y="4999364"/>
                  </a:lnTo>
                  <a:lnTo>
                    <a:pt x="357430" y="4983209"/>
                  </a:lnTo>
                  <a:lnTo>
                    <a:pt x="316281" y="4963877"/>
                  </a:lnTo>
                  <a:lnTo>
                    <a:pt x="276954" y="4941519"/>
                  </a:lnTo>
                  <a:lnTo>
                    <a:pt x="239599" y="4916285"/>
                  </a:lnTo>
                  <a:lnTo>
                    <a:pt x="204367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1660" y="1461516"/>
            <a:ext cx="3099435" cy="2011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4233C"/>
                </a:solidFill>
                <a:latin typeface="Trebuchet MS"/>
                <a:cs typeface="Trebuchet MS"/>
              </a:rPr>
              <a:t>Technology</a:t>
            </a:r>
            <a:r>
              <a:rPr sz="1400" b="1" spc="-5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4233C"/>
                </a:solidFill>
                <a:latin typeface="Trebuchet MS"/>
                <a:cs typeface="Trebuchet MS"/>
              </a:rPr>
              <a:t>Stack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[Stack]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Frontend</a:t>
            </a:r>
            <a:r>
              <a:rPr sz="11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Technologies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React.js,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JavaScript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(ES6+),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HTML5,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CSS3,</a:t>
            </a:r>
            <a:r>
              <a:rPr sz="100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Bootstrap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[Stack]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Backend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&amp;</a:t>
            </a:r>
            <a:r>
              <a:rPr sz="1100" b="1" spc="-2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API</a:t>
            </a:r>
            <a:r>
              <a:rPr sz="1100" b="1" spc="-3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Architecture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Python</a:t>
            </a:r>
            <a:r>
              <a:rPr sz="1000" spc="-4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3.11,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FastAPI,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RESTful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API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Client-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Server</a:t>
            </a:r>
            <a:r>
              <a:rPr sz="100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Architecture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[Stack]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Machine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Learning</a:t>
            </a:r>
            <a:r>
              <a:rPr sz="1100" b="1" spc="-4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Frameworks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Scikit-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learn,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XGBoost,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Pandas,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NumPy,</a:t>
            </a:r>
            <a:r>
              <a:rPr sz="100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Matplotlib,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Joblib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[Stack]</a:t>
            </a:r>
            <a:r>
              <a:rPr sz="11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Environment</a:t>
            </a:r>
            <a:r>
              <a:rPr sz="1100" b="1" spc="-15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4233C"/>
                </a:solidFill>
                <a:latin typeface="Trebuchet MS"/>
                <a:cs typeface="Trebuchet MS"/>
              </a:rPr>
              <a:t>&amp;</a:t>
            </a:r>
            <a:r>
              <a:rPr sz="1100" b="1" spc="-20" dirty="0">
                <a:solidFill>
                  <a:srgbClr val="14233C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14233C"/>
                </a:solidFill>
                <a:latin typeface="Trebuchet MS"/>
                <a:cs typeface="Trebuchet MS"/>
              </a:rPr>
              <a:t>Tools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VS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Code,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Git,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Jupyter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Notebooks,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Windows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11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529"/>
                </a:solidFill>
                <a:latin typeface="Calibri"/>
                <a:cs typeface="Calibri"/>
              </a:rPr>
              <a:t>/</a:t>
            </a:r>
            <a:r>
              <a:rPr sz="100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529"/>
                </a:solidFill>
                <a:latin typeface="Calibri"/>
                <a:cs typeface="Calibri"/>
              </a:rPr>
              <a:t>Ubuntu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87905" y="1348250"/>
            <a:ext cx="3604260" cy="5121910"/>
            <a:chOff x="4287905" y="1348250"/>
            <a:chExt cx="3604260" cy="512191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7905" y="1348250"/>
              <a:ext cx="3603996" cy="51219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34255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2926068" y="5029199"/>
                  </a:moveTo>
                  <a:lnTo>
                    <a:pt x="585227" y="5029199"/>
                  </a:lnTo>
                  <a:lnTo>
                    <a:pt x="537230" y="5027259"/>
                  </a:lnTo>
                  <a:lnTo>
                    <a:pt x="490300" y="5021540"/>
                  </a:lnTo>
                  <a:lnTo>
                    <a:pt x="444590" y="5012191"/>
                  </a:lnTo>
                  <a:lnTo>
                    <a:pt x="400250" y="4999364"/>
                  </a:lnTo>
                  <a:lnTo>
                    <a:pt x="357430" y="4983209"/>
                  </a:lnTo>
                  <a:lnTo>
                    <a:pt x="316282" y="4963877"/>
                  </a:lnTo>
                  <a:lnTo>
                    <a:pt x="276954" y="4941519"/>
                  </a:lnTo>
                  <a:lnTo>
                    <a:pt x="239599" y="4916285"/>
                  </a:lnTo>
                  <a:lnTo>
                    <a:pt x="204367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4"/>
                  </a:lnTo>
                  <a:lnTo>
                    <a:pt x="276954" y="87680"/>
                  </a:lnTo>
                  <a:lnTo>
                    <a:pt x="316282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30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4" y="78191"/>
                  </a:lnTo>
                  <a:lnTo>
                    <a:pt x="3261285" y="105515"/>
                  </a:lnTo>
                  <a:lnTo>
                    <a:pt x="3301900" y="136625"/>
                  </a:lnTo>
                  <a:lnTo>
                    <a:pt x="3339887" y="171409"/>
                  </a:lnTo>
                  <a:lnTo>
                    <a:pt x="3374671" y="209396"/>
                  </a:lnTo>
                  <a:lnTo>
                    <a:pt x="3405781" y="250010"/>
                  </a:lnTo>
                  <a:lnTo>
                    <a:pt x="3433105" y="292982"/>
                  </a:lnTo>
                  <a:lnTo>
                    <a:pt x="3456531" y="338042"/>
                  </a:lnTo>
                  <a:lnTo>
                    <a:pt x="3475949" y="384920"/>
                  </a:lnTo>
                  <a:lnTo>
                    <a:pt x="3491246" y="433347"/>
                  </a:lnTo>
                  <a:lnTo>
                    <a:pt x="3502311" y="483054"/>
                  </a:lnTo>
                  <a:lnTo>
                    <a:pt x="3509031" y="533770"/>
                  </a:lnTo>
                  <a:lnTo>
                    <a:pt x="3511296" y="585227"/>
                  </a:lnTo>
                  <a:lnTo>
                    <a:pt x="3511296" y="4443972"/>
                  </a:lnTo>
                  <a:lnTo>
                    <a:pt x="3509356" y="4491970"/>
                  </a:lnTo>
                  <a:lnTo>
                    <a:pt x="3503637" y="4538899"/>
                  </a:lnTo>
                  <a:lnTo>
                    <a:pt x="3494288" y="4584609"/>
                  </a:lnTo>
                  <a:lnTo>
                    <a:pt x="3481461" y="4628949"/>
                  </a:lnTo>
                  <a:lnTo>
                    <a:pt x="3465306" y="4671769"/>
                  </a:lnTo>
                  <a:lnTo>
                    <a:pt x="3445974" y="4712918"/>
                  </a:lnTo>
                  <a:lnTo>
                    <a:pt x="3423616" y="4752245"/>
                  </a:lnTo>
                  <a:lnTo>
                    <a:pt x="3398381" y="4789600"/>
                  </a:lnTo>
                  <a:lnTo>
                    <a:pt x="3370421" y="4824832"/>
                  </a:lnTo>
                  <a:lnTo>
                    <a:pt x="3339887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6" y="5027259"/>
                  </a:lnTo>
                  <a:lnTo>
                    <a:pt x="2926068" y="502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34255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0" y="585227"/>
                  </a:move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7" y="140874"/>
                  </a:lnTo>
                  <a:lnTo>
                    <a:pt x="239599" y="112914"/>
                  </a:lnTo>
                  <a:lnTo>
                    <a:pt x="276954" y="87680"/>
                  </a:lnTo>
                  <a:lnTo>
                    <a:pt x="316282" y="65322"/>
                  </a:lnTo>
                  <a:lnTo>
                    <a:pt x="357430" y="45990"/>
                  </a:lnTo>
                  <a:lnTo>
                    <a:pt x="400250" y="29835"/>
                  </a:lnTo>
                  <a:lnTo>
                    <a:pt x="444590" y="17008"/>
                  </a:lnTo>
                  <a:lnTo>
                    <a:pt x="490300" y="7659"/>
                  </a:lnTo>
                  <a:lnTo>
                    <a:pt x="537230" y="1940"/>
                  </a:lnTo>
                  <a:lnTo>
                    <a:pt x="585227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4" y="78191"/>
                  </a:lnTo>
                  <a:lnTo>
                    <a:pt x="3261285" y="105515"/>
                  </a:lnTo>
                  <a:lnTo>
                    <a:pt x="3301900" y="136625"/>
                  </a:lnTo>
                  <a:lnTo>
                    <a:pt x="3339887" y="171409"/>
                  </a:lnTo>
                  <a:lnTo>
                    <a:pt x="3374671" y="209396"/>
                  </a:lnTo>
                  <a:lnTo>
                    <a:pt x="3405781" y="250010"/>
                  </a:lnTo>
                  <a:lnTo>
                    <a:pt x="3433105" y="292982"/>
                  </a:lnTo>
                  <a:lnTo>
                    <a:pt x="3456531" y="338042"/>
                  </a:lnTo>
                  <a:lnTo>
                    <a:pt x="3475949" y="384920"/>
                  </a:lnTo>
                  <a:lnTo>
                    <a:pt x="3491246" y="433347"/>
                  </a:lnTo>
                  <a:lnTo>
                    <a:pt x="3502311" y="483054"/>
                  </a:lnTo>
                  <a:lnTo>
                    <a:pt x="3509031" y="533770"/>
                  </a:lnTo>
                  <a:lnTo>
                    <a:pt x="3511296" y="585227"/>
                  </a:lnTo>
                  <a:lnTo>
                    <a:pt x="3511296" y="4443972"/>
                  </a:lnTo>
                  <a:lnTo>
                    <a:pt x="3509356" y="4491970"/>
                  </a:lnTo>
                  <a:lnTo>
                    <a:pt x="3503637" y="4538899"/>
                  </a:lnTo>
                  <a:lnTo>
                    <a:pt x="3494288" y="4584609"/>
                  </a:lnTo>
                  <a:lnTo>
                    <a:pt x="3481461" y="4628949"/>
                  </a:lnTo>
                  <a:lnTo>
                    <a:pt x="3465306" y="4671769"/>
                  </a:lnTo>
                  <a:lnTo>
                    <a:pt x="3445974" y="4712918"/>
                  </a:lnTo>
                  <a:lnTo>
                    <a:pt x="3423616" y="4752245"/>
                  </a:lnTo>
                  <a:lnTo>
                    <a:pt x="3398381" y="4789600"/>
                  </a:lnTo>
                  <a:lnTo>
                    <a:pt x="3370421" y="4824832"/>
                  </a:lnTo>
                  <a:lnTo>
                    <a:pt x="3339887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6" y="5027259"/>
                  </a:lnTo>
                  <a:lnTo>
                    <a:pt x="2926068" y="5029199"/>
                  </a:lnTo>
                  <a:lnTo>
                    <a:pt x="585227" y="5029199"/>
                  </a:lnTo>
                  <a:lnTo>
                    <a:pt x="537230" y="5027259"/>
                  </a:lnTo>
                  <a:lnTo>
                    <a:pt x="490300" y="5021540"/>
                  </a:lnTo>
                  <a:lnTo>
                    <a:pt x="444590" y="5012191"/>
                  </a:lnTo>
                  <a:lnTo>
                    <a:pt x="400250" y="4999364"/>
                  </a:lnTo>
                  <a:lnTo>
                    <a:pt x="357430" y="4983209"/>
                  </a:lnTo>
                  <a:lnTo>
                    <a:pt x="316282" y="4963877"/>
                  </a:lnTo>
                  <a:lnTo>
                    <a:pt x="276954" y="4941519"/>
                  </a:lnTo>
                  <a:lnTo>
                    <a:pt x="239599" y="4916285"/>
                  </a:lnTo>
                  <a:lnTo>
                    <a:pt x="204367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58716" y="1461516"/>
            <a:ext cx="3140710" cy="241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Actual</a:t>
            </a:r>
            <a:r>
              <a:rPr sz="1400" b="1" spc="-5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2783E"/>
                </a:solidFill>
                <a:latin typeface="Trebuchet MS"/>
                <a:cs typeface="Trebuchet MS"/>
              </a:rPr>
              <a:t>Implementation</a:t>
            </a:r>
            <a:r>
              <a:rPr sz="1400" b="1" spc="-50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22783E"/>
                </a:solidFill>
                <a:latin typeface="Trebuchet MS"/>
                <a:cs typeface="Trebuchet MS"/>
              </a:rPr>
              <a:t>Status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050" b="1" spc="-10" dirty="0">
                <a:solidFill>
                  <a:srgbClr val="22783E"/>
                </a:solidFill>
                <a:latin typeface="Trebuchet MS"/>
                <a:cs typeface="Trebuchet MS"/>
              </a:rPr>
              <a:t>[Completed] Synopsis</a:t>
            </a:r>
            <a:r>
              <a:rPr sz="1050" b="1" spc="-5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22783E"/>
                </a:solidFill>
                <a:latin typeface="Trebuchet MS"/>
                <a:cs typeface="Trebuchet MS"/>
              </a:rPr>
              <a:t>&amp;</a:t>
            </a:r>
            <a:r>
              <a:rPr sz="1050" b="1" spc="-5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22783E"/>
                </a:solidFill>
                <a:latin typeface="Trebuchet MS"/>
                <a:cs typeface="Trebuchet MS"/>
              </a:rPr>
              <a:t>Scope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Approved</a:t>
            </a:r>
            <a:r>
              <a:rPr sz="95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finalized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by</a:t>
            </a:r>
            <a:r>
              <a:rPr sz="950" spc="-3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department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review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committee.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b="1" spc="-10" dirty="0">
                <a:solidFill>
                  <a:srgbClr val="22783E"/>
                </a:solidFill>
                <a:latin typeface="Trebuchet MS"/>
                <a:cs typeface="Trebuchet MS"/>
              </a:rPr>
              <a:t>[Completed]</a:t>
            </a:r>
            <a:r>
              <a:rPr sz="1050" b="1" spc="-25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22783E"/>
                </a:solidFill>
                <a:latin typeface="Trebuchet MS"/>
                <a:cs typeface="Trebuchet MS"/>
              </a:rPr>
              <a:t>System</a:t>
            </a:r>
            <a:r>
              <a:rPr sz="1050" b="1" spc="-15" dirty="0">
                <a:solidFill>
                  <a:srgbClr val="22783E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22783E"/>
                </a:solidFill>
                <a:latin typeface="Trebuchet MS"/>
                <a:cs typeface="Trebuchet MS"/>
              </a:rPr>
              <a:t>Architecture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Complete design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of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6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core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 modules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REST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API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 flow.</a:t>
            </a:r>
            <a:endParaRPr sz="950">
              <a:latin typeface="Calibri"/>
              <a:cs typeface="Calibri"/>
            </a:endParaRPr>
          </a:p>
          <a:p>
            <a:pPr marL="12700" marR="201295">
              <a:lnSpc>
                <a:spcPct val="104099"/>
              </a:lnSpc>
              <a:spcBef>
                <a:spcPts val="545"/>
              </a:spcBef>
            </a:pPr>
            <a:r>
              <a:rPr sz="1050" b="1" dirty="0">
                <a:solidFill>
                  <a:srgbClr val="D75F2D"/>
                </a:solidFill>
                <a:latin typeface="Trebuchet MS"/>
                <a:cs typeface="Trebuchet MS"/>
              </a:rPr>
              <a:t>[In</a:t>
            </a:r>
            <a:r>
              <a:rPr sz="1050" b="1" spc="-3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D75F2D"/>
                </a:solidFill>
                <a:latin typeface="Trebuchet MS"/>
                <a:cs typeface="Trebuchet MS"/>
              </a:rPr>
              <a:t>Progress]</a:t>
            </a:r>
            <a:r>
              <a:rPr sz="1050" b="1" spc="-2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D75F2D"/>
                </a:solidFill>
                <a:latin typeface="Trebuchet MS"/>
                <a:cs typeface="Trebuchet MS"/>
              </a:rPr>
              <a:t>Data</a:t>
            </a:r>
            <a:r>
              <a:rPr sz="1050" b="1" spc="-2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D75F2D"/>
                </a:solidFill>
                <a:latin typeface="Trebuchet MS"/>
                <a:cs typeface="Trebuchet MS"/>
              </a:rPr>
              <a:t>Collection</a:t>
            </a:r>
            <a:r>
              <a:rPr sz="1050" b="1" spc="-2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D75F2D"/>
                </a:solidFill>
                <a:latin typeface="Trebuchet MS"/>
                <a:cs typeface="Trebuchet MS"/>
              </a:rPr>
              <a:t>&amp;</a:t>
            </a:r>
            <a:r>
              <a:rPr sz="1050" b="1" spc="-20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D75F2D"/>
                </a:solidFill>
                <a:latin typeface="Trebuchet MS"/>
                <a:cs typeface="Trebuchet MS"/>
              </a:rPr>
              <a:t>Cleaning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Agricultural</a:t>
            </a:r>
            <a:r>
              <a:rPr sz="95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parameter</a:t>
            </a:r>
            <a:r>
              <a:rPr sz="95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dataset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curated;</a:t>
            </a:r>
            <a:r>
              <a:rPr sz="95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cleaning</a:t>
            </a:r>
            <a:r>
              <a:rPr sz="95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pipeline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212529"/>
                </a:solidFill>
                <a:latin typeface="Calibri"/>
                <a:cs typeface="Calibri"/>
              </a:rPr>
              <a:t>in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 progress.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b="1" dirty="0">
                <a:solidFill>
                  <a:srgbClr val="D75F2D"/>
                </a:solidFill>
                <a:latin typeface="Trebuchet MS"/>
                <a:cs typeface="Trebuchet MS"/>
              </a:rPr>
              <a:t>[In</a:t>
            </a:r>
            <a:r>
              <a:rPr sz="1050" b="1" spc="-3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D75F2D"/>
                </a:solidFill>
                <a:latin typeface="Trebuchet MS"/>
                <a:cs typeface="Trebuchet MS"/>
              </a:rPr>
              <a:t>Progress]</a:t>
            </a:r>
            <a:r>
              <a:rPr sz="1050" b="1" spc="-30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D75F2D"/>
                </a:solidFill>
                <a:latin typeface="Trebuchet MS"/>
                <a:cs typeface="Trebuchet MS"/>
              </a:rPr>
              <a:t>Model</a:t>
            </a:r>
            <a:r>
              <a:rPr sz="1050" b="1" spc="-3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D75F2D"/>
                </a:solidFill>
                <a:latin typeface="Trebuchet MS"/>
                <a:cs typeface="Trebuchet MS"/>
              </a:rPr>
              <a:t>Training</a:t>
            </a:r>
            <a:r>
              <a:rPr sz="1050" b="1" spc="-30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D75F2D"/>
                </a:solidFill>
                <a:latin typeface="Trebuchet MS"/>
                <a:cs typeface="Trebuchet MS"/>
              </a:rPr>
              <a:t>Pipeline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Setting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up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DT,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RF,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Gradient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Boosting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&amp;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XGBoost</a:t>
            </a:r>
            <a:r>
              <a:rPr sz="95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training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scripts.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b="1" dirty="0">
                <a:solidFill>
                  <a:srgbClr val="D75F2D"/>
                </a:solidFill>
                <a:latin typeface="Trebuchet MS"/>
                <a:cs typeface="Trebuchet MS"/>
              </a:rPr>
              <a:t>[In</a:t>
            </a:r>
            <a:r>
              <a:rPr sz="1050" b="1" spc="-30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D75F2D"/>
                </a:solidFill>
                <a:latin typeface="Trebuchet MS"/>
                <a:cs typeface="Trebuchet MS"/>
              </a:rPr>
              <a:t>Progress]</a:t>
            </a:r>
            <a:r>
              <a:rPr sz="1050" b="1" spc="-30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D75F2D"/>
                </a:solidFill>
                <a:latin typeface="Trebuchet MS"/>
                <a:cs typeface="Trebuchet MS"/>
              </a:rPr>
              <a:t>UI</a:t>
            </a:r>
            <a:r>
              <a:rPr sz="1050" b="1" spc="-25" dirty="0">
                <a:solidFill>
                  <a:srgbClr val="D75F2D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D75F2D"/>
                </a:solidFill>
                <a:latin typeface="Trebuchet MS"/>
                <a:cs typeface="Trebuchet MS"/>
              </a:rPr>
              <a:t>Wireframing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React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UI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components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form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screen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wireframes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designed.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64962" y="1348250"/>
            <a:ext cx="3604260" cy="5121910"/>
            <a:chOff x="8164962" y="1348250"/>
            <a:chExt cx="3604260" cy="512191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4962" y="1348250"/>
              <a:ext cx="3603996" cy="51219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211311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2926068" y="5029199"/>
                  </a:moveTo>
                  <a:lnTo>
                    <a:pt x="585228" y="5029199"/>
                  </a:lnTo>
                  <a:lnTo>
                    <a:pt x="537230" y="5027259"/>
                  </a:lnTo>
                  <a:lnTo>
                    <a:pt x="490301" y="5021540"/>
                  </a:lnTo>
                  <a:lnTo>
                    <a:pt x="444591" y="5012191"/>
                  </a:lnTo>
                  <a:lnTo>
                    <a:pt x="400250" y="4999364"/>
                  </a:lnTo>
                  <a:lnTo>
                    <a:pt x="357431" y="4983209"/>
                  </a:lnTo>
                  <a:lnTo>
                    <a:pt x="316282" y="4963877"/>
                  </a:lnTo>
                  <a:lnTo>
                    <a:pt x="276955" y="4941519"/>
                  </a:lnTo>
                  <a:lnTo>
                    <a:pt x="239600" y="4916285"/>
                  </a:lnTo>
                  <a:lnTo>
                    <a:pt x="204368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8" y="140874"/>
                  </a:lnTo>
                  <a:lnTo>
                    <a:pt x="239600" y="112914"/>
                  </a:lnTo>
                  <a:lnTo>
                    <a:pt x="276955" y="87680"/>
                  </a:lnTo>
                  <a:lnTo>
                    <a:pt x="316282" y="65322"/>
                  </a:lnTo>
                  <a:lnTo>
                    <a:pt x="357431" y="45990"/>
                  </a:lnTo>
                  <a:lnTo>
                    <a:pt x="400250" y="29835"/>
                  </a:lnTo>
                  <a:lnTo>
                    <a:pt x="444591" y="17008"/>
                  </a:lnTo>
                  <a:lnTo>
                    <a:pt x="490301" y="7659"/>
                  </a:lnTo>
                  <a:lnTo>
                    <a:pt x="537230" y="1940"/>
                  </a:lnTo>
                  <a:lnTo>
                    <a:pt x="585228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4443972"/>
                  </a:lnTo>
                  <a:lnTo>
                    <a:pt x="3509355" y="4491970"/>
                  </a:lnTo>
                  <a:lnTo>
                    <a:pt x="3503636" y="4538899"/>
                  </a:lnTo>
                  <a:lnTo>
                    <a:pt x="3494287" y="4584609"/>
                  </a:lnTo>
                  <a:lnTo>
                    <a:pt x="3481460" y="4628949"/>
                  </a:lnTo>
                  <a:lnTo>
                    <a:pt x="3465305" y="4671769"/>
                  </a:lnTo>
                  <a:lnTo>
                    <a:pt x="3445973" y="4712918"/>
                  </a:lnTo>
                  <a:lnTo>
                    <a:pt x="3423615" y="4752245"/>
                  </a:lnTo>
                  <a:lnTo>
                    <a:pt x="3398381" y="4789600"/>
                  </a:lnTo>
                  <a:lnTo>
                    <a:pt x="3370421" y="4824832"/>
                  </a:lnTo>
                  <a:lnTo>
                    <a:pt x="3339886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6" y="5027259"/>
                  </a:lnTo>
                  <a:lnTo>
                    <a:pt x="2926068" y="5029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11311" y="1371600"/>
              <a:ext cx="3511550" cy="5029200"/>
            </a:xfrm>
            <a:custGeom>
              <a:avLst/>
              <a:gdLst/>
              <a:ahLst/>
              <a:cxnLst/>
              <a:rect l="l" t="t" r="r" b="b"/>
              <a:pathLst>
                <a:path w="3511550" h="5029200">
                  <a:moveTo>
                    <a:pt x="0" y="585227"/>
                  </a:moveTo>
                  <a:lnTo>
                    <a:pt x="1940" y="537229"/>
                  </a:lnTo>
                  <a:lnTo>
                    <a:pt x="7659" y="490300"/>
                  </a:lnTo>
                  <a:lnTo>
                    <a:pt x="17008" y="444590"/>
                  </a:lnTo>
                  <a:lnTo>
                    <a:pt x="29835" y="400250"/>
                  </a:lnTo>
                  <a:lnTo>
                    <a:pt x="45990" y="357430"/>
                  </a:lnTo>
                  <a:lnTo>
                    <a:pt x="65322" y="316281"/>
                  </a:lnTo>
                  <a:lnTo>
                    <a:pt x="87680" y="276954"/>
                  </a:lnTo>
                  <a:lnTo>
                    <a:pt x="112915" y="239599"/>
                  </a:lnTo>
                  <a:lnTo>
                    <a:pt x="140874" y="204367"/>
                  </a:lnTo>
                  <a:lnTo>
                    <a:pt x="171409" y="171409"/>
                  </a:lnTo>
                  <a:lnTo>
                    <a:pt x="204368" y="140874"/>
                  </a:lnTo>
                  <a:lnTo>
                    <a:pt x="239600" y="112914"/>
                  </a:lnTo>
                  <a:lnTo>
                    <a:pt x="276955" y="87680"/>
                  </a:lnTo>
                  <a:lnTo>
                    <a:pt x="316282" y="65322"/>
                  </a:lnTo>
                  <a:lnTo>
                    <a:pt x="357431" y="45990"/>
                  </a:lnTo>
                  <a:lnTo>
                    <a:pt x="400250" y="29835"/>
                  </a:lnTo>
                  <a:lnTo>
                    <a:pt x="444591" y="17008"/>
                  </a:lnTo>
                  <a:lnTo>
                    <a:pt x="490301" y="7659"/>
                  </a:lnTo>
                  <a:lnTo>
                    <a:pt x="537230" y="1940"/>
                  </a:lnTo>
                  <a:lnTo>
                    <a:pt x="585228" y="0"/>
                  </a:lnTo>
                  <a:lnTo>
                    <a:pt x="2926068" y="0"/>
                  </a:lnTo>
                  <a:lnTo>
                    <a:pt x="2977525" y="2265"/>
                  </a:lnTo>
                  <a:lnTo>
                    <a:pt x="3028242" y="8985"/>
                  </a:lnTo>
                  <a:lnTo>
                    <a:pt x="3077948" y="20050"/>
                  </a:lnTo>
                  <a:lnTo>
                    <a:pt x="3126376" y="35347"/>
                  </a:lnTo>
                  <a:lnTo>
                    <a:pt x="3173254" y="54764"/>
                  </a:lnTo>
                  <a:lnTo>
                    <a:pt x="3218313" y="78191"/>
                  </a:lnTo>
                  <a:lnTo>
                    <a:pt x="3261285" y="105515"/>
                  </a:lnTo>
                  <a:lnTo>
                    <a:pt x="3301899" y="136625"/>
                  </a:lnTo>
                  <a:lnTo>
                    <a:pt x="3339886" y="171409"/>
                  </a:lnTo>
                  <a:lnTo>
                    <a:pt x="3374670" y="209396"/>
                  </a:lnTo>
                  <a:lnTo>
                    <a:pt x="3405780" y="250010"/>
                  </a:lnTo>
                  <a:lnTo>
                    <a:pt x="3433104" y="292982"/>
                  </a:lnTo>
                  <a:lnTo>
                    <a:pt x="3456531" y="338042"/>
                  </a:lnTo>
                  <a:lnTo>
                    <a:pt x="3475948" y="384920"/>
                  </a:lnTo>
                  <a:lnTo>
                    <a:pt x="3491245" y="433347"/>
                  </a:lnTo>
                  <a:lnTo>
                    <a:pt x="3502310" y="483054"/>
                  </a:lnTo>
                  <a:lnTo>
                    <a:pt x="3509030" y="533770"/>
                  </a:lnTo>
                  <a:lnTo>
                    <a:pt x="3511295" y="585227"/>
                  </a:lnTo>
                  <a:lnTo>
                    <a:pt x="3511295" y="4443972"/>
                  </a:lnTo>
                  <a:lnTo>
                    <a:pt x="3509355" y="4491970"/>
                  </a:lnTo>
                  <a:lnTo>
                    <a:pt x="3503636" y="4538899"/>
                  </a:lnTo>
                  <a:lnTo>
                    <a:pt x="3494287" y="4584609"/>
                  </a:lnTo>
                  <a:lnTo>
                    <a:pt x="3481460" y="4628949"/>
                  </a:lnTo>
                  <a:lnTo>
                    <a:pt x="3465305" y="4671769"/>
                  </a:lnTo>
                  <a:lnTo>
                    <a:pt x="3445973" y="4712918"/>
                  </a:lnTo>
                  <a:lnTo>
                    <a:pt x="3423615" y="4752245"/>
                  </a:lnTo>
                  <a:lnTo>
                    <a:pt x="3398381" y="4789600"/>
                  </a:lnTo>
                  <a:lnTo>
                    <a:pt x="3370421" y="4824832"/>
                  </a:lnTo>
                  <a:lnTo>
                    <a:pt x="3339886" y="4857790"/>
                  </a:lnTo>
                  <a:lnTo>
                    <a:pt x="3306928" y="4888325"/>
                  </a:lnTo>
                  <a:lnTo>
                    <a:pt x="3271696" y="4916285"/>
                  </a:lnTo>
                  <a:lnTo>
                    <a:pt x="3234341" y="4941519"/>
                  </a:lnTo>
                  <a:lnTo>
                    <a:pt x="3195014" y="4963877"/>
                  </a:lnTo>
                  <a:lnTo>
                    <a:pt x="3153865" y="4983209"/>
                  </a:lnTo>
                  <a:lnTo>
                    <a:pt x="3111045" y="4999364"/>
                  </a:lnTo>
                  <a:lnTo>
                    <a:pt x="3066705" y="5012191"/>
                  </a:lnTo>
                  <a:lnTo>
                    <a:pt x="3020995" y="5021540"/>
                  </a:lnTo>
                  <a:lnTo>
                    <a:pt x="2974066" y="5027259"/>
                  </a:lnTo>
                  <a:lnTo>
                    <a:pt x="2926068" y="5029199"/>
                  </a:lnTo>
                  <a:lnTo>
                    <a:pt x="585228" y="5029199"/>
                  </a:lnTo>
                  <a:lnTo>
                    <a:pt x="537230" y="5027259"/>
                  </a:lnTo>
                  <a:lnTo>
                    <a:pt x="490301" y="5021540"/>
                  </a:lnTo>
                  <a:lnTo>
                    <a:pt x="444591" y="5012191"/>
                  </a:lnTo>
                  <a:lnTo>
                    <a:pt x="400250" y="4999364"/>
                  </a:lnTo>
                  <a:lnTo>
                    <a:pt x="357431" y="4983209"/>
                  </a:lnTo>
                  <a:lnTo>
                    <a:pt x="316282" y="4963877"/>
                  </a:lnTo>
                  <a:lnTo>
                    <a:pt x="276955" y="4941519"/>
                  </a:lnTo>
                  <a:lnTo>
                    <a:pt x="239600" y="4916285"/>
                  </a:lnTo>
                  <a:lnTo>
                    <a:pt x="204368" y="4888325"/>
                  </a:lnTo>
                  <a:lnTo>
                    <a:pt x="171409" y="4857790"/>
                  </a:lnTo>
                  <a:lnTo>
                    <a:pt x="140874" y="4824832"/>
                  </a:lnTo>
                  <a:lnTo>
                    <a:pt x="112915" y="4789600"/>
                  </a:lnTo>
                  <a:lnTo>
                    <a:pt x="87680" y="4752245"/>
                  </a:lnTo>
                  <a:lnTo>
                    <a:pt x="65322" y="4712918"/>
                  </a:lnTo>
                  <a:lnTo>
                    <a:pt x="45990" y="4671769"/>
                  </a:lnTo>
                  <a:lnTo>
                    <a:pt x="29835" y="4628949"/>
                  </a:lnTo>
                  <a:lnTo>
                    <a:pt x="17008" y="4584609"/>
                  </a:lnTo>
                  <a:lnTo>
                    <a:pt x="7659" y="4538899"/>
                  </a:lnTo>
                  <a:lnTo>
                    <a:pt x="1940" y="4491970"/>
                  </a:lnTo>
                  <a:lnTo>
                    <a:pt x="0" y="4443972"/>
                  </a:lnTo>
                  <a:lnTo>
                    <a:pt x="0" y="585227"/>
                  </a:lnTo>
                  <a:close/>
                </a:path>
              </a:pathLst>
            </a:custGeom>
            <a:ln w="12699">
              <a:solidFill>
                <a:srgbClr val="D7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335772" y="1461516"/>
            <a:ext cx="3134360" cy="2846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Immediate</a:t>
            </a:r>
            <a:r>
              <a:rPr sz="1400" b="1" spc="-3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F6EA5"/>
                </a:solidFill>
                <a:latin typeface="Trebuchet MS"/>
                <a:cs typeface="Trebuchet MS"/>
              </a:rPr>
              <a:t>Next</a:t>
            </a:r>
            <a:r>
              <a:rPr sz="1400" b="1" spc="-3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F6EA5"/>
                </a:solidFill>
                <a:latin typeface="Trebuchet MS"/>
                <a:cs typeface="Trebuchet MS"/>
              </a:rPr>
              <a:t>Milestones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[Milestone]</a:t>
            </a:r>
            <a:r>
              <a:rPr sz="1050" b="1" spc="-1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1F6EA5"/>
                </a:solidFill>
                <a:latin typeface="Trebuchet MS"/>
                <a:cs typeface="Trebuchet MS"/>
              </a:rPr>
              <a:t>Model</a:t>
            </a:r>
            <a:r>
              <a:rPr sz="1050" b="1" spc="-2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Training</a:t>
            </a:r>
            <a:r>
              <a:rPr sz="1050" b="1" spc="-1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1F6EA5"/>
                </a:solidFill>
                <a:latin typeface="Trebuchet MS"/>
                <a:cs typeface="Trebuchet MS"/>
              </a:rPr>
              <a:t>&amp;</a:t>
            </a:r>
            <a:r>
              <a:rPr sz="1050" b="1" spc="-1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Evaluation</a:t>
            </a:r>
            <a:endParaRPr sz="1050">
              <a:latin typeface="Trebuchet MS"/>
              <a:cs typeface="Trebuchet MS"/>
            </a:endParaRPr>
          </a:p>
          <a:p>
            <a:pPr marL="12700" marR="153035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Finalize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hyperparameter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tuning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evaluate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MAE,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RMSE,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212529"/>
                </a:solidFill>
                <a:latin typeface="Calibri"/>
                <a:cs typeface="Calibri"/>
              </a:rPr>
              <a:t>R²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 scores.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[Milestone]</a:t>
            </a:r>
            <a:r>
              <a:rPr sz="1050" b="1" spc="-2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1F6EA5"/>
                </a:solidFill>
                <a:latin typeface="Trebuchet MS"/>
                <a:cs typeface="Trebuchet MS"/>
              </a:rPr>
              <a:t>Best</a:t>
            </a:r>
            <a:r>
              <a:rPr sz="1050" b="1" spc="-2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1F6EA5"/>
                </a:solidFill>
                <a:latin typeface="Trebuchet MS"/>
                <a:cs typeface="Trebuchet MS"/>
              </a:rPr>
              <a:t>Model</a:t>
            </a:r>
            <a:r>
              <a:rPr sz="1050" b="1" spc="-2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Integration</a:t>
            </a:r>
            <a:endParaRPr sz="1050">
              <a:latin typeface="Trebuchet MS"/>
              <a:cs typeface="Trebuchet MS"/>
            </a:endParaRPr>
          </a:p>
          <a:p>
            <a:pPr marL="12700" marR="19558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Serialize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top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empirical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model</a:t>
            </a:r>
            <a:r>
              <a:rPr sz="95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via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Joblib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connect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FastAPI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REST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endpoints.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[Milestone]</a:t>
            </a:r>
            <a:r>
              <a:rPr sz="1050" b="1" spc="-1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Recommendation</a:t>
            </a:r>
            <a:r>
              <a:rPr sz="1050" b="1" spc="-1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1F6EA5"/>
                </a:solidFill>
                <a:latin typeface="Trebuchet MS"/>
                <a:cs typeface="Trebuchet MS"/>
              </a:rPr>
              <a:t>Logic</a:t>
            </a:r>
            <a:r>
              <a:rPr sz="1050" b="1" spc="-1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spc="-20" dirty="0">
                <a:solidFill>
                  <a:srgbClr val="1F6EA5"/>
                </a:solidFill>
                <a:latin typeface="Trebuchet MS"/>
                <a:cs typeface="Trebuchet MS"/>
              </a:rPr>
              <a:t>Test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Validate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advisory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outputs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against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agricultural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expert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rule</a:t>
            </a:r>
            <a:r>
              <a:rPr sz="950" spc="-2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bases.</a:t>
            </a:r>
            <a:endParaRPr sz="950">
              <a:latin typeface="Calibri"/>
              <a:cs typeface="Calibri"/>
            </a:endParaRPr>
          </a:p>
          <a:p>
            <a:pPr marL="12700" marR="215265">
              <a:lnSpc>
                <a:spcPct val="104099"/>
              </a:lnSpc>
              <a:spcBef>
                <a:spcPts val="540"/>
              </a:spcBef>
            </a:pP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[Milestone] </a:t>
            </a:r>
            <a:r>
              <a:rPr sz="1050" b="1" spc="-20" dirty="0">
                <a:solidFill>
                  <a:srgbClr val="1F6EA5"/>
                </a:solidFill>
                <a:latin typeface="Trebuchet MS"/>
                <a:cs typeface="Trebuchet MS"/>
              </a:rPr>
              <a:t>End-</a:t>
            </a: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to-</a:t>
            </a:r>
            <a:r>
              <a:rPr sz="1050" b="1" dirty="0">
                <a:solidFill>
                  <a:srgbClr val="1F6EA5"/>
                </a:solidFill>
                <a:latin typeface="Trebuchet MS"/>
                <a:cs typeface="Trebuchet MS"/>
              </a:rPr>
              <a:t>End</a:t>
            </a: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1F6EA5"/>
                </a:solidFill>
                <a:latin typeface="Trebuchet MS"/>
                <a:cs typeface="Trebuchet MS"/>
              </a:rPr>
              <a:t>System</a:t>
            </a: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 Integration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Connect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React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UI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with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backend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REST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API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test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complete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farmer</a:t>
            </a:r>
            <a:r>
              <a:rPr sz="950" spc="-30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workflow.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[Milestone] Documentation</a:t>
            </a:r>
            <a:r>
              <a:rPr sz="1050" b="1" spc="-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dirty="0">
                <a:solidFill>
                  <a:srgbClr val="1F6EA5"/>
                </a:solidFill>
                <a:latin typeface="Trebuchet MS"/>
                <a:cs typeface="Trebuchet MS"/>
              </a:rPr>
              <a:t>&amp;</a:t>
            </a:r>
            <a:r>
              <a:rPr sz="1050" b="1" spc="-5" dirty="0">
                <a:solidFill>
                  <a:srgbClr val="1F6EA5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1F6EA5"/>
                </a:solidFill>
                <a:latin typeface="Trebuchet MS"/>
                <a:cs typeface="Trebuchet MS"/>
              </a:rPr>
              <a:t>Paper</a:t>
            </a:r>
            <a:endParaRPr sz="1050">
              <a:latin typeface="Trebuchet MS"/>
              <a:cs typeface="Trebuchet MS"/>
            </a:endParaRPr>
          </a:p>
          <a:p>
            <a:pPr marL="12700" marR="22479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Draft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comprehensive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project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report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research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529"/>
                </a:solidFill>
                <a:latin typeface="Calibri"/>
                <a:cs typeface="Calibri"/>
              </a:rPr>
              <a:t>paper</a:t>
            </a:r>
            <a:r>
              <a:rPr sz="950" spc="-15" dirty="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212529"/>
                </a:solidFill>
                <a:latin typeface="Calibri"/>
                <a:cs typeface="Calibri"/>
              </a:rPr>
              <a:t>for</a:t>
            </a:r>
            <a:r>
              <a:rPr sz="950" spc="-10" dirty="0">
                <a:solidFill>
                  <a:srgbClr val="212529"/>
                </a:solidFill>
                <a:latin typeface="Calibri"/>
                <a:cs typeface="Calibri"/>
              </a:rPr>
              <a:t> publication.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1821</Words>
  <Application>Microsoft Office PowerPoint</Application>
  <PresentationFormat>Custom</PresentationFormat>
  <Paragraphs>188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Source Sans Pro</vt:lpstr>
      <vt:lpstr>Source Sans Pro Light</vt:lpstr>
      <vt:lpstr>Times New Roman</vt:lpstr>
      <vt:lpstr>Trebuchet MS</vt:lpstr>
      <vt:lpstr>Office Theme</vt:lpstr>
      <vt:lpstr>PowerPoint Presentation</vt:lpstr>
      <vt:lpstr>Slide 1 – Project Overview FutureVerse: ML-Based Sugarcane Growth Prediction &amp; Intelligent Farming Recommendations</vt:lpstr>
      <vt:lpstr>Slide 2 – Overall System Architecture End-to-End Flow from Farmer User Interface to Model Selection &amp; Recommendation Engine</vt:lpstr>
      <vt:lpstr>Slide 3 – Module Design Functional Description &amp; Operational Responsibilities of Core System Modules</vt:lpstr>
      <vt:lpstr>Slide 4 – Data / Database / Workflow Design Input Feature Specification, Target Attributes, and End-to-End ML Pipeline Sequence</vt:lpstr>
      <vt:lpstr>Slide 5 – Core Technical Design ML Regression Algorithms, Empirical Evaluation Metrics, and Recommendation Rules</vt:lpstr>
      <vt:lpstr>Slide 6 – UI / Prototype / Wireframes Simple, Farmer-Friendly Interface Screen Layouts Focusing on Clear Actionable Guidance</vt:lpstr>
      <vt:lpstr>Slide 7 – Technology Stack &amp; Implementation Status Technology Selection, Actual Project Development Progress, and Immediate Milestones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 abad</cp:lastModifiedBy>
  <cp:revision>1</cp:revision>
  <dcterms:created xsi:type="dcterms:W3CDTF">2026-09-11T09:35:11Z</dcterms:created>
  <dcterms:modified xsi:type="dcterms:W3CDTF">2026-09-11T09:38:14Z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2026-09-11T00:00:00Z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2026-09-11T00:00:00Z</vt:filetime>
  </property>
</Properties>
</file>